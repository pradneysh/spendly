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Relative cost</c:v>
                </c:pt>
              </c:strCache>
            </c:strRef>
          </c:tx>
          <c:spPr>
            <a:solidFill>
              <a:srgbClr val="16B8A6"/>
            </a:solidFill>
            <a:effectLst/>
          </c:spPr>
          <c:invertIfNegative val="0"/>
          <c:dLbls>
            <c:numFmt formatCode="#,##0" sourceLinked="0"/>
            <c:txPr>
              <a:bodyPr/>
              <a:lstStyle/>
              <a:p>
                <a:pPr>
                  <a:defRPr b="1" i="0" strike="noStrike" sz="13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6B8A6"/>
              </a:solidFill>
              <a:effectLst/>
            </c:spPr>
          </c:dPt>
          <c:dPt>
            <c:idx val="1"/>
            <c:invertIfNegative val="0"/>
            <c:bubble3D val="0"/>
            <c:spPr>
              <a:solidFill>
                <a:srgbClr val="F4B740"/>
              </a:solidFill>
              <a:effectLst/>
            </c:spPr>
          </c:dPt>
          <c:dPt>
            <c:idx val="2"/>
            <c:invertIfNegative val="0"/>
            <c:bubble3D val="0"/>
            <c:spPr>
              <a:solidFill>
                <a:srgbClr val="E5484D"/>
              </a:solidFill>
              <a:effectLst/>
            </c:spPr>
          </c:dPt>
          <c:cat>
            <c:multiLvlStrRef>
              <c:f>Sheet1!$A$2:$A$4</c:f>
              <c:multiLvlStrCache>
                <c:ptCount val="3"/>
                <c:lvl>
                  <c:pt idx="0">
                    <c:v>Requirements</c:v>
                  </c:pt>
                  <c:pt idx="1">
                    <c:v>Development</c:v>
                  </c:pt>
                  <c:pt idx="2">
                    <c:v>Production</c:v>
                  </c:pt>
                </c:lvl>
              </c:multiLvlStrCache>
            </c:multiLvlStrRef>
          </c:cat>
          <c:val>
            <c:numRef>
              <c:f>Sheet1!$B$2:$B$4</c:f>
              <c:numCache>
                <c:formatCode>General</c:formatCode>
                <c:ptCount val="3"/>
                <c:pt idx="0">
                  <c:v>1</c:v>
                </c:pt>
                <c:pt idx="1">
                  <c:v>10</c:v>
                </c:pt>
                <c:pt idx="2">
                  <c:v>100</c:v>
                </c:pt>
              </c:numCache>
            </c:numRef>
          </c:val>
        </c:ser>
        <c:dLbls>
          <c:numFmt formatCode="#,##0" sourceLinked="0"/>
          <c:txPr>
            <a:bodyPr/>
            <a:lstStyle/>
            <a:p>
              <a:pPr>
                <a:defRPr b="1" i="0" strike="noStrike" sz="1300" u="none">
                  <a:solidFill>
                    <a:srgbClr val="1E293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A vague user story is the cheapest bug you will ever have if you catch it now. Miss it and it becomes the most expensive. Land the name: the Requirement Linter scores every story for readiness before development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of pain everyone has lived: a vague ticket discovered too late. Today the fix is manual, inconsistent, first thing dropped under deadline. Walk the right chain: drafted, passed, built wrong, caught in QA, reworked.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curve is the business case in one image. 1x now, 10x in dev, 100x-plus in production. We are not making testing faster; we move the fix to where it is an order of magnitude cheaper, on every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numbers. One pod, 14 stories a sprint. If a third carry a real ambiguity and half would have leaked, that is about 12 hours of rework avoided per sprint, roughly 8 developer-weeks a year per pod, about 31 thousand dollars at a hundred an hour. Multiply by pod count. Illustrative and swappable; the indicator we track is percent of flagged gaps acted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contract is the heart of it. Four artefacts per story. The last is the differentiator: draft Gherkin the human confirms. That turns the agent from a nag into an accelerator; it drafts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this is IP, not a prompt. Every one of the eight dimensions is a checklist of concrete sub-checks — the agent has to find evidence for each. Negative paths is not a vibe; it is failure, timeout, permission-denied, partial-save, retry. The weights reflect where ambiguous stories actually fail — Testable, Edge cases, Negative paths carry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scoring is deliberately not left to the model. It returns findings and pass rates; our validator computes the weighted score and derives the RAG from thresholds we control — under 50 red, 50 to 74 amber, 75 and up green. That means we can tune the band on real data without touching the prompt, and the model can never drift its own cut-offs.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the argument. One vague story in — a real one from a payer backlog — and in a single pass the agent returns a score of 42, red, with specific gaps, each carrying a why, the exact clarifying questions, draft Gherkin for the missing failure path, and a cross-story flag that it contradicts the enum on its linked parent. That last one is the thing a human reviewer never has time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intelligence works, because it matters for trust. Agent, not chatbot; reads the live backlog in batch over MCP. Intelligence lives in a rubric-grounded prompt: the system prompt carries the fixed IP plus good and bad golden examples; the story is the only variable. Strict JSON with one repair retry, so the verdict is deterministic and drives a score, label, or metric without re-prompting. Low temperature; RAG from our thresholds. Every component swappable: swap the model, swap the surface, keep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in one picture. Four layers. The agent talks to Jira only through MCP tools, never raw REST, with least-privilege read scopes. The LLM is a swappable engine; the rubric is the intelligence. The fourth layer is dashed: write-back is built but dormant until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 from the architecture doc, made visual. Eleven components across four layers. Ingest pulls from Jira over MCP with read-only scopes. Reason is the scoring core — rubric store, prompt assembler, Claude in-boundary, and the validator. Serve aggregates and renders, with the feedback store as a v2 dashed component. Write-back is a single gated adapter, dashed, dormant until client sign-off — and the dashed line back to Jira shows it only ever writes after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2 — the sequence of one run. The trigger fires and we select the sprint's stories with a JQL search. Then the per-story loop, steps 3 to 7: fetch the issue and its context, bundle it, assemble the prompt, score with Claude, validate and compute the RAG — repeat for each story. Then once per batch: aggregate the sprint, render the dashboard, and the gated write-back, which stays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put on the screen. Not one pasted ticket, a whole sprint, scored live, with a visible good-to-bad spread. Drill into a red, show the gaps and the draft Gherkin. Then the cross-story flag: a contradiction with a linked parent, the thing a human never has time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reviewer's surface — the Serve layer made concrete. The whole sprint, scored, with the RAG spread up top and per-story verdicts on the right. It is a read-only view of the verdicts, so it adds no data risk and sits inside our read-only-first governance. For the build, this is also the UI spec: story list, summary metrics, RAG spread, and a verdict detail panel, all driven off the same verdict JSON. Interactive version is a standalone HTML we can open live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payer environment this section clears or kills the project, so we lead with it. Read-only by default: zero footprint. Two gated stages, each behind explicit client sign-off. Non-negotiables: in-boundary inference only, least-privilege scopes, synthetic data on stage. We answer the governance question before the committee asks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discipline is a maturity signal, so we make it explicit. In the two days we build the brains end to end: MCP into a sandbox Jira, pull a sprint, score against the rubric, render the RAG spread over five or six seeded stories. We deliberately defer the plumbing — live webhooks, write-back, feedback tuning, the domain library. On environments: the demo runs from a local laptop against synthetic data with Claude on an approved, BAA-covered API — zero client data in the room. Production, only if the client approves, deploys on their Oracle Cloud with Claude in-boundary, read-only first. And the whole thing is built with Claude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days, sequenced to de-risk: a working end-to-end thread by end of Day 1, so Day 2 is polish and demo. Front-load the brains, time-box the plumbing. Clean fallback: if the sanctioned LLM is not ready, read-only plus a mock stub, presented as a proposal. A clean fallback beats a broken live call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reasons: root cause, demo-able, rides accepted SAFe process, shows delivery maturity. Then the ask, plainly: give us a hackathon slot to build it. Land the line: lint the story before development compiles it into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548640"/>
            <a:ext cx="164592" cy="164592"/>
          </a:xfrm>
          <a:prstGeom prst="ellipse">
            <a:avLst/>
          </a:prstGeom>
          <a:solidFill>
            <a:srgbClr val="E5484D"/>
          </a:solidFill>
          <a:ln/>
        </p:spPr>
      </p:sp>
      <p:sp>
        <p:nvSpPr>
          <p:cNvPr id="3" name="Shape 1"/>
          <p:cNvSpPr/>
          <p:nvPr/>
        </p:nvSpPr>
        <p:spPr>
          <a:xfrm>
            <a:off x="786384" y="548640"/>
            <a:ext cx="164592" cy="164592"/>
          </a:xfrm>
          <a:prstGeom prst="ellipse">
            <a:avLst/>
          </a:prstGeom>
          <a:solidFill>
            <a:srgbClr val="F4B740"/>
          </a:solidFill>
          <a:ln/>
        </p:spPr>
      </p:sp>
      <p:sp>
        <p:nvSpPr>
          <p:cNvPr id="4" name="Shape 2"/>
          <p:cNvSpPr/>
          <p:nvPr/>
        </p:nvSpPr>
        <p:spPr>
          <a:xfrm>
            <a:off x="1005840" y="548640"/>
            <a:ext cx="164592" cy="164592"/>
          </a:xfrm>
          <a:prstGeom prst="ellipse">
            <a:avLst/>
          </a:prstGeom>
          <a:solidFill>
            <a:srgbClr val="3FB950"/>
          </a:solidFill>
          <a:ln/>
        </p:spPr>
      </p:sp>
      <p:sp>
        <p:nvSpPr>
          <p:cNvPr id="5" name="Text 3"/>
          <p:cNvSpPr/>
          <p:nvPr/>
        </p:nvSpPr>
        <p:spPr>
          <a:xfrm>
            <a:off x="1325880" y="502920"/>
            <a:ext cx="9144000" cy="274320"/>
          </a:xfrm>
          <a:prstGeom prst="rect">
            <a:avLst/>
          </a:prstGeom>
          <a:noFill/>
          <a:ln/>
        </p:spPr>
        <p:txBody>
          <a:bodyPr wrap="square" lIns="0" tIns="0" rIns="0" bIns="0"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AI DELIVERY FIRST  ·  HACKATHON PROPOSAL</a:t>
            </a:r>
            <a:endParaRPr lang="en-US" sz="1250" dirty="0"/>
          </a:p>
        </p:txBody>
      </p:sp>
      <p:sp>
        <p:nvSpPr>
          <p:cNvPr id="6" name="Text 4"/>
          <p:cNvSpPr/>
          <p:nvPr/>
        </p:nvSpPr>
        <p:spPr>
          <a:xfrm>
            <a:off x="548640" y="2148840"/>
            <a:ext cx="10972800" cy="1005840"/>
          </a:xfrm>
          <a:prstGeom prst="rect">
            <a:avLst/>
          </a:prstGeom>
          <a:noFill/>
          <a:ln/>
        </p:spPr>
        <p:txBody>
          <a:bodyPr wrap="square" lIns="0" tIns="0" rIns="0" bIns="0" rtlCol="0" anchor="ctr"/>
          <a:lstStyle/>
          <a:p>
            <a:pPr indent="0" marL="0">
              <a:buNone/>
            </a:pPr>
            <a:r>
              <a:rPr lang="en-US" sz="5800" b="1" dirty="0">
                <a:solidFill>
                  <a:srgbClr val="FFFFFF"/>
                </a:solidFill>
                <a:latin typeface="Century Schoolbook" pitchFamily="34" charset="0"/>
                <a:ea typeface="Century Schoolbook" pitchFamily="34" charset="-122"/>
                <a:cs typeface="Century Schoolbook" pitchFamily="34" charset="-120"/>
              </a:rPr>
              <a:t>The Requirement Linter</a:t>
            </a:r>
            <a:endParaRPr lang="en-US" sz="5800" dirty="0"/>
          </a:p>
        </p:txBody>
      </p:sp>
      <p:sp>
        <p:nvSpPr>
          <p:cNvPr id="7" name="Text 5"/>
          <p:cNvSpPr/>
          <p:nvPr/>
        </p:nvSpPr>
        <p:spPr>
          <a:xfrm>
            <a:off x="566928" y="3246120"/>
            <a:ext cx="10515600" cy="914400"/>
          </a:xfrm>
          <a:prstGeom prst="rect">
            <a:avLst/>
          </a:prstGeom>
          <a:noFill/>
          <a:ln/>
        </p:spPr>
        <p:txBody>
          <a:bodyPr wrap="square" lIns="0" tIns="0" rIns="0" bIns="0" rtlCol="0" anchor="ctr"/>
          <a:lstStyle/>
          <a:p>
            <a:pPr indent="0" marL="0">
              <a:lnSpc>
                <a:spcPct val="110000"/>
              </a:lnSpc>
              <a:buNone/>
            </a:pPr>
            <a:r>
              <a:rPr lang="en-US" sz="2100" dirty="0">
                <a:solidFill>
                  <a:srgbClr val="CFE0F0"/>
                </a:solidFill>
                <a:latin typeface="Calibri" pitchFamily="34" charset="0"/>
                <a:ea typeface="Calibri" pitchFamily="34" charset="-122"/>
                <a:cs typeface="Calibri" pitchFamily="34" charset="-120"/>
              </a:rPr>
              <a:t>An agent that scores every user story for readiness —</a:t>
            </a:r>
            <a:endParaRPr lang="en-US" sz="2100" dirty="0"/>
          </a:p>
          <a:p>
            <a:pPr indent="0" marL="0">
              <a:lnSpc>
                <a:spcPct val="110000"/>
              </a:lnSpc>
              <a:buNone/>
            </a:pPr>
            <a:r>
              <a:rPr lang="en-US" sz="2100" dirty="0">
                <a:solidFill>
                  <a:srgbClr val="CFE0F0"/>
                </a:solidFill>
                <a:latin typeface="Calibri" pitchFamily="34" charset="0"/>
                <a:ea typeface="Calibri" pitchFamily="34" charset="-122"/>
                <a:cs typeface="Calibri" pitchFamily="34" charset="-120"/>
              </a:rPr>
              <a:t>before development starts.</a:t>
            </a:r>
            <a:endParaRPr lang="en-US" sz="2100" dirty="0"/>
          </a:p>
        </p:txBody>
      </p:sp>
      <p:pic>
        <p:nvPicPr>
          <p:cNvPr id="8" name="Image 0" descr="preencoded.png">    </p:cNvPr>
          <p:cNvPicPr>
            <a:picLocks noChangeAspect="1"/>
          </p:cNvPicPr>
          <p:nvPr/>
        </p:nvPicPr>
        <p:blipFill>
          <a:blip r:embed="rId1"/>
          <a:stretch>
            <a:fillRect/>
          </a:stretch>
        </p:blipFill>
        <p:spPr>
          <a:xfrm>
            <a:off x="603504" y="4727448"/>
            <a:ext cx="256032" cy="256032"/>
          </a:xfrm>
          <a:prstGeom prst="rect">
            <a:avLst/>
          </a:prstGeom>
        </p:spPr>
      </p:pic>
      <p:sp>
        <p:nvSpPr>
          <p:cNvPr id="9" name="Text 6"/>
          <p:cNvSpPr/>
          <p:nvPr/>
        </p:nvSpPr>
        <p:spPr>
          <a:xfrm>
            <a:off x="969264" y="4663440"/>
            <a:ext cx="10332720" cy="384048"/>
          </a:xfrm>
          <a:prstGeom prst="rect">
            <a:avLst/>
          </a:prstGeom>
          <a:noFill/>
          <a:ln/>
        </p:spPr>
        <p:txBody>
          <a:bodyPr wrap="square" lIns="0" tIns="0" rIns="0" bIns="0" rtlCol="0" anchor="ctr"/>
          <a:lstStyle/>
          <a:p>
            <a:pPr indent="0" marL="0">
              <a:buNone/>
            </a:pPr>
            <a:r>
              <a:rPr lang="en-US" sz="1500" dirty="0">
                <a:solidFill>
                  <a:srgbClr val="CFE0F0"/>
                </a:solidFill>
                <a:latin typeface="Calibri" pitchFamily="34" charset="0"/>
                <a:ea typeface="Calibri" pitchFamily="34" charset="-122"/>
                <a:cs typeface="Calibri" pitchFamily="34" charset="-120"/>
              </a:rPr>
              <a:t>Quality moves upstream — where the fix is 10–100× cheaper</a:t>
            </a:r>
            <a:endParaRPr lang="en-US" sz="1500" dirty="0"/>
          </a:p>
        </p:txBody>
      </p:sp>
      <p:pic>
        <p:nvPicPr>
          <p:cNvPr id="10" name="Image 1" descr="preencoded.png">    </p:cNvPr>
          <p:cNvPicPr>
            <a:picLocks noChangeAspect="1"/>
          </p:cNvPicPr>
          <p:nvPr/>
        </p:nvPicPr>
        <p:blipFill>
          <a:blip r:embed="rId2"/>
          <a:stretch>
            <a:fillRect/>
          </a:stretch>
        </p:blipFill>
        <p:spPr>
          <a:xfrm>
            <a:off x="603504" y="5230368"/>
            <a:ext cx="256032" cy="256032"/>
          </a:xfrm>
          <a:prstGeom prst="rect">
            <a:avLst/>
          </a:prstGeom>
        </p:spPr>
      </p:pic>
      <p:sp>
        <p:nvSpPr>
          <p:cNvPr id="11" name="Text 7"/>
          <p:cNvSpPr/>
          <p:nvPr/>
        </p:nvSpPr>
        <p:spPr>
          <a:xfrm>
            <a:off x="969264" y="5166360"/>
            <a:ext cx="10332720" cy="384048"/>
          </a:xfrm>
          <a:prstGeom prst="rect">
            <a:avLst/>
          </a:prstGeom>
          <a:noFill/>
          <a:ln/>
        </p:spPr>
        <p:txBody>
          <a:bodyPr wrap="square" lIns="0" tIns="0" rIns="0" bIns="0" rtlCol="0" anchor="ctr"/>
          <a:lstStyle/>
          <a:p>
            <a:pPr indent="0" marL="0">
              <a:buNone/>
            </a:pPr>
            <a:r>
              <a:rPr lang="en-US" sz="1500" dirty="0">
                <a:solidFill>
                  <a:srgbClr val="CFE0F0"/>
                </a:solidFill>
                <a:latin typeface="Calibri" pitchFamily="34" charset="0"/>
                <a:ea typeface="Calibri" pitchFamily="34" charset="-122"/>
                <a:cs typeface="Calibri" pitchFamily="34" charset="-120"/>
              </a:rPr>
              <a:t>Read-only first — zero footprint on the client backlog</a:t>
            </a:r>
            <a:endParaRPr lang="en-US" sz="1500" dirty="0"/>
          </a:p>
        </p:txBody>
      </p:sp>
      <p:pic>
        <p:nvPicPr>
          <p:cNvPr id="12" name="Image 2" descr="preencoded.png">    </p:cNvPr>
          <p:cNvPicPr>
            <a:picLocks noChangeAspect="1"/>
          </p:cNvPicPr>
          <p:nvPr/>
        </p:nvPicPr>
        <p:blipFill>
          <a:blip r:embed="rId3"/>
          <a:stretch>
            <a:fillRect/>
          </a:stretch>
        </p:blipFill>
        <p:spPr>
          <a:xfrm>
            <a:off x="603504" y="5733288"/>
            <a:ext cx="256032" cy="256032"/>
          </a:xfrm>
          <a:prstGeom prst="rect">
            <a:avLst/>
          </a:prstGeom>
        </p:spPr>
      </p:pic>
      <p:sp>
        <p:nvSpPr>
          <p:cNvPr id="13" name="Text 8"/>
          <p:cNvSpPr/>
          <p:nvPr/>
        </p:nvSpPr>
        <p:spPr>
          <a:xfrm>
            <a:off x="969264" y="5669280"/>
            <a:ext cx="10332720" cy="384048"/>
          </a:xfrm>
          <a:prstGeom prst="rect">
            <a:avLst/>
          </a:prstGeom>
          <a:noFill/>
          <a:ln/>
        </p:spPr>
        <p:txBody>
          <a:bodyPr wrap="square" lIns="0" tIns="0" rIns="0" bIns="0" rtlCol="0" anchor="ctr"/>
          <a:lstStyle/>
          <a:p>
            <a:pPr indent="0" marL="0">
              <a:buNone/>
            </a:pPr>
            <a:r>
              <a:rPr lang="en-US" sz="1500" dirty="0">
                <a:solidFill>
                  <a:srgbClr val="CFE0F0"/>
                </a:solidFill>
                <a:latin typeface="Calibri" pitchFamily="34" charset="0"/>
                <a:ea typeface="Calibri" pitchFamily="34" charset="-122"/>
                <a:cs typeface="Calibri" pitchFamily="34" charset="-120"/>
              </a:rPr>
              <a:t>Demo-able in a 2-day build over MCP-connected Jira</a:t>
            </a:r>
            <a:endParaRPr lang="en-US" sz="1500" dirty="0"/>
          </a:p>
        </p:txBody>
      </p:sp>
      <p:sp>
        <p:nvSpPr>
          <p:cNvPr id="14" name="Text 9"/>
          <p:cNvSpPr/>
          <p:nvPr/>
        </p:nvSpPr>
        <p:spPr>
          <a:xfrm>
            <a:off x="566928" y="6355080"/>
            <a:ext cx="10972800" cy="320040"/>
          </a:xfrm>
          <a:prstGeom prst="rect">
            <a:avLst/>
          </a:prstGeom>
          <a:noFill/>
          <a:ln/>
        </p:spPr>
        <p:txBody>
          <a:bodyPr wrap="square" lIns="0" tIns="0" rIns="0" bIns="0" rtlCol="0" anchor="ctr"/>
          <a:lstStyle/>
          <a:p>
            <a:pPr indent="0" marL="0">
              <a:buNone/>
            </a:pPr>
            <a:r>
              <a:rPr lang="en-US" sz="1350" i="1" dirty="0">
                <a:solidFill>
                  <a:srgbClr val="5EEAD4"/>
                </a:solidFill>
                <a:latin typeface="Calibri" pitchFamily="34" charset="0"/>
                <a:ea typeface="Calibri" pitchFamily="34" charset="-122"/>
                <a:cs typeface="Calibri" pitchFamily="34" charset="-120"/>
              </a:rPr>
              <a:t>Lint the story before development compiles it into the wrong thing.</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Ambiguity is discovered late — when it is most expensive</a:t>
            </a:r>
            <a:endParaRPr lang="en-US" sz="3000" dirty="0"/>
          </a:p>
        </p:txBody>
      </p:sp>
      <p:sp>
        <p:nvSpPr>
          <p:cNvPr id="4" name="Text 2"/>
          <p:cNvSpPr/>
          <p:nvPr/>
        </p:nvSpPr>
        <p:spPr>
          <a:xfrm>
            <a:off x="548640" y="1691640"/>
            <a:ext cx="5486400" cy="822960"/>
          </a:xfrm>
          <a:prstGeom prst="rect">
            <a:avLst/>
          </a:prstGeom>
          <a:noFill/>
          <a:ln/>
        </p:spPr>
        <p:txBody>
          <a:bodyPr wrap="square" lIns="0" tIns="0" rIns="0" bIns="0" rtlCol="0" anchor="ctr"/>
          <a:lstStyle/>
          <a:p>
            <a:pPr indent="0" marL="0">
              <a:lnSpc>
                <a:spcPct val="110000"/>
              </a:lnSpc>
              <a:buNone/>
            </a:pPr>
            <a:r>
              <a:rPr lang="en-US" sz="1650" b="1" dirty="0">
                <a:solidFill>
                  <a:srgbClr val="1E2E45"/>
                </a:solidFill>
                <a:latin typeface="Calibri" pitchFamily="34" charset="0"/>
                <a:ea typeface="Calibri" pitchFamily="34" charset="-122"/>
                <a:cs typeface="Calibri" pitchFamily="34" charset="-120"/>
              </a:rPr>
              <a:t>QA receives a ticket that is vague</a:t>
            </a:r>
            <a:endParaRPr lang="en-US" sz="1650" dirty="0"/>
          </a:p>
          <a:p>
            <a:pPr indent="0" marL="0">
              <a:lnSpc>
                <a:spcPct val="110000"/>
              </a:lnSpc>
              <a:buNone/>
            </a:pPr>
            <a:r>
              <a:rPr lang="en-US" sz="1650" dirty="0">
                <a:solidFill>
                  <a:srgbClr val="5B6B80"/>
                </a:solidFill>
                <a:latin typeface="Calibri" pitchFamily="34" charset="0"/>
                <a:ea typeface="Calibri" pitchFamily="34" charset="-122"/>
                <a:cs typeface="Calibri" pitchFamily="34" charset="-120"/>
              </a:rPr>
              <a:t>— missing acceptance criteria, unclear edge cases, undefined failure paths.</a:t>
            </a:r>
            <a:endParaRPr lang="en-US" sz="1650" dirty="0"/>
          </a:p>
        </p:txBody>
      </p:sp>
      <p:sp>
        <p:nvSpPr>
          <p:cNvPr id="5" name="Text 3"/>
          <p:cNvSpPr/>
          <p:nvPr/>
        </p:nvSpPr>
        <p:spPr>
          <a:xfrm>
            <a:off x="548640" y="2651760"/>
            <a:ext cx="5486400" cy="1097280"/>
          </a:xfrm>
          <a:prstGeom prst="rect">
            <a:avLst/>
          </a:prstGeom>
          <a:noFill/>
          <a:ln/>
        </p:spPr>
        <p:txBody>
          <a:bodyPr wrap="square" lIns="0" tIns="0" rIns="0" bIns="0" rtlCol="0" anchor="ctr"/>
          <a:lstStyle/>
          <a:p>
            <a:pPr indent="0" marL="0">
              <a:lnSpc>
                <a:spcPct val="115000"/>
              </a:lnSpc>
              <a:buNone/>
            </a:pPr>
            <a:r>
              <a:rPr lang="en-US" sz="1500" dirty="0">
                <a:solidFill>
                  <a:srgbClr val="5B6B80"/>
                </a:solidFill>
                <a:latin typeface="Calibri" pitchFamily="34" charset="0"/>
                <a:ea typeface="Calibri" pitchFamily="34" charset="-122"/>
                <a:cs typeface="Calibri" pitchFamily="34" charset="-120"/>
              </a:rPr>
              <a:t>The gap is not caught until development is underway — or worse, until testing. By then the developer has built the wrong thing, the story spills, and rework eats the sprint.</a:t>
            </a:r>
            <a:endParaRPr lang="en-US" sz="1500" dirty="0"/>
          </a:p>
        </p:txBody>
      </p:sp>
      <p:sp>
        <p:nvSpPr>
          <p:cNvPr id="6" name="Shape 4"/>
          <p:cNvSpPr/>
          <p:nvPr/>
        </p:nvSpPr>
        <p:spPr>
          <a:xfrm>
            <a:off x="548640" y="3886200"/>
            <a:ext cx="5486400" cy="1097280"/>
          </a:xfrm>
          <a:prstGeom prst="roundRect">
            <a:avLst>
              <a:gd name="adj" fmla="val 6667"/>
            </a:avLst>
          </a:prstGeom>
          <a:solidFill>
            <a:srgbClr val="FFFFFF"/>
          </a:solidFill>
          <a:ln/>
          <a:effectLst>
            <a:outerShdw sx="100000" sy="100000" kx="0" ky="0" algn="bl" rotWithShape="0" blurRad="114300" dist="38100" dir="5400000">
              <a:srgbClr val="000000">
                <a:alpha val="18000"/>
              </a:srgbClr>
            </a:outerShdw>
          </a:effectLst>
        </p:spPr>
      </p:sp>
      <p:sp>
        <p:nvSpPr>
          <p:cNvPr id="7" name="Shape 5"/>
          <p:cNvSpPr/>
          <p:nvPr/>
        </p:nvSpPr>
        <p:spPr>
          <a:xfrm>
            <a:off x="777240" y="4178808"/>
            <a:ext cx="502920" cy="502920"/>
          </a:xfrm>
          <a:prstGeom prst="ellipse">
            <a:avLst/>
          </a:prstGeom>
          <a:solidFill>
            <a:srgbClr val="FDEBEC"/>
          </a:solidFill>
          <a:ln/>
        </p:spPr>
      </p:sp>
      <p:pic>
        <p:nvPicPr>
          <p:cNvPr id="8" name="Image 0" descr="preencoded.png">    </p:cNvPr>
          <p:cNvPicPr>
            <a:picLocks noChangeAspect="1"/>
          </p:cNvPicPr>
          <p:nvPr/>
        </p:nvPicPr>
        <p:blipFill>
          <a:blip r:embed="rId1"/>
          <a:stretch>
            <a:fillRect/>
          </a:stretch>
        </p:blipFill>
        <p:spPr>
          <a:xfrm>
            <a:off x="886968" y="4288536"/>
            <a:ext cx="283464" cy="283464"/>
          </a:xfrm>
          <a:prstGeom prst="rect">
            <a:avLst/>
          </a:prstGeom>
        </p:spPr>
      </p:pic>
      <p:sp>
        <p:nvSpPr>
          <p:cNvPr id="9" name="Text 6"/>
          <p:cNvSpPr/>
          <p:nvPr/>
        </p:nvSpPr>
        <p:spPr>
          <a:xfrm>
            <a:off x="1508760" y="4050792"/>
            <a:ext cx="4297680" cy="365760"/>
          </a:xfrm>
          <a:prstGeom prst="rect">
            <a:avLst/>
          </a:prstGeom>
          <a:noFill/>
          <a:ln/>
        </p:spPr>
        <p:txBody>
          <a:bodyPr wrap="square" lIns="0" tIns="0" rIns="0" bIns="0" rtlCol="0" anchor="ctr"/>
          <a:lstStyle/>
          <a:p>
            <a:pPr indent="0" marL="0">
              <a:buNone/>
            </a:pPr>
            <a:r>
              <a:rPr lang="en-US" sz="1550" b="1" dirty="0">
                <a:solidFill>
                  <a:srgbClr val="1E2E45"/>
                </a:solidFill>
                <a:latin typeface="Calibri" pitchFamily="34" charset="0"/>
                <a:ea typeface="Calibri" pitchFamily="34" charset="-122"/>
                <a:cs typeface="Calibri" pitchFamily="34" charset="-120"/>
              </a:rPr>
              <a:t>Manual &amp; inconsistent</a:t>
            </a:r>
            <a:endParaRPr lang="en-US" sz="1550" dirty="0"/>
          </a:p>
        </p:txBody>
      </p:sp>
      <p:sp>
        <p:nvSpPr>
          <p:cNvPr id="10" name="Text 7"/>
          <p:cNvSpPr/>
          <p:nvPr/>
        </p:nvSpPr>
        <p:spPr>
          <a:xfrm>
            <a:off x="1508760" y="4416552"/>
            <a:ext cx="4297680" cy="502920"/>
          </a:xfrm>
          <a:prstGeom prst="rect">
            <a:avLst/>
          </a:prstGeom>
          <a:noFill/>
          <a:ln/>
        </p:spPr>
        <p:txBody>
          <a:bodyPr wrap="square" lIns="0" tIns="0" rIns="0" bIns="0" rtlCol="0" anchor="t"/>
          <a:lstStyle/>
          <a:p>
            <a:pPr indent="0" marL="0">
              <a:buNone/>
            </a:pPr>
            <a:r>
              <a:rPr lang="en-US" sz="1250" dirty="0">
                <a:solidFill>
                  <a:srgbClr val="5B6B80"/>
                </a:solidFill>
                <a:latin typeface="Calibri" pitchFamily="34" charset="0"/>
                <a:ea typeface="Calibri" pitchFamily="34" charset="-122"/>
                <a:cs typeface="Calibri" pitchFamily="34" charset="-120"/>
              </a:rPr>
              <a:t>The review depends on whichever reviewer happens to be sharp that day.</a:t>
            </a:r>
            <a:endParaRPr lang="en-US" sz="1250" dirty="0"/>
          </a:p>
        </p:txBody>
      </p:sp>
      <p:sp>
        <p:nvSpPr>
          <p:cNvPr id="11" name="Shape 8"/>
          <p:cNvSpPr/>
          <p:nvPr/>
        </p:nvSpPr>
        <p:spPr>
          <a:xfrm>
            <a:off x="548640" y="5120640"/>
            <a:ext cx="5486400" cy="1097280"/>
          </a:xfrm>
          <a:prstGeom prst="roundRect">
            <a:avLst>
              <a:gd name="adj" fmla="val 6667"/>
            </a:avLst>
          </a:prstGeom>
          <a:solidFill>
            <a:srgbClr val="FFFFFF"/>
          </a:solidFill>
          <a:ln/>
          <a:effectLst>
            <a:outerShdw sx="100000" sy="100000" kx="0" ky="0" algn="bl" rotWithShape="0" blurRad="114300" dist="38100" dir="5400000">
              <a:srgbClr val="000000">
                <a:alpha val="18000"/>
              </a:srgbClr>
            </a:outerShdw>
          </a:effectLst>
        </p:spPr>
      </p:sp>
      <p:sp>
        <p:nvSpPr>
          <p:cNvPr id="12" name="Shape 9"/>
          <p:cNvSpPr/>
          <p:nvPr/>
        </p:nvSpPr>
        <p:spPr>
          <a:xfrm>
            <a:off x="777240" y="5413248"/>
            <a:ext cx="502920" cy="502920"/>
          </a:xfrm>
          <a:prstGeom prst="ellipse">
            <a:avLst/>
          </a:prstGeom>
          <a:solidFill>
            <a:srgbClr val="FDEBEC"/>
          </a:solidFill>
          <a:ln/>
        </p:spPr>
      </p:sp>
      <p:pic>
        <p:nvPicPr>
          <p:cNvPr id="13" name="Image 1" descr="preencoded.png">    </p:cNvPr>
          <p:cNvPicPr>
            <a:picLocks noChangeAspect="1"/>
          </p:cNvPicPr>
          <p:nvPr/>
        </p:nvPicPr>
        <p:blipFill>
          <a:blip r:embed="rId2"/>
          <a:stretch>
            <a:fillRect/>
          </a:stretch>
        </p:blipFill>
        <p:spPr>
          <a:xfrm>
            <a:off x="886968" y="5522976"/>
            <a:ext cx="283464" cy="283464"/>
          </a:xfrm>
          <a:prstGeom prst="rect">
            <a:avLst/>
          </a:prstGeom>
        </p:spPr>
      </p:pic>
      <p:sp>
        <p:nvSpPr>
          <p:cNvPr id="14" name="Text 10"/>
          <p:cNvSpPr/>
          <p:nvPr/>
        </p:nvSpPr>
        <p:spPr>
          <a:xfrm>
            <a:off x="1508760" y="5285232"/>
            <a:ext cx="4297680" cy="365760"/>
          </a:xfrm>
          <a:prstGeom prst="rect">
            <a:avLst/>
          </a:prstGeom>
          <a:noFill/>
          <a:ln/>
        </p:spPr>
        <p:txBody>
          <a:bodyPr wrap="square" lIns="0" tIns="0" rIns="0" bIns="0" rtlCol="0" anchor="ctr"/>
          <a:lstStyle/>
          <a:p>
            <a:pPr indent="0" marL="0">
              <a:buNone/>
            </a:pPr>
            <a:r>
              <a:rPr lang="en-US" sz="1550" b="1" dirty="0">
                <a:solidFill>
                  <a:srgbClr val="1E2E45"/>
                </a:solidFill>
                <a:latin typeface="Calibri" pitchFamily="34" charset="0"/>
                <a:ea typeface="Calibri" pitchFamily="34" charset="-122"/>
                <a:cs typeface="Calibri" pitchFamily="34" charset="-120"/>
              </a:rPr>
              <a:t>Skipped under pressure</a:t>
            </a:r>
            <a:endParaRPr lang="en-US" sz="1550" dirty="0"/>
          </a:p>
        </p:txBody>
      </p:sp>
      <p:sp>
        <p:nvSpPr>
          <p:cNvPr id="15" name="Text 11"/>
          <p:cNvSpPr/>
          <p:nvPr/>
        </p:nvSpPr>
        <p:spPr>
          <a:xfrm>
            <a:off x="1508760" y="5650992"/>
            <a:ext cx="4297680" cy="502920"/>
          </a:xfrm>
          <a:prstGeom prst="rect">
            <a:avLst/>
          </a:prstGeom>
          <a:noFill/>
          <a:ln/>
        </p:spPr>
        <p:txBody>
          <a:bodyPr wrap="square" lIns="0" tIns="0" rIns="0" bIns="0" rtlCol="0" anchor="t"/>
          <a:lstStyle/>
          <a:p>
            <a:pPr indent="0" marL="0">
              <a:buNone/>
            </a:pPr>
            <a:r>
              <a:rPr lang="en-US" sz="1250" dirty="0">
                <a:solidFill>
                  <a:srgbClr val="5B6B80"/>
                </a:solidFill>
                <a:latin typeface="Calibri" pitchFamily="34" charset="0"/>
                <a:ea typeface="Calibri" pitchFamily="34" charset="-122"/>
                <a:cs typeface="Calibri" pitchFamily="34" charset="-120"/>
              </a:rPr>
              <a:t>Deadline pressure means the readiness check is the first thing dropped.</a:t>
            </a:r>
            <a:endParaRPr lang="en-US" sz="1250" dirty="0"/>
          </a:p>
        </p:txBody>
      </p:sp>
      <p:sp>
        <p:nvSpPr>
          <p:cNvPr id="16" name="Shape 12"/>
          <p:cNvSpPr/>
          <p:nvPr/>
        </p:nvSpPr>
        <p:spPr>
          <a:xfrm>
            <a:off x="6446520" y="1645920"/>
            <a:ext cx="5166360" cy="4617720"/>
          </a:xfrm>
          <a:prstGeom prst="roundRect">
            <a:avLst>
              <a:gd name="adj" fmla="val 1584"/>
            </a:avLst>
          </a:prstGeom>
          <a:solidFill>
            <a:srgbClr val="0E1A2B"/>
          </a:solidFill>
          <a:ln/>
          <a:effectLst>
            <a:outerShdw sx="100000" sy="100000" kx="0" ky="0" algn="bl" rotWithShape="0" blurRad="114300" dist="38100" dir="5400000">
              <a:srgbClr val="000000">
                <a:alpha val="18000"/>
              </a:srgbClr>
            </a:outerShdw>
          </a:effectLst>
        </p:spPr>
      </p:sp>
      <p:sp>
        <p:nvSpPr>
          <p:cNvPr id="17" name="Text 13"/>
          <p:cNvSpPr/>
          <p:nvPr/>
        </p:nvSpPr>
        <p:spPr>
          <a:xfrm>
            <a:off x="6766560" y="1920240"/>
            <a:ext cx="4572000" cy="274320"/>
          </a:xfrm>
          <a:prstGeom prst="rect">
            <a:avLst/>
          </a:prstGeom>
          <a:noFill/>
          <a:ln/>
        </p:spPr>
        <p:txBody>
          <a:bodyPr wrap="square" lIns="0" tIns="0" rIns="0" bIns="0" rtlCol="0" anchor="ctr"/>
          <a:lstStyle/>
          <a:p>
            <a:pPr indent="0" marL="0">
              <a:buNone/>
            </a:pPr>
            <a:r>
              <a:rPr lang="en-US" sz="1200" b="1" spc="200" kern="0" dirty="0">
                <a:solidFill>
                  <a:srgbClr val="5EEAD4"/>
                </a:solidFill>
                <a:latin typeface="Calibri" pitchFamily="34" charset="0"/>
                <a:ea typeface="Calibri" pitchFamily="34" charset="-122"/>
                <a:cs typeface="Calibri" pitchFamily="34" charset="-120"/>
              </a:rPr>
              <a:t>HOW A VAGUE STORY BECOMES REWORK</a:t>
            </a:r>
            <a:endParaRPr lang="en-US" sz="1200" dirty="0"/>
          </a:p>
        </p:txBody>
      </p:sp>
      <p:sp>
        <p:nvSpPr>
          <p:cNvPr id="18" name="Shape 14"/>
          <p:cNvSpPr/>
          <p:nvPr/>
        </p:nvSpPr>
        <p:spPr>
          <a:xfrm>
            <a:off x="6766560" y="2350008"/>
            <a:ext cx="384048" cy="384048"/>
          </a:xfrm>
          <a:prstGeom prst="ellipse">
            <a:avLst/>
          </a:prstGeom>
          <a:solidFill>
            <a:srgbClr val="17263B"/>
          </a:solidFill>
          <a:ln w="12700">
            <a:solidFill>
              <a:srgbClr val="5EEAD4"/>
            </a:solidFill>
            <a:prstDash val="solid"/>
          </a:ln>
        </p:spPr>
      </p:sp>
      <p:sp>
        <p:nvSpPr>
          <p:cNvPr id="19" name="Text 15"/>
          <p:cNvSpPr/>
          <p:nvPr/>
        </p:nvSpPr>
        <p:spPr>
          <a:xfrm>
            <a:off x="6766560" y="2350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0" name="Text 16"/>
          <p:cNvSpPr/>
          <p:nvPr/>
        </p:nvSpPr>
        <p:spPr>
          <a:xfrm>
            <a:off x="7296912" y="2313432"/>
            <a:ext cx="4206240"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Story drafted
</a:t>
            </a:r>
            <a:pPr indent="0" marL="0">
              <a:buNone/>
            </a:pPr>
            <a:r>
              <a:rPr lang="en-US" sz="1150" dirty="0">
                <a:solidFill>
                  <a:srgbClr val="CFE0F0"/>
                </a:solidFill>
                <a:latin typeface="Calibri" pitchFamily="34" charset="0"/>
                <a:ea typeface="Calibri" pitchFamily="34" charset="-122"/>
                <a:cs typeface="Calibri" pitchFamily="34" charset="-120"/>
              </a:rPr>
              <a:t>AC missing, edge cases undefined</a:t>
            </a:r>
            <a:endParaRPr lang="en-US" sz="1400" dirty="0"/>
          </a:p>
        </p:txBody>
      </p:sp>
      <p:sp>
        <p:nvSpPr>
          <p:cNvPr id="21" name="Shape 17"/>
          <p:cNvSpPr/>
          <p:nvPr/>
        </p:nvSpPr>
        <p:spPr>
          <a:xfrm>
            <a:off x="6766560" y="3145536"/>
            <a:ext cx="384048" cy="384048"/>
          </a:xfrm>
          <a:prstGeom prst="ellipse">
            <a:avLst/>
          </a:prstGeom>
          <a:solidFill>
            <a:srgbClr val="17263B"/>
          </a:solidFill>
          <a:ln w="12700">
            <a:solidFill>
              <a:srgbClr val="5EEAD4"/>
            </a:solidFill>
            <a:prstDash val="solid"/>
          </a:ln>
        </p:spPr>
      </p:sp>
      <p:sp>
        <p:nvSpPr>
          <p:cNvPr id="22" name="Text 18"/>
          <p:cNvSpPr/>
          <p:nvPr/>
        </p:nvSpPr>
        <p:spPr>
          <a:xfrm>
            <a:off x="6766560" y="3145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19"/>
          <p:cNvSpPr/>
          <p:nvPr/>
        </p:nvSpPr>
        <p:spPr>
          <a:xfrm>
            <a:off x="7296912" y="3108960"/>
            <a:ext cx="4206240"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Refinement passes it
</a:t>
            </a:r>
            <a:pPr indent="0" marL="0">
              <a:buNone/>
            </a:pPr>
            <a:r>
              <a:rPr lang="en-US" sz="1150" dirty="0">
                <a:solidFill>
                  <a:srgbClr val="CFE0F0"/>
                </a:solidFill>
                <a:latin typeface="Calibri" pitchFamily="34" charset="0"/>
                <a:ea typeface="Calibri" pitchFamily="34" charset="-122"/>
                <a:cs typeface="Calibri" pitchFamily="34" charset="-120"/>
              </a:rPr>
              <a:t>No time to interrogate every ticket</a:t>
            </a:r>
            <a:endParaRPr lang="en-US" sz="1400" dirty="0"/>
          </a:p>
        </p:txBody>
      </p:sp>
      <p:sp>
        <p:nvSpPr>
          <p:cNvPr id="24" name="Shape 20"/>
          <p:cNvSpPr/>
          <p:nvPr/>
        </p:nvSpPr>
        <p:spPr>
          <a:xfrm>
            <a:off x="6766560" y="3941064"/>
            <a:ext cx="384048" cy="384048"/>
          </a:xfrm>
          <a:prstGeom prst="ellipse">
            <a:avLst/>
          </a:prstGeom>
          <a:solidFill>
            <a:srgbClr val="F4B740"/>
          </a:solidFill>
          <a:ln w="12700">
            <a:solidFill>
              <a:srgbClr val="F4B740"/>
            </a:solidFill>
            <a:prstDash val="solid"/>
          </a:ln>
        </p:spPr>
      </p:sp>
      <p:sp>
        <p:nvSpPr>
          <p:cNvPr id="25" name="Text 21"/>
          <p:cNvSpPr/>
          <p:nvPr/>
        </p:nvSpPr>
        <p:spPr>
          <a:xfrm>
            <a:off x="6766560" y="3941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2"/>
          <p:cNvSpPr/>
          <p:nvPr/>
        </p:nvSpPr>
        <p:spPr>
          <a:xfrm>
            <a:off x="7296912" y="3904488"/>
            <a:ext cx="4206240" cy="548640"/>
          </a:xfrm>
          <a:prstGeom prst="rect">
            <a:avLst/>
          </a:prstGeom>
          <a:noFill/>
          <a:ln/>
        </p:spPr>
        <p:txBody>
          <a:bodyPr wrap="square" lIns="0" tIns="0" rIns="0" bIns="0" rtlCol="0" anchor="t"/>
          <a:lstStyle/>
          <a:p>
            <a:pPr indent="0" marL="0">
              <a:buNone/>
            </a:pPr>
            <a:r>
              <a:rPr lang="en-US" sz="1400" b="1" dirty="0">
                <a:solidFill>
                  <a:srgbClr val="F4B740"/>
                </a:solidFill>
                <a:latin typeface="Calibri" pitchFamily="34" charset="0"/>
                <a:ea typeface="Calibri" pitchFamily="34" charset="-122"/>
                <a:cs typeface="Calibri" pitchFamily="34" charset="-120"/>
              </a:rPr>
              <a:t>Dev builds it
</a:t>
            </a:r>
            <a:pPr indent="0" marL="0">
              <a:buNone/>
            </a:pPr>
            <a:r>
              <a:rPr lang="en-US" sz="1150" dirty="0">
                <a:solidFill>
                  <a:srgbClr val="CFE0F0"/>
                </a:solidFill>
                <a:latin typeface="Calibri" pitchFamily="34" charset="0"/>
                <a:ea typeface="Calibri" pitchFamily="34" charset="-122"/>
                <a:cs typeface="Calibri" pitchFamily="34" charset="-120"/>
              </a:rPr>
              <a:t>Assumptions baked into code</a:t>
            </a:r>
            <a:endParaRPr lang="en-US" sz="1400" dirty="0"/>
          </a:p>
        </p:txBody>
      </p:sp>
      <p:sp>
        <p:nvSpPr>
          <p:cNvPr id="27" name="Shape 23"/>
          <p:cNvSpPr/>
          <p:nvPr/>
        </p:nvSpPr>
        <p:spPr>
          <a:xfrm>
            <a:off x="6766560" y="4736592"/>
            <a:ext cx="384048" cy="384048"/>
          </a:xfrm>
          <a:prstGeom prst="ellipse">
            <a:avLst/>
          </a:prstGeom>
          <a:solidFill>
            <a:srgbClr val="E5484D"/>
          </a:solidFill>
          <a:ln w="12700">
            <a:solidFill>
              <a:srgbClr val="E5484D"/>
            </a:solidFill>
            <a:prstDash val="solid"/>
          </a:ln>
        </p:spPr>
      </p:sp>
      <p:sp>
        <p:nvSpPr>
          <p:cNvPr id="28" name="Text 24"/>
          <p:cNvSpPr/>
          <p:nvPr/>
        </p:nvSpPr>
        <p:spPr>
          <a:xfrm>
            <a:off x="6766560" y="4736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5"/>
          <p:cNvSpPr/>
          <p:nvPr/>
        </p:nvSpPr>
        <p:spPr>
          <a:xfrm>
            <a:off x="7296912" y="4700016"/>
            <a:ext cx="4206240" cy="548640"/>
          </a:xfrm>
          <a:prstGeom prst="rect">
            <a:avLst/>
          </a:prstGeom>
          <a:noFill/>
          <a:ln/>
        </p:spPr>
        <p:txBody>
          <a:bodyPr wrap="square" lIns="0" tIns="0" rIns="0" bIns="0" rtlCol="0" anchor="t"/>
          <a:lstStyle/>
          <a:p>
            <a:pPr indent="0" marL="0">
              <a:buNone/>
            </a:pPr>
            <a:r>
              <a:rPr lang="en-US" sz="1400" b="1" dirty="0">
                <a:solidFill>
                  <a:srgbClr val="E5484D"/>
                </a:solidFill>
                <a:latin typeface="Calibri" pitchFamily="34" charset="0"/>
                <a:ea typeface="Calibri" pitchFamily="34" charset="-122"/>
                <a:cs typeface="Calibri" pitchFamily="34" charset="-120"/>
              </a:rPr>
              <a:t>QA finds the gap
</a:t>
            </a:r>
            <a:pPr indent="0" marL="0">
              <a:buNone/>
            </a:pPr>
            <a:r>
              <a:rPr lang="en-US" sz="1150" dirty="0">
                <a:solidFill>
                  <a:srgbClr val="CFE0F0"/>
                </a:solidFill>
                <a:latin typeface="Calibri" pitchFamily="34" charset="0"/>
                <a:ea typeface="Calibri" pitchFamily="34" charset="-122"/>
                <a:cs typeface="Calibri" pitchFamily="34" charset="-120"/>
              </a:rPr>
              <a:t>Now it is a defect, not a question</a:t>
            </a:r>
            <a:endParaRPr lang="en-US" sz="1400" dirty="0"/>
          </a:p>
        </p:txBody>
      </p:sp>
      <p:sp>
        <p:nvSpPr>
          <p:cNvPr id="30" name="Shape 26"/>
          <p:cNvSpPr/>
          <p:nvPr/>
        </p:nvSpPr>
        <p:spPr>
          <a:xfrm>
            <a:off x="6766560" y="5532120"/>
            <a:ext cx="384048" cy="384048"/>
          </a:xfrm>
          <a:prstGeom prst="ellipse">
            <a:avLst/>
          </a:prstGeom>
          <a:solidFill>
            <a:srgbClr val="E5484D"/>
          </a:solidFill>
          <a:ln w="12700">
            <a:solidFill>
              <a:srgbClr val="E5484D"/>
            </a:solidFill>
            <a:prstDash val="solid"/>
          </a:ln>
        </p:spPr>
      </p:sp>
      <p:sp>
        <p:nvSpPr>
          <p:cNvPr id="31" name="Text 27"/>
          <p:cNvSpPr/>
          <p:nvPr/>
        </p:nvSpPr>
        <p:spPr>
          <a:xfrm>
            <a:off x="6766560" y="5532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28"/>
          <p:cNvSpPr/>
          <p:nvPr/>
        </p:nvSpPr>
        <p:spPr>
          <a:xfrm>
            <a:off x="7296912" y="5495544"/>
            <a:ext cx="4206240" cy="548640"/>
          </a:xfrm>
          <a:prstGeom prst="rect">
            <a:avLst/>
          </a:prstGeom>
          <a:noFill/>
          <a:ln/>
        </p:spPr>
        <p:txBody>
          <a:bodyPr wrap="square" lIns="0" tIns="0" rIns="0" bIns="0" rtlCol="0" anchor="t"/>
          <a:lstStyle/>
          <a:p>
            <a:pPr indent="0" marL="0">
              <a:buNone/>
            </a:pPr>
            <a:r>
              <a:rPr lang="en-US" sz="1400" b="1" dirty="0">
                <a:solidFill>
                  <a:srgbClr val="E5484D"/>
                </a:solidFill>
                <a:latin typeface="Calibri" pitchFamily="34" charset="0"/>
                <a:ea typeface="Calibri" pitchFamily="34" charset="-122"/>
                <a:cs typeface="Calibri" pitchFamily="34" charset="-120"/>
              </a:rPr>
              <a:t>Rework + spillover
</a:t>
            </a:r>
            <a:pPr indent="0" marL="0">
              <a:buNone/>
            </a:pPr>
            <a:r>
              <a:rPr lang="en-US" sz="1150" dirty="0">
                <a:solidFill>
                  <a:srgbClr val="CFE0F0"/>
                </a:solidFill>
                <a:latin typeface="Calibri" pitchFamily="34" charset="0"/>
                <a:ea typeface="Calibri" pitchFamily="34" charset="-122"/>
                <a:cs typeface="Calibri" pitchFamily="34" charset="-120"/>
              </a:rPr>
              <a:t>Sprint commitment slips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BUSINESS CASE</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The cost-of-defect curve is the whole argument</a:t>
            </a:r>
            <a:endParaRPr lang="en-US" sz="3000" dirty="0"/>
          </a:p>
        </p:txBody>
      </p:sp>
      <p:sp>
        <p:nvSpPr>
          <p:cNvPr id="4" name="Text 2"/>
          <p:cNvSpPr/>
          <p:nvPr/>
        </p:nvSpPr>
        <p:spPr>
          <a:xfrm>
            <a:off x="548640" y="1600200"/>
            <a:ext cx="11064240" cy="777240"/>
          </a:xfrm>
          <a:prstGeom prst="rect">
            <a:avLst/>
          </a:prstGeom>
          <a:noFill/>
          <a:ln/>
        </p:spPr>
        <p:txBody>
          <a:bodyPr wrap="square" lIns="0" tIns="0" rIns="0" bIns="0" rtlCol="0" anchor="ctr"/>
          <a:lstStyle/>
          <a:p>
            <a:pPr indent="0" marL="0">
              <a:lnSpc>
                <a:spcPct val="112000"/>
              </a:lnSpc>
              <a:buNone/>
            </a:pPr>
            <a:r>
              <a:rPr lang="en-US" sz="1500" dirty="0">
                <a:solidFill>
                  <a:srgbClr val="5B6B80"/>
                </a:solidFill>
                <a:latin typeface="Calibri" pitchFamily="34" charset="0"/>
                <a:ea typeface="Calibri" pitchFamily="34" charset="-122"/>
                <a:cs typeface="Calibri" pitchFamily="34" charset="-120"/>
              </a:rPr>
              <a:t>Boehm's 1:10:100 rule — a requirement defect costs ~1× to fix at the requirements stage, ~10× in development, and 100×+ in production. Every story the Linter corrects before development is a 10–100× cost avoidance, not a marginal speed-up.</a:t>
            </a:r>
            <a:endParaRPr lang="en-US" sz="1500" dirty="0"/>
          </a:p>
        </p:txBody>
      </p:sp>
      <p:sp>
        <p:nvSpPr>
          <p:cNvPr id="5" name="Shape 3"/>
          <p:cNvSpPr/>
          <p:nvPr/>
        </p:nvSpPr>
        <p:spPr>
          <a:xfrm>
            <a:off x="548640" y="2514600"/>
            <a:ext cx="6766560" cy="3794760"/>
          </a:xfrm>
          <a:prstGeom prst="roundRect">
            <a:avLst>
              <a:gd name="adj" fmla="val 1928"/>
            </a:avLst>
          </a:prstGeom>
          <a:solidFill>
            <a:srgbClr val="FFFFFF"/>
          </a:solidFill>
          <a:ln/>
          <a:effectLst>
            <a:outerShdw sx="100000" sy="100000" kx="0" ky="0" algn="bl" rotWithShape="0" blurRad="114300" dist="38100" dir="5400000">
              <a:srgbClr val="000000">
                <a:alpha val="18000"/>
              </a:srgbClr>
            </a:outerShdw>
          </a:effectLst>
        </p:spPr>
      </p:sp>
      <p:sp>
        <p:nvSpPr>
          <p:cNvPr id="6" name="Text 4"/>
          <p:cNvSpPr/>
          <p:nvPr/>
        </p:nvSpPr>
        <p:spPr>
          <a:xfrm>
            <a:off x="822960" y="2697480"/>
            <a:ext cx="6217920" cy="274320"/>
          </a:xfrm>
          <a:prstGeom prst="rect">
            <a:avLst/>
          </a:prstGeom>
          <a:noFill/>
          <a:ln/>
        </p:spPr>
        <p:txBody>
          <a:bodyPr wrap="square" lIns="0" tIns="0" rIns="0" bIns="0" rtlCol="0" anchor="ctr"/>
          <a:lstStyle/>
          <a:p>
            <a:pPr indent="0" marL="0">
              <a:buNone/>
            </a:pPr>
            <a:r>
              <a:rPr lang="en-US" sz="1200" b="1" spc="150" kern="0" dirty="0">
                <a:solidFill>
                  <a:srgbClr val="1E2E45"/>
                </a:solidFill>
                <a:latin typeface="Calibri" pitchFamily="34" charset="0"/>
                <a:ea typeface="Calibri" pitchFamily="34" charset="-122"/>
                <a:cs typeface="Calibri" pitchFamily="34" charset="-120"/>
              </a:rPr>
              <a:t>RELATIVE COST TO FIX A REQUIREMENT DEFECT</a:t>
            </a:r>
            <a:endParaRPr lang="en-US" sz="1200" dirty="0"/>
          </a:p>
        </p:txBody>
      </p:sp>
      <p:graphicFrame>
        <p:nvGraphicFramePr>
          <p:cNvPr id="7" name="Chart 0" descr=""/>
          <p:cNvGraphicFramePr/>
          <p:nvPr/>
        </p:nvGraphicFramePr>
        <p:xfrm>
          <a:off x="685800" y="3063240"/>
          <a:ext cx="6446520"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498080" y="2514600"/>
            <a:ext cx="4114800" cy="1170432"/>
          </a:xfrm>
          <a:prstGeom prst="roundRect">
            <a:avLst>
              <a:gd name="adj" fmla="val 6250"/>
            </a:avLst>
          </a:prstGeom>
          <a:solidFill>
            <a:srgbClr val="FFFFFF"/>
          </a:solidFill>
          <a:ln/>
          <a:effectLst>
            <a:outerShdw sx="100000" sy="100000" kx="0" ky="0" algn="bl" rotWithShape="0" blurRad="114300" dist="38100" dir="5400000">
              <a:srgbClr val="000000">
                <a:alpha val="18000"/>
              </a:srgbClr>
            </a:outerShdw>
          </a:effectLst>
        </p:spPr>
      </p:sp>
      <p:sp>
        <p:nvSpPr>
          <p:cNvPr id="9" name="Text 6"/>
          <p:cNvSpPr/>
          <p:nvPr/>
        </p:nvSpPr>
        <p:spPr>
          <a:xfrm>
            <a:off x="7726680" y="2642616"/>
            <a:ext cx="3657600" cy="502920"/>
          </a:xfrm>
          <a:prstGeom prst="rect">
            <a:avLst/>
          </a:prstGeom>
          <a:noFill/>
          <a:ln/>
        </p:spPr>
        <p:txBody>
          <a:bodyPr wrap="square" lIns="0" tIns="0" rIns="0" bIns="0" rtlCol="0" anchor="ctr"/>
          <a:lstStyle/>
          <a:p>
            <a:pPr indent="0" marL="0">
              <a:buNone/>
            </a:pPr>
            <a:r>
              <a:rPr lang="en-US" sz="2700" b="1" dirty="0">
                <a:solidFill>
                  <a:srgbClr val="16B8A6"/>
                </a:solidFill>
                <a:latin typeface="Century Schoolbook" pitchFamily="34" charset="0"/>
                <a:ea typeface="Century Schoolbook" pitchFamily="34" charset="-122"/>
                <a:cs typeface="Century Schoolbook" pitchFamily="34" charset="-120"/>
              </a:rPr>
              <a:t>10–100×</a:t>
            </a:r>
            <a:endParaRPr lang="en-US" sz="2700" dirty="0"/>
          </a:p>
        </p:txBody>
      </p:sp>
      <p:sp>
        <p:nvSpPr>
          <p:cNvPr id="10" name="Text 7"/>
          <p:cNvSpPr/>
          <p:nvPr/>
        </p:nvSpPr>
        <p:spPr>
          <a:xfrm>
            <a:off x="7726680" y="3136392"/>
            <a:ext cx="3703320" cy="457200"/>
          </a:xfrm>
          <a:prstGeom prst="rect">
            <a:avLst/>
          </a:prstGeom>
          <a:noFill/>
          <a:ln/>
        </p:spPr>
        <p:txBody>
          <a:bodyPr wrap="square" lIns="0" tIns="0" rIns="0" bIns="0" rtlCol="0" anchor="t"/>
          <a:lstStyle/>
          <a:p>
            <a:pPr indent="0" marL="0">
              <a:lnSpc>
                <a:spcPct val="102000"/>
              </a:lnSpc>
              <a:buNone/>
            </a:pPr>
            <a:r>
              <a:rPr lang="en-US" sz="1150" dirty="0">
                <a:solidFill>
                  <a:srgbClr val="5B6B80"/>
                </a:solidFill>
                <a:latin typeface="Calibri" pitchFamily="34" charset="0"/>
                <a:ea typeface="Calibri" pitchFamily="34" charset="-122"/>
                <a:cs typeface="Calibri" pitchFamily="34" charset="-120"/>
              </a:rPr>
              <a:t>cost avoided per story fixed upstream vs. in production</a:t>
            </a:r>
            <a:endParaRPr lang="en-US" sz="1150" dirty="0"/>
          </a:p>
        </p:txBody>
      </p:sp>
      <p:sp>
        <p:nvSpPr>
          <p:cNvPr id="11" name="Shape 8"/>
          <p:cNvSpPr/>
          <p:nvPr/>
        </p:nvSpPr>
        <p:spPr>
          <a:xfrm>
            <a:off x="7498080" y="3831336"/>
            <a:ext cx="4114800" cy="1170432"/>
          </a:xfrm>
          <a:prstGeom prst="roundRect">
            <a:avLst>
              <a:gd name="adj" fmla="val 6250"/>
            </a:avLst>
          </a:prstGeom>
          <a:solidFill>
            <a:srgbClr val="FFFFFF"/>
          </a:solidFill>
          <a:ln/>
          <a:effectLst>
            <a:outerShdw sx="100000" sy="100000" kx="0" ky="0" algn="bl" rotWithShape="0" blurRad="114300" dist="38100" dir="5400000">
              <a:srgbClr val="000000">
                <a:alpha val="18000"/>
              </a:srgbClr>
            </a:outerShdw>
          </a:effectLst>
        </p:spPr>
      </p:sp>
      <p:sp>
        <p:nvSpPr>
          <p:cNvPr id="12" name="Text 9"/>
          <p:cNvSpPr/>
          <p:nvPr/>
        </p:nvSpPr>
        <p:spPr>
          <a:xfrm>
            <a:off x="7726680" y="3959352"/>
            <a:ext cx="3657600" cy="502920"/>
          </a:xfrm>
          <a:prstGeom prst="rect">
            <a:avLst/>
          </a:prstGeom>
          <a:noFill/>
          <a:ln/>
        </p:spPr>
        <p:txBody>
          <a:bodyPr wrap="square" lIns="0" tIns="0" rIns="0" bIns="0" rtlCol="0" anchor="ctr"/>
          <a:lstStyle/>
          <a:p>
            <a:pPr indent="0" marL="0">
              <a:buNone/>
            </a:pPr>
            <a:r>
              <a:rPr lang="en-US" sz="2700" b="1" dirty="0">
                <a:solidFill>
                  <a:srgbClr val="1E2E45"/>
                </a:solidFill>
                <a:latin typeface="Century Schoolbook" pitchFamily="34" charset="0"/>
                <a:ea typeface="Century Schoolbook" pitchFamily="34" charset="-122"/>
                <a:cs typeface="Century Schoolbook" pitchFamily="34" charset="-120"/>
              </a:rPr>
              <a:t>Every story</a:t>
            </a:r>
            <a:endParaRPr lang="en-US" sz="2700" dirty="0"/>
          </a:p>
        </p:txBody>
      </p:sp>
      <p:sp>
        <p:nvSpPr>
          <p:cNvPr id="13" name="Text 10"/>
          <p:cNvSpPr/>
          <p:nvPr/>
        </p:nvSpPr>
        <p:spPr>
          <a:xfrm>
            <a:off x="7726680" y="4453128"/>
            <a:ext cx="3703320" cy="457200"/>
          </a:xfrm>
          <a:prstGeom prst="rect">
            <a:avLst/>
          </a:prstGeom>
          <a:noFill/>
          <a:ln/>
        </p:spPr>
        <p:txBody>
          <a:bodyPr wrap="square" lIns="0" tIns="0" rIns="0" bIns="0" rtlCol="0" anchor="t"/>
          <a:lstStyle/>
          <a:p>
            <a:pPr indent="0" marL="0">
              <a:lnSpc>
                <a:spcPct val="102000"/>
              </a:lnSpc>
              <a:buNone/>
            </a:pPr>
            <a:r>
              <a:rPr lang="en-US" sz="1150" dirty="0">
                <a:solidFill>
                  <a:srgbClr val="5B6B80"/>
                </a:solidFill>
                <a:latin typeface="Calibri" pitchFamily="34" charset="0"/>
                <a:ea typeface="Calibri" pitchFamily="34" charset="-122"/>
                <a:cs typeface="Calibri" pitchFamily="34" charset="-120"/>
              </a:rPr>
              <a:t>reviewed — systematic, instant, not dependent on the sharpest reviewer</a:t>
            </a:r>
            <a:endParaRPr lang="en-US" sz="1150" dirty="0"/>
          </a:p>
        </p:txBody>
      </p:sp>
      <p:sp>
        <p:nvSpPr>
          <p:cNvPr id="14" name="Shape 11"/>
          <p:cNvSpPr/>
          <p:nvPr/>
        </p:nvSpPr>
        <p:spPr>
          <a:xfrm>
            <a:off x="7498080" y="5148072"/>
            <a:ext cx="4114800" cy="1170432"/>
          </a:xfrm>
          <a:prstGeom prst="roundRect">
            <a:avLst>
              <a:gd name="adj" fmla="val 6250"/>
            </a:avLst>
          </a:prstGeom>
          <a:solidFill>
            <a:srgbClr val="FFFFFF"/>
          </a:solidFill>
          <a:ln/>
          <a:effectLst>
            <a:outerShdw sx="100000" sy="100000" kx="0" ky="0" algn="bl" rotWithShape="0" blurRad="114300" dist="38100" dir="5400000">
              <a:srgbClr val="000000">
                <a:alpha val="18000"/>
              </a:srgbClr>
            </a:outerShdw>
          </a:effectLst>
        </p:spPr>
      </p:sp>
      <p:sp>
        <p:nvSpPr>
          <p:cNvPr id="15" name="Text 12"/>
          <p:cNvSpPr/>
          <p:nvPr/>
        </p:nvSpPr>
        <p:spPr>
          <a:xfrm>
            <a:off x="7726680" y="5276088"/>
            <a:ext cx="3657600" cy="502920"/>
          </a:xfrm>
          <a:prstGeom prst="rect">
            <a:avLst/>
          </a:prstGeom>
          <a:noFill/>
          <a:ln/>
        </p:spPr>
        <p:txBody>
          <a:bodyPr wrap="square" lIns="0" tIns="0" rIns="0" bIns="0" rtlCol="0" anchor="ctr"/>
          <a:lstStyle/>
          <a:p>
            <a:pPr indent="0" marL="0">
              <a:buNone/>
            </a:pPr>
            <a:r>
              <a:rPr lang="en-US" sz="2700" b="1" dirty="0">
                <a:solidFill>
                  <a:srgbClr val="1E2E45"/>
                </a:solidFill>
                <a:latin typeface="Century Schoolbook" pitchFamily="34" charset="0"/>
                <a:ea typeface="Century Schoolbook" pitchFamily="34" charset="-122"/>
                <a:cs typeface="Century Schoolbook" pitchFamily="34" charset="-120"/>
              </a:rPr>
              <a:t>Root cause</a:t>
            </a:r>
            <a:endParaRPr lang="en-US" sz="2700" dirty="0"/>
          </a:p>
        </p:txBody>
      </p:sp>
      <p:sp>
        <p:nvSpPr>
          <p:cNvPr id="16" name="Text 13"/>
          <p:cNvSpPr/>
          <p:nvPr/>
        </p:nvSpPr>
        <p:spPr>
          <a:xfrm>
            <a:off x="7726680" y="5769864"/>
            <a:ext cx="3703320" cy="457200"/>
          </a:xfrm>
          <a:prstGeom prst="rect">
            <a:avLst/>
          </a:prstGeom>
          <a:noFill/>
          <a:ln/>
        </p:spPr>
        <p:txBody>
          <a:bodyPr wrap="square" lIns="0" tIns="0" rIns="0" bIns="0" rtlCol="0" anchor="t"/>
          <a:lstStyle/>
          <a:p>
            <a:pPr indent="0" marL="0">
              <a:lnSpc>
                <a:spcPct val="102000"/>
              </a:lnSpc>
              <a:buNone/>
            </a:pPr>
            <a:r>
              <a:rPr lang="en-US" sz="1150" dirty="0">
                <a:solidFill>
                  <a:srgbClr val="5B6B80"/>
                </a:solidFill>
                <a:latin typeface="Calibri" pitchFamily="34" charset="0"/>
                <a:ea typeface="Calibri" pitchFamily="34" charset="-122"/>
                <a:cs typeface="Calibri" pitchFamily="34" charset="-120"/>
              </a:rPr>
              <a:t>we attack the source of defects, not accelerate finding ones that already exist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QUANTIFIED BENEFITS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What one pod saves in a year — an illustrative model</a:t>
            </a:r>
            <a:endParaRPr lang="en-US" sz="3000" dirty="0"/>
          </a:p>
        </p:txBody>
      </p:sp>
      <p:sp>
        <p:nvSpPr>
          <p:cNvPr id="4" name="Text 2"/>
          <p:cNvSpPr/>
          <p:nvPr/>
        </p:nvSpPr>
        <p:spPr>
          <a:xfrm>
            <a:off x="548640" y="1572768"/>
            <a:ext cx="11064240" cy="457200"/>
          </a:xfrm>
          <a:prstGeom prst="rect">
            <a:avLst/>
          </a:prstGeom>
          <a:noFill/>
          <a:ln/>
        </p:spPr>
        <p:txBody>
          <a:bodyPr wrap="square" lIns="0" tIns="0" rIns="0" bIns="0" rtlCol="0" anchor="ctr"/>
          <a:lstStyle/>
          <a:p>
            <a:pPr indent="0" marL="0">
              <a:buNone/>
            </a:pPr>
            <a:r>
              <a:rPr lang="en-US" sz="1350" i="1" dirty="0">
                <a:solidFill>
                  <a:srgbClr val="5B6B80"/>
                </a:solidFill>
                <a:latin typeface="Calibri" pitchFamily="34" charset="0"/>
                <a:ea typeface="Calibri" pitchFamily="34" charset="-122"/>
                <a:cs typeface="Calibri" pitchFamily="34" charset="-120"/>
              </a:rPr>
              <a:t>Illustrative, with stated assumptions you can swap for your own delivery data. The point is the order of magnitude, not the decimal place.</a:t>
            </a:r>
            <a:endParaRPr lang="en-US" sz="1350" dirty="0"/>
          </a:p>
        </p:txBody>
      </p:sp>
      <p:sp>
        <p:nvSpPr>
          <p:cNvPr id="5" name="Shape 3"/>
          <p:cNvSpPr/>
          <p:nvPr/>
        </p:nvSpPr>
        <p:spPr>
          <a:xfrm>
            <a:off x="548640" y="2148840"/>
            <a:ext cx="3886200" cy="3063240"/>
          </a:xfrm>
          <a:prstGeom prst="roundRect">
            <a:avLst>
              <a:gd name="adj" fmla="val 2388"/>
            </a:avLst>
          </a:prstGeom>
          <a:solidFill>
            <a:srgbClr val="0E1A2B"/>
          </a:solidFill>
          <a:ln/>
          <a:effectLst>
            <a:outerShdw sx="100000" sy="100000" kx="0" ky="0" algn="bl" rotWithShape="0" blurRad="114300" dist="38100" dir="5400000">
              <a:srgbClr val="000000">
                <a:alpha val="18000"/>
              </a:srgbClr>
            </a:outerShdw>
          </a:effectLst>
        </p:spPr>
      </p:sp>
      <p:sp>
        <p:nvSpPr>
          <p:cNvPr id="6" name="Text 4"/>
          <p:cNvSpPr/>
          <p:nvPr/>
        </p:nvSpPr>
        <p:spPr>
          <a:xfrm>
            <a:off x="822960" y="2377440"/>
            <a:ext cx="3383280" cy="274320"/>
          </a:xfrm>
          <a:prstGeom prst="rect">
            <a:avLst/>
          </a:prstGeom>
          <a:noFill/>
          <a:ln/>
        </p:spPr>
        <p:txBody>
          <a:bodyPr wrap="square" lIns="0" tIns="0" rIns="0" bIns="0" rtlCol="0" anchor="ctr"/>
          <a:lstStyle/>
          <a:p>
            <a:pPr indent="0" marL="0">
              <a:buNone/>
            </a:pPr>
            <a:r>
              <a:rPr lang="en-US" sz="1200" b="1" spc="150" kern="0" dirty="0">
                <a:solidFill>
                  <a:srgbClr val="5EEAD4"/>
                </a:solidFill>
                <a:latin typeface="Calibri" pitchFamily="34" charset="0"/>
                <a:ea typeface="Calibri" pitchFamily="34" charset="-122"/>
                <a:cs typeface="Calibri" pitchFamily="34" charset="-120"/>
              </a:rPr>
              <a:t>ASSUMPTIONS · SWAPPABLE</a:t>
            </a:r>
            <a:endParaRPr lang="en-US" sz="1200" dirty="0"/>
          </a:p>
        </p:txBody>
      </p:sp>
      <p:sp>
        <p:nvSpPr>
          <p:cNvPr id="7" name="Shape 5"/>
          <p:cNvSpPr/>
          <p:nvPr/>
        </p:nvSpPr>
        <p:spPr>
          <a:xfrm>
            <a:off x="841248" y="2825496"/>
            <a:ext cx="82296" cy="82296"/>
          </a:xfrm>
          <a:prstGeom prst="ellipse">
            <a:avLst/>
          </a:prstGeom>
          <a:solidFill>
            <a:srgbClr val="16B8A6"/>
          </a:solidFill>
          <a:ln/>
        </p:spPr>
      </p:sp>
      <p:sp>
        <p:nvSpPr>
          <p:cNvPr id="8" name="Text 6"/>
          <p:cNvSpPr/>
          <p:nvPr/>
        </p:nvSpPr>
        <p:spPr>
          <a:xfrm>
            <a:off x="1051560" y="2724912"/>
            <a:ext cx="3200400" cy="457200"/>
          </a:xfrm>
          <a:prstGeom prst="rect">
            <a:avLst/>
          </a:prstGeom>
          <a:noFill/>
          <a:ln/>
        </p:spPr>
        <p:txBody>
          <a:bodyPr wrap="square" lIns="0" tIns="0" rIns="0" bIns="0" rtlCol="0" anchor="t"/>
          <a:lstStyle/>
          <a:p>
            <a:pPr indent="0" marL="0">
              <a:lnSpc>
                <a:spcPct val="100000"/>
              </a:lnSpc>
              <a:buNone/>
            </a:pPr>
            <a:r>
              <a:rPr lang="en-US" sz="1150" dirty="0">
                <a:solidFill>
                  <a:srgbClr val="CFE0F0"/>
                </a:solidFill>
                <a:latin typeface="Calibri" pitchFamily="34" charset="0"/>
                <a:ea typeface="Calibri" pitchFamily="34" charset="-122"/>
                <a:cs typeface="Calibri" pitchFamily="34" charset="-120"/>
              </a:rPr>
              <a:t>1 pod · 14 stories / sprint · ~26 sprints / year</a:t>
            </a:r>
            <a:endParaRPr lang="en-US" sz="1150" dirty="0"/>
          </a:p>
        </p:txBody>
      </p:sp>
      <p:sp>
        <p:nvSpPr>
          <p:cNvPr id="9" name="Shape 7"/>
          <p:cNvSpPr/>
          <p:nvPr/>
        </p:nvSpPr>
        <p:spPr>
          <a:xfrm>
            <a:off x="841248" y="3300984"/>
            <a:ext cx="82296" cy="82296"/>
          </a:xfrm>
          <a:prstGeom prst="ellipse">
            <a:avLst/>
          </a:prstGeom>
          <a:solidFill>
            <a:srgbClr val="16B8A6"/>
          </a:solidFill>
          <a:ln/>
        </p:spPr>
      </p:sp>
      <p:sp>
        <p:nvSpPr>
          <p:cNvPr id="10" name="Text 8"/>
          <p:cNvSpPr/>
          <p:nvPr/>
        </p:nvSpPr>
        <p:spPr>
          <a:xfrm>
            <a:off x="1051560" y="3200400"/>
            <a:ext cx="3200400" cy="457200"/>
          </a:xfrm>
          <a:prstGeom prst="rect">
            <a:avLst/>
          </a:prstGeom>
          <a:noFill/>
          <a:ln/>
        </p:spPr>
        <p:txBody>
          <a:bodyPr wrap="square" lIns="0" tIns="0" rIns="0" bIns="0" rtlCol="0" anchor="t"/>
          <a:lstStyle/>
          <a:p>
            <a:pPr indent="0" marL="0">
              <a:lnSpc>
                <a:spcPct val="100000"/>
              </a:lnSpc>
              <a:buNone/>
            </a:pPr>
            <a:r>
              <a:rPr lang="en-US" sz="1150" dirty="0">
                <a:solidFill>
                  <a:srgbClr val="CFE0F0"/>
                </a:solidFill>
                <a:latin typeface="Calibri" pitchFamily="34" charset="0"/>
                <a:ea typeface="Calibri" pitchFamily="34" charset="-122"/>
                <a:cs typeface="Calibri" pitchFamily="34" charset="-120"/>
              </a:rPr>
              <a:t>~30% of stories carry a material ambiguity</a:t>
            </a:r>
            <a:endParaRPr lang="en-US" sz="1150" dirty="0"/>
          </a:p>
        </p:txBody>
      </p:sp>
      <p:sp>
        <p:nvSpPr>
          <p:cNvPr id="11" name="Shape 9"/>
          <p:cNvSpPr/>
          <p:nvPr/>
        </p:nvSpPr>
        <p:spPr>
          <a:xfrm>
            <a:off x="841248" y="3776472"/>
            <a:ext cx="82296" cy="82296"/>
          </a:xfrm>
          <a:prstGeom prst="ellipse">
            <a:avLst/>
          </a:prstGeom>
          <a:solidFill>
            <a:srgbClr val="16B8A6"/>
          </a:solidFill>
          <a:ln/>
        </p:spPr>
      </p:sp>
      <p:sp>
        <p:nvSpPr>
          <p:cNvPr id="12" name="Text 10"/>
          <p:cNvSpPr/>
          <p:nvPr/>
        </p:nvSpPr>
        <p:spPr>
          <a:xfrm>
            <a:off x="1051560" y="3675888"/>
            <a:ext cx="3200400" cy="457200"/>
          </a:xfrm>
          <a:prstGeom prst="rect">
            <a:avLst/>
          </a:prstGeom>
          <a:noFill/>
          <a:ln/>
        </p:spPr>
        <p:txBody>
          <a:bodyPr wrap="square" lIns="0" tIns="0" rIns="0" bIns="0" rtlCol="0" anchor="t"/>
          <a:lstStyle/>
          <a:p>
            <a:pPr indent="0" marL="0">
              <a:lnSpc>
                <a:spcPct val="100000"/>
              </a:lnSpc>
              <a:buNone/>
            </a:pPr>
            <a:r>
              <a:rPr lang="en-US" sz="1150" dirty="0">
                <a:solidFill>
                  <a:srgbClr val="CFE0F0"/>
                </a:solidFill>
                <a:latin typeface="Calibri" pitchFamily="34" charset="0"/>
                <a:ea typeface="Calibri" pitchFamily="34" charset="-122"/>
                <a:cs typeface="Calibri" pitchFamily="34" charset="-120"/>
              </a:rPr>
              <a:t>Half would leak into dev / test if not caught upstream</a:t>
            </a:r>
            <a:endParaRPr lang="en-US" sz="1150" dirty="0"/>
          </a:p>
        </p:txBody>
      </p:sp>
      <p:sp>
        <p:nvSpPr>
          <p:cNvPr id="13" name="Shape 11"/>
          <p:cNvSpPr/>
          <p:nvPr/>
        </p:nvSpPr>
        <p:spPr>
          <a:xfrm>
            <a:off x="841248" y="4251960"/>
            <a:ext cx="82296" cy="82296"/>
          </a:xfrm>
          <a:prstGeom prst="ellipse">
            <a:avLst/>
          </a:prstGeom>
          <a:solidFill>
            <a:srgbClr val="16B8A6"/>
          </a:solidFill>
          <a:ln/>
        </p:spPr>
      </p:sp>
      <p:sp>
        <p:nvSpPr>
          <p:cNvPr id="14" name="Text 12"/>
          <p:cNvSpPr/>
          <p:nvPr/>
        </p:nvSpPr>
        <p:spPr>
          <a:xfrm>
            <a:off x="1051560" y="4151376"/>
            <a:ext cx="3200400" cy="457200"/>
          </a:xfrm>
          <a:prstGeom prst="rect">
            <a:avLst/>
          </a:prstGeom>
          <a:noFill/>
          <a:ln/>
        </p:spPr>
        <p:txBody>
          <a:bodyPr wrap="square" lIns="0" tIns="0" rIns="0" bIns="0" rtlCol="0" anchor="t"/>
          <a:lstStyle/>
          <a:p>
            <a:pPr indent="0" marL="0">
              <a:lnSpc>
                <a:spcPct val="100000"/>
              </a:lnSpc>
              <a:buNone/>
            </a:pPr>
            <a:r>
              <a:rPr lang="en-US" sz="1150" dirty="0">
                <a:solidFill>
                  <a:srgbClr val="CFE0F0"/>
                </a:solidFill>
                <a:latin typeface="Calibri" pitchFamily="34" charset="0"/>
                <a:ea typeface="Calibri" pitchFamily="34" charset="-122"/>
                <a:cs typeface="Calibri" pitchFamily="34" charset="-120"/>
              </a:rPr>
              <a:t>~6 hrs rework per leaked gap (≈10× a 0.5 hr upstream fix)</a:t>
            </a:r>
            <a:endParaRPr lang="en-US" sz="1150" dirty="0"/>
          </a:p>
        </p:txBody>
      </p:sp>
      <p:sp>
        <p:nvSpPr>
          <p:cNvPr id="15" name="Shape 13"/>
          <p:cNvSpPr/>
          <p:nvPr/>
        </p:nvSpPr>
        <p:spPr>
          <a:xfrm>
            <a:off x="841248" y="4727448"/>
            <a:ext cx="82296" cy="82296"/>
          </a:xfrm>
          <a:prstGeom prst="ellipse">
            <a:avLst/>
          </a:prstGeom>
          <a:solidFill>
            <a:srgbClr val="16B8A6"/>
          </a:solidFill>
          <a:ln/>
        </p:spPr>
      </p:sp>
      <p:sp>
        <p:nvSpPr>
          <p:cNvPr id="16" name="Text 14"/>
          <p:cNvSpPr/>
          <p:nvPr/>
        </p:nvSpPr>
        <p:spPr>
          <a:xfrm>
            <a:off x="1051560" y="4626864"/>
            <a:ext cx="3200400" cy="457200"/>
          </a:xfrm>
          <a:prstGeom prst="rect">
            <a:avLst/>
          </a:prstGeom>
          <a:noFill/>
          <a:ln/>
        </p:spPr>
        <p:txBody>
          <a:bodyPr wrap="square" lIns="0" tIns="0" rIns="0" bIns="0" rtlCol="0" anchor="t"/>
          <a:lstStyle/>
          <a:p>
            <a:pPr indent="0" marL="0">
              <a:lnSpc>
                <a:spcPct val="100000"/>
              </a:lnSpc>
              <a:buNone/>
            </a:pPr>
            <a:r>
              <a:rPr lang="en-US" sz="1150" dirty="0">
                <a:solidFill>
                  <a:srgbClr val="CFE0F0"/>
                </a:solidFill>
                <a:latin typeface="Calibri" pitchFamily="34" charset="0"/>
                <a:ea typeface="Calibri" pitchFamily="34" charset="-122"/>
                <a:cs typeface="Calibri" pitchFamily="34" charset="-120"/>
              </a:rPr>
              <a:t>Blended cost ≈ $100 / hr, fully loaded</a:t>
            </a:r>
            <a:endParaRPr lang="en-US" sz="1150" dirty="0"/>
          </a:p>
        </p:txBody>
      </p:sp>
      <p:sp>
        <p:nvSpPr>
          <p:cNvPr id="17" name="Shape 15"/>
          <p:cNvSpPr/>
          <p:nvPr/>
        </p:nvSpPr>
        <p:spPr>
          <a:xfrm>
            <a:off x="4617720" y="2148840"/>
            <a:ext cx="3429000" cy="1417320"/>
          </a:xfrm>
          <a:prstGeom prst="roundRect">
            <a:avLst>
              <a:gd name="adj" fmla="val 5161"/>
            </a:avLst>
          </a:prstGeom>
          <a:solidFill>
            <a:srgbClr val="FFFFFF"/>
          </a:solidFill>
          <a:ln/>
          <a:effectLst>
            <a:outerShdw sx="100000" sy="100000" kx="0" ky="0" algn="bl" rotWithShape="0" blurRad="114300" dist="38100" dir="5400000">
              <a:srgbClr val="000000">
                <a:alpha val="18000"/>
              </a:srgbClr>
            </a:outerShdw>
          </a:effectLst>
        </p:spPr>
      </p:sp>
      <p:sp>
        <p:nvSpPr>
          <p:cNvPr id="18" name="Text 16"/>
          <p:cNvSpPr/>
          <p:nvPr/>
        </p:nvSpPr>
        <p:spPr>
          <a:xfrm>
            <a:off x="4892040" y="2350008"/>
            <a:ext cx="2880360" cy="548640"/>
          </a:xfrm>
          <a:prstGeom prst="rect">
            <a:avLst/>
          </a:prstGeom>
          <a:noFill/>
          <a:ln/>
        </p:spPr>
        <p:txBody>
          <a:bodyPr wrap="square" lIns="0" tIns="0" rIns="0" bIns="0" rtlCol="0" anchor="ctr"/>
          <a:lstStyle/>
          <a:p>
            <a:pPr indent="0" marL="0">
              <a:buNone/>
            </a:pPr>
            <a:r>
              <a:rPr lang="en-US" sz="3200" b="1" dirty="0">
                <a:solidFill>
                  <a:srgbClr val="16B8A6"/>
                </a:solidFill>
                <a:latin typeface="Century Schoolbook" pitchFamily="34" charset="0"/>
                <a:ea typeface="Century Schoolbook" pitchFamily="34" charset="-122"/>
                <a:cs typeface="Century Schoolbook" pitchFamily="34" charset="-120"/>
              </a:rPr>
              <a:t>~4</a:t>
            </a:r>
            <a:endParaRPr lang="en-US" sz="3200" dirty="0"/>
          </a:p>
        </p:txBody>
      </p:sp>
      <p:sp>
        <p:nvSpPr>
          <p:cNvPr id="19" name="Text 17"/>
          <p:cNvSpPr/>
          <p:nvPr/>
        </p:nvSpPr>
        <p:spPr>
          <a:xfrm>
            <a:off x="4892040" y="2971800"/>
            <a:ext cx="2926080" cy="502920"/>
          </a:xfrm>
          <a:prstGeom prst="rect">
            <a:avLst/>
          </a:prstGeom>
          <a:noFill/>
          <a:ln/>
        </p:spPr>
        <p:txBody>
          <a:bodyPr wrap="square" lIns="0" tIns="0" rIns="0" bIns="0" rtlCol="0" anchor="t"/>
          <a:lstStyle/>
          <a:p>
            <a:pPr indent="0" marL="0">
              <a:lnSpc>
                <a:spcPct val="102000"/>
              </a:lnSpc>
              <a:buNone/>
            </a:pPr>
            <a:r>
              <a:rPr lang="en-US" sz="1200" dirty="0">
                <a:solidFill>
                  <a:srgbClr val="5B6B80"/>
                </a:solidFill>
                <a:latin typeface="Calibri" pitchFamily="34" charset="0"/>
                <a:ea typeface="Calibri" pitchFamily="34" charset="-122"/>
                <a:cs typeface="Calibri" pitchFamily="34" charset="-120"/>
              </a:rPr>
              <a:t>ambiguous stories flagged before dev — every sprint</a:t>
            </a:r>
            <a:endParaRPr lang="en-US" sz="1200" dirty="0"/>
          </a:p>
        </p:txBody>
      </p:sp>
      <p:sp>
        <p:nvSpPr>
          <p:cNvPr id="20" name="Shape 18"/>
          <p:cNvSpPr/>
          <p:nvPr/>
        </p:nvSpPr>
        <p:spPr>
          <a:xfrm>
            <a:off x="8275320" y="2148840"/>
            <a:ext cx="3429000" cy="1417320"/>
          </a:xfrm>
          <a:prstGeom prst="roundRect">
            <a:avLst>
              <a:gd name="adj" fmla="val 5161"/>
            </a:avLst>
          </a:prstGeom>
          <a:solidFill>
            <a:srgbClr val="FFFFFF"/>
          </a:solidFill>
          <a:ln/>
          <a:effectLst>
            <a:outerShdw sx="100000" sy="100000" kx="0" ky="0" algn="bl" rotWithShape="0" blurRad="114300" dist="38100" dir="5400000">
              <a:srgbClr val="000000">
                <a:alpha val="18000"/>
              </a:srgbClr>
            </a:outerShdw>
          </a:effectLst>
        </p:spPr>
      </p:sp>
      <p:sp>
        <p:nvSpPr>
          <p:cNvPr id="21" name="Text 19"/>
          <p:cNvSpPr/>
          <p:nvPr/>
        </p:nvSpPr>
        <p:spPr>
          <a:xfrm>
            <a:off x="8549640" y="2350008"/>
            <a:ext cx="2880360" cy="548640"/>
          </a:xfrm>
          <a:prstGeom prst="rect">
            <a:avLst/>
          </a:prstGeom>
          <a:noFill/>
          <a:ln/>
        </p:spPr>
        <p:txBody>
          <a:bodyPr wrap="square" lIns="0" tIns="0" rIns="0" bIns="0" rtlCol="0" anchor="ctr"/>
          <a:lstStyle/>
          <a:p>
            <a:pPr indent="0" marL="0">
              <a:buNone/>
            </a:pPr>
            <a:r>
              <a:rPr lang="en-US" sz="3200" b="1" dirty="0">
                <a:solidFill>
                  <a:srgbClr val="1E2E45"/>
                </a:solidFill>
                <a:latin typeface="Century Schoolbook" pitchFamily="34" charset="0"/>
                <a:ea typeface="Century Schoolbook" pitchFamily="34" charset="-122"/>
                <a:cs typeface="Century Schoolbook" pitchFamily="34" charset="-120"/>
              </a:rPr>
              <a:t>~12 hrs</a:t>
            </a:r>
            <a:endParaRPr lang="en-US" sz="3200" dirty="0"/>
          </a:p>
        </p:txBody>
      </p:sp>
      <p:sp>
        <p:nvSpPr>
          <p:cNvPr id="22" name="Text 20"/>
          <p:cNvSpPr/>
          <p:nvPr/>
        </p:nvSpPr>
        <p:spPr>
          <a:xfrm>
            <a:off x="8549640" y="2971800"/>
            <a:ext cx="2926080" cy="502920"/>
          </a:xfrm>
          <a:prstGeom prst="rect">
            <a:avLst/>
          </a:prstGeom>
          <a:noFill/>
          <a:ln/>
        </p:spPr>
        <p:txBody>
          <a:bodyPr wrap="square" lIns="0" tIns="0" rIns="0" bIns="0" rtlCol="0" anchor="t"/>
          <a:lstStyle/>
          <a:p>
            <a:pPr indent="0" marL="0">
              <a:lnSpc>
                <a:spcPct val="102000"/>
              </a:lnSpc>
              <a:buNone/>
            </a:pPr>
            <a:r>
              <a:rPr lang="en-US" sz="1200" dirty="0">
                <a:solidFill>
                  <a:srgbClr val="5B6B80"/>
                </a:solidFill>
                <a:latin typeface="Calibri" pitchFamily="34" charset="0"/>
                <a:ea typeface="Calibri" pitchFamily="34" charset="-122"/>
                <a:cs typeface="Calibri" pitchFamily="34" charset="-120"/>
              </a:rPr>
              <a:t>rework avoided per sprint (≈2 leaks × 6 hrs)</a:t>
            </a:r>
            <a:endParaRPr lang="en-US" sz="1200" dirty="0"/>
          </a:p>
        </p:txBody>
      </p:sp>
      <p:sp>
        <p:nvSpPr>
          <p:cNvPr id="23" name="Shape 21"/>
          <p:cNvSpPr/>
          <p:nvPr/>
        </p:nvSpPr>
        <p:spPr>
          <a:xfrm>
            <a:off x="4617720" y="3794760"/>
            <a:ext cx="3429000" cy="1417320"/>
          </a:xfrm>
          <a:prstGeom prst="roundRect">
            <a:avLst>
              <a:gd name="adj" fmla="val 5161"/>
            </a:avLst>
          </a:prstGeom>
          <a:solidFill>
            <a:srgbClr val="FFFFFF"/>
          </a:solidFill>
          <a:ln/>
          <a:effectLst>
            <a:outerShdw sx="100000" sy="100000" kx="0" ky="0" algn="bl" rotWithShape="0" blurRad="114300" dist="38100" dir="5400000">
              <a:srgbClr val="000000">
                <a:alpha val="18000"/>
              </a:srgbClr>
            </a:outerShdw>
          </a:effectLst>
        </p:spPr>
      </p:sp>
      <p:sp>
        <p:nvSpPr>
          <p:cNvPr id="24" name="Text 22"/>
          <p:cNvSpPr/>
          <p:nvPr/>
        </p:nvSpPr>
        <p:spPr>
          <a:xfrm>
            <a:off x="4892040" y="3995928"/>
            <a:ext cx="2880360" cy="548640"/>
          </a:xfrm>
          <a:prstGeom prst="rect">
            <a:avLst/>
          </a:prstGeom>
          <a:noFill/>
          <a:ln/>
        </p:spPr>
        <p:txBody>
          <a:bodyPr wrap="square" lIns="0" tIns="0" rIns="0" bIns="0" rtlCol="0" anchor="ctr"/>
          <a:lstStyle/>
          <a:p>
            <a:pPr indent="0" marL="0">
              <a:buNone/>
            </a:pPr>
            <a:r>
              <a:rPr lang="en-US" sz="3200" b="1" dirty="0">
                <a:solidFill>
                  <a:srgbClr val="1E2E45"/>
                </a:solidFill>
                <a:latin typeface="Century Schoolbook" pitchFamily="34" charset="0"/>
                <a:ea typeface="Century Schoolbook" pitchFamily="34" charset="-122"/>
                <a:cs typeface="Century Schoolbook" pitchFamily="34" charset="-120"/>
              </a:rPr>
              <a:t>~8 weeks</a:t>
            </a:r>
            <a:endParaRPr lang="en-US" sz="3200" dirty="0"/>
          </a:p>
        </p:txBody>
      </p:sp>
      <p:sp>
        <p:nvSpPr>
          <p:cNvPr id="25" name="Text 23"/>
          <p:cNvSpPr/>
          <p:nvPr/>
        </p:nvSpPr>
        <p:spPr>
          <a:xfrm>
            <a:off x="4892040" y="4617720"/>
            <a:ext cx="2926080" cy="502920"/>
          </a:xfrm>
          <a:prstGeom prst="rect">
            <a:avLst/>
          </a:prstGeom>
          <a:noFill/>
          <a:ln/>
        </p:spPr>
        <p:txBody>
          <a:bodyPr wrap="square" lIns="0" tIns="0" rIns="0" bIns="0" rtlCol="0" anchor="t"/>
          <a:lstStyle/>
          <a:p>
            <a:pPr indent="0" marL="0">
              <a:lnSpc>
                <a:spcPct val="102000"/>
              </a:lnSpc>
              <a:buNone/>
            </a:pPr>
            <a:r>
              <a:rPr lang="en-US" sz="1200" dirty="0">
                <a:solidFill>
                  <a:srgbClr val="5B6B80"/>
                </a:solidFill>
                <a:latin typeface="Calibri" pitchFamily="34" charset="0"/>
                <a:ea typeface="Calibri" pitchFamily="34" charset="-122"/>
                <a:cs typeface="Calibri" pitchFamily="34" charset="-120"/>
              </a:rPr>
              <a:t>of developer time saved / pod / year (~310 hrs)</a:t>
            </a:r>
            <a:endParaRPr lang="en-US" sz="1200" dirty="0"/>
          </a:p>
        </p:txBody>
      </p:sp>
      <p:sp>
        <p:nvSpPr>
          <p:cNvPr id="26" name="Shape 24"/>
          <p:cNvSpPr/>
          <p:nvPr/>
        </p:nvSpPr>
        <p:spPr>
          <a:xfrm>
            <a:off x="8275320" y="3794760"/>
            <a:ext cx="3429000" cy="1417320"/>
          </a:xfrm>
          <a:prstGeom prst="roundRect">
            <a:avLst>
              <a:gd name="adj" fmla="val 5161"/>
            </a:avLst>
          </a:prstGeom>
          <a:solidFill>
            <a:srgbClr val="FFFFFF"/>
          </a:solidFill>
          <a:ln/>
          <a:effectLst>
            <a:outerShdw sx="100000" sy="100000" kx="0" ky="0" algn="bl" rotWithShape="0" blurRad="114300" dist="38100" dir="5400000">
              <a:srgbClr val="000000">
                <a:alpha val="18000"/>
              </a:srgbClr>
            </a:outerShdw>
          </a:effectLst>
        </p:spPr>
      </p:sp>
      <p:sp>
        <p:nvSpPr>
          <p:cNvPr id="27" name="Text 25"/>
          <p:cNvSpPr/>
          <p:nvPr/>
        </p:nvSpPr>
        <p:spPr>
          <a:xfrm>
            <a:off x="8549640" y="3995928"/>
            <a:ext cx="2880360" cy="548640"/>
          </a:xfrm>
          <a:prstGeom prst="rect">
            <a:avLst/>
          </a:prstGeom>
          <a:noFill/>
          <a:ln/>
        </p:spPr>
        <p:txBody>
          <a:bodyPr wrap="square" lIns="0" tIns="0" rIns="0" bIns="0" rtlCol="0" anchor="ctr"/>
          <a:lstStyle/>
          <a:p>
            <a:pPr indent="0" marL="0">
              <a:buNone/>
            </a:pPr>
            <a:r>
              <a:rPr lang="en-US" sz="3200" b="1" dirty="0">
                <a:solidFill>
                  <a:srgbClr val="1E2E45"/>
                </a:solidFill>
                <a:latin typeface="Century Schoolbook" pitchFamily="34" charset="0"/>
                <a:ea typeface="Century Schoolbook" pitchFamily="34" charset="-122"/>
                <a:cs typeface="Century Schoolbook" pitchFamily="34" charset="-120"/>
              </a:rPr>
              <a:t>20 sec</a:t>
            </a:r>
            <a:endParaRPr lang="en-US" sz="3200" dirty="0"/>
          </a:p>
        </p:txBody>
      </p:sp>
      <p:sp>
        <p:nvSpPr>
          <p:cNvPr id="28" name="Text 26"/>
          <p:cNvSpPr/>
          <p:nvPr/>
        </p:nvSpPr>
        <p:spPr>
          <a:xfrm>
            <a:off x="8549640" y="4617720"/>
            <a:ext cx="2926080" cy="502920"/>
          </a:xfrm>
          <a:prstGeom prst="rect">
            <a:avLst/>
          </a:prstGeom>
          <a:noFill/>
          <a:ln/>
        </p:spPr>
        <p:txBody>
          <a:bodyPr wrap="square" lIns="0" tIns="0" rIns="0" bIns="0" rtlCol="0" anchor="t"/>
          <a:lstStyle/>
          <a:p>
            <a:pPr indent="0" marL="0">
              <a:lnSpc>
                <a:spcPct val="102000"/>
              </a:lnSpc>
              <a:buNone/>
            </a:pPr>
            <a:r>
              <a:rPr lang="en-US" sz="1200" dirty="0">
                <a:solidFill>
                  <a:srgbClr val="5B6B80"/>
                </a:solidFill>
                <a:latin typeface="Calibri" pitchFamily="34" charset="0"/>
                <a:ea typeface="Calibri" pitchFamily="34" charset="-122"/>
                <a:cs typeface="Calibri" pitchFamily="34" charset="-120"/>
              </a:rPr>
              <a:t>to score a sprint vs. ~3 hrs of manual review</a:t>
            </a:r>
            <a:endParaRPr lang="en-US" sz="1200" dirty="0"/>
          </a:p>
        </p:txBody>
      </p:sp>
      <p:sp>
        <p:nvSpPr>
          <p:cNvPr id="29" name="Shape 27"/>
          <p:cNvSpPr/>
          <p:nvPr/>
        </p:nvSpPr>
        <p:spPr>
          <a:xfrm>
            <a:off x="548640" y="5440680"/>
            <a:ext cx="11064240" cy="868680"/>
          </a:xfrm>
          <a:prstGeom prst="roundRect">
            <a:avLst>
              <a:gd name="adj" fmla="val 8421"/>
            </a:avLst>
          </a:prstGeom>
          <a:solidFill>
            <a:srgbClr val="16B8A6"/>
          </a:solidFill>
          <a:ln/>
        </p:spPr>
      </p:sp>
      <p:sp>
        <p:nvSpPr>
          <p:cNvPr id="30" name="Text 28"/>
          <p:cNvSpPr/>
          <p:nvPr/>
        </p:nvSpPr>
        <p:spPr>
          <a:xfrm>
            <a:off x="868680" y="5440680"/>
            <a:ext cx="10424160" cy="868680"/>
          </a:xfrm>
          <a:prstGeom prst="rect">
            <a:avLst/>
          </a:prstGeom>
          <a:noFill/>
          <a:ln/>
        </p:spPr>
        <p:txBody>
          <a:bodyPr wrap="square" lIns="0" tIns="0" rIns="0" bIns="0" rtlCol="0" anchor="ctr"/>
          <a:lstStyle/>
          <a:p>
            <a:pPr indent="0" marL="0">
              <a:lnSpc>
                <a:spcPct val="105000"/>
              </a:lnSpc>
              <a:buNone/>
            </a:pPr>
            <a:r>
              <a:rPr lang="en-US" sz="1900" b="1" dirty="0">
                <a:solidFill>
                  <a:srgbClr val="0E1A2B"/>
                </a:solidFill>
                <a:latin typeface="Century Schoolbook" pitchFamily="34" charset="0"/>
                <a:ea typeface="Century Schoolbook" pitchFamily="34" charset="-122"/>
                <a:cs typeface="Century Schoolbook" pitchFamily="34" charset="-120"/>
              </a:rPr>
              <a:t>≈ $31K / pod / year</a:t>
            </a:r>
            <a:pPr indent="0" marL="0">
              <a:lnSpc>
                <a:spcPct val="105000"/>
              </a:lnSpc>
              <a:buNone/>
            </a:pPr>
            <a:r>
              <a:rPr lang="en-US" sz="1350" dirty="0">
                <a:solidFill>
                  <a:srgbClr val="0E1A2B"/>
                </a:solidFill>
                <a:latin typeface="Calibri" pitchFamily="34" charset="0"/>
                <a:ea typeface="Calibri" pitchFamily="34" charset="-122"/>
                <a:cs typeface="Calibri" pitchFamily="34" charset="-120"/>
              </a:rPr>
              <a:t>  in avoided rework — multiply by your pod count.    Leading indicator: ≥ 80% of flagged gaps acted on = the agent is trusted.</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Four artefacts for every story — a scoreable output contract</a:t>
            </a:r>
            <a:endParaRPr lang="en-US" sz="3000" dirty="0"/>
          </a:p>
        </p:txBody>
      </p:sp>
      <p:sp>
        <p:nvSpPr>
          <p:cNvPr id="4" name="Text 2"/>
          <p:cNvSpPr/>
          <p:nvPr/>
        </p:nvSpPr>
        <p:spPr>
          <a:xfrm>
            <a:off x="548640" y="1600200"/>
            <a:ext cx="11064240" cy="548640"/>
          </a:xfrm>
          <a:prstGeom prst="rect">
            <a:avLst/>
          </a:prstGeom>
          <a:noFill/>
          <a:ln/>
        </p:spPr>
        <p:txBody>
          <a:bodyPr wrap="square" lIns="0" tIns="0" rIns="0" bIns="0" rtlCol="0" anchor="ctr"/>
          <a:lstStyle/>
          <a:p>
            <a:pPr indent="0" marL="0">
              <a:lnSpc>
                <a:spcPct val="110000"/>
              </a:lnSpc>
              <a:buNone/>
            </a:pPr>
            <a:r>
              <a:rPr lang="en-US" sz="1450" dirty="0">
                <a:solidFill>
                  <a:srgbClr val="5B6B80"/>
                </a:solidFill>
                <a:latin typeface="Calibri" pitchFamily="34" charset="0"/>
                <a:ea typeface="Calibri" pitchFamily="34" charset="-122"/>
                <a:cs typeface="Calibri" pitchFamily="34" charset="-120"/>
              </a:rPr>
              <a:t>The agent reads a story before iteration planning and returns a structured verdict. This contract is what makes it demo-able and scoreable — not a soft “it flags vague stories.”</a:t>
            </a:r>
            <a:endParaRPr lang="en-US" sz="1450" dirty="0"/>
          </a:p>
        </p:txBody>
      </p:sp>
      <p:sp>
        <p:nvSpPr>
          <p:cNvPr id="5" name="Shape 3"/>
          <p:cNvSpPr/>
          <p:nvPr/>
        </p:nvSpPr>
        <p:spPr>
          <a:xfrm>
            <a:off x="548640" y="2331720"/>
            <a:ext cx="5349240" cy="1737360"/>
          </a:xfrm>
          <a:prstGeom prst="roundRect">
            <a:avLst>
              <a:gd name="adj" fmla="val 3684"/>
            </a:avLst>
          </a:prstGeom>
          <a:solidFill>
            <a:srgbClr val="FFFFFF"/>
          </a:solidFill>
          <a:ln/>
          <a:effectLst>
            <a:outerShdw sx="100000" sy="100000" kx="0" ky="0" algn="bl" rotWithShape="0" blurRad="114300" dist="38100" dir="5400000">
              <a:srgbClr val="000000">
                <a:alpha val="18000"/>
              </a:srgbClr>
            </a:outerShdw>
          </a:effectLst>
        </p:spPr>
      </p:sp>
      <p:sp>
        <p:nvSpPr>
          <p:cNvPr id="6" name="Shape 4"/>
          <p:cNvSpPr/>
          <p:nvPr/>
        </p:nvSpPr>
        <p:spPr>
          <a:xfrm>
            <a:off x="841248" y="2679192"/>
            <a:ext cx="777240" cy="777240"/>
          </a:xfrm>
          <a:prstGeom prst="ellipse">
            <a:avLst/>
          </a:prstGeom>
          <a:solidFill>
            <a:srgbClr val="E7F8F5"/>
          </a:solidFill>
          <a:ln/>
        </p:spPr>
      </p:sp>
      <p:pic>
        <p:nvPicPr>
          <p:cNvPr id="7" name="Image 0" descr="preencoded.png">    </p:cNvPr>
          <p:cNvPicPr>
            <a:picLocks noChangeAspect="1"/>
          </p:cNvPicPr>
          <p:nvPr/>
        </p:nvPicPr>
        <p:blipFill>
          <a:blip r:embed="rId1"/>
          <a:stretch>
            <a:fillRect/>
          </a:stretch>
        </p:blipFill>
        <p:spPr>
          <a:xfrm>
            <a:off x="1024128" y="2862072"/>
            <a:ext cx="411480" cy="411480"/>
          </a:xfrm>
          <a:prstGeom prst="rect">
            <a:avLst/>
          </a:prstGeom>
        </p:spPr>
      </p:pic>
      <p:sp>
        <p:nvSpPr>
          <p:cNvPr id="8" name="Text 5"/>
          <p:cNvSpPr/>
          <p:nvPr/>
        </p:nvSpPr>
        <p:spPr>
          <a:xfrm>
            <a:off x="822960" y="2532888"/>
            <a:ext cx="822960" cy="274320"/>
          </a:xfrm>
          <a:prstGeom prst="rect">
            <a:avLst/>
          </a:prstGeom>
          <a:noFill/>
          <a:ln/>
        </p:spPr>
        <p:txBody>
          <a:bodyPr wrap="square" lIns="0" tIns="0" rIns="0" bIns="0" rtlCol="0" anchor="ctr"/>
          <a:lstStyle/>
          <a:p>
            <a:pPr algn="ctr" indent="0" marL="0">
              <a:buNone/>
            </a:pPr>
            <a:r>
              <a:rPr lang="en-US" sz="1200" b="1" dirty="0">
                <a:solidFill>
                  <a:srgbClr val="5EEAD4"/>
                </a:solidFill>
                <a:latin typeface="Calibri" pitchFamily="34" charset="0"/>
                <a:ea typeface="Calibri" pitchFamily="34" charset="-122"/>
                <a:cs typeface="Calibri" pitchFamily="34" charset="-120"/>
              </a:rPr>
              <a:t>01</a:t>
            </a:r>
            <a:endParaRPr lang="en-US" sz="1200" dirty="0"/>
          </a:p>
        </p:txBody>
      </p:sp>
      <p:sp>
        <p:nvSpPr>
          <p:cNvPr id="9" name="Text 6"/>
          <p:cNvSpPr/>
          <p:nvPr/>
        </p:nvSpPr>
        <p:spPr>
          <a:xfrm>
            <a:off x="1783080" y="2606040"/>
            <a:ext cx="3886200" cy="457200"/>
          </a:xfrm>
          <a:prstGeom prst="rect">
            <a:avLst/>
          </a:prstGeom>
          <a:noFill/>
          <a:ln/>
        </p:spPr>
        <p:txBody>
          <a:bodyPr wrap="square" lIns="0" tIns="0" rIns="0" bIns="0" rtlCol="0" anchor="ctr"/>
          <a:lstStyle/>
          <a:p>
            <a:pPr indent="0" marL="0">
              <a:buNone/>
            </a:pPr>
            <a:r>
              <a:rPr lang="en-US" sz="1800" b="1" dirty="0">
                <a:solidFill>
                  <a:srgbClr val="1E2E45"/>
                </a:solidFill>
                <a:latin typeface="Calibri" pitchFamily="34" charset="0"/>
                <a:ea typeface="Calibri" pitchFamily="34" charset="-122"/>
                <a:cs typeface="Calibri" pitchFamily="34" charset="-120"/>
              </a:rPr>
              <a:t>Readiness Score</a:t>
            </a:r>
            <a:endParaRPr lang="en-US" sz="1800" dirty="0"/>
          </a:p>
        </p:txBody>
      </p:sp>
      <p:sp>
        <p:nvSpPr>
          <p:cNvPr id="10" name="Text 7"/>
          <p:cNvSpPr/>
          <p:nvPr/>
        </p:nvSpPr>
        <p:spPr>
          <a:xfrm>
            <a:off x="1783080" y="3081528"/>
            <a:ext cx="3886200" cy="868680"/>
          </a:xfrm>
          <a:prstGeom prst="rect">
            <a:avLst/>
          </a:prstGeom>
          <a:noFill/>
          <a:ln/>
        </p:spPr>
        <p:txBody>
          <a:bodyPr wrap="square" lIns="0" tIns="0" rIns="0" bIns="0" rtlCol="0" anchor="t"/>
          <a:lstStyle/>
          <a:p>
            <a:pPr indent="0" marL="0">
              <a:lnSpc>
                <a:spcPct val="108000"/>
              </a:lnSpc>
              <a:buNone/>
            </a:pPr>
            <a:r>
              <a:rPr lang="en-US" sz="1250" dirty="0">
                <a:solidFill>
                  <a:srgbClr val="5B6B80"/>
                </a:solidFill>
                <a:latin typeface="Calibri" pitchFamily="34" charset="0"/>
                <a:ea typeface="Calibri" pitchFamily="34" charset="-122"/>
                <a:cs typeface="Calibri" pitchFamily="34" charset="-120"/>
              </a:rPr>
              <a:t>A RAG rating (0–100) so the PO can sort the backlog by risk and triage the worst stories first.</a:t>
            </a:r>
            <a:endParaRPr lang="en-US" sz="1250" dirty="0"/>
          </a:p>
        </p:txBody>
      </p:sp>
      <p:sp>
        <p:nvSpPr>
          <p:cNvPr id="11" name="Shape 8"/>
          <p:cNvSpPr/>
          <p:nvPr/>
        </p:nvSpPr>
        <p:spPr>
          <a:xfrm>
            <a:off x="6263640" y="2331720"/>
            <a:ext cx="5349240" cy="1737360"/>
          </a:xfrm>
          <a:prstGeom prst="roundRect">
            <a:avLst>
              <a:gd name="adj" fmla="val 3684"/>
            </a:avLst>
          </a:prstGeom>
          <a:solidFill>
            <a:srgbClr val="FFFFFF"/>
          </a:solidFill>
          <a:ln/>
          <a:effectLst>
            <a:outerShdw sx="100000" sy="100000" kx="0" ky="0" algn="bl" rotWithShape="0" blurRad="114300" dist="38100" dir="5400000">
              <a:srgbClr val="000000">
                <a:alpha val="18000"/>
              </a:srgbClr>
            </a:outerShdw>
          </a:effectLst>
        </p:spPr>
      </p:sp>
      <p:sp>
        <p:nvSpPr>
          <p:cNvPr id="12" name="Shape 9"/>
          <p:cNvSpPr/>
          <p:nvPr/>
        </p:nvSpPr>
        <p:spPr>
          <a:xfrm>
            <a:off x="6556248" y="2679192"/>
            <a:ext cx="777240" cy="777240"/>
          </a:xfrm>
          <a:prstGeom prst="ellipse">
            <a:avLst/>
          </a:prstGeom>
          <a:solidFill>
            <a:srgbClr val="E7F8F5"/>
          </a:solidFill>
          <a:ln/>
        </p:spPr>
      </p:sp>
      <p:pic>
        <p:nvPicPr>
          <p:cNvPr id="13" name="Image 1" descr="preencoded.png">    </p:cNvPr>
          <p:cNvPicPr>
            <a:picLocks noChangeAspect="1"/>
          </p:cNvPicPr>
          <p:nvPr/>
        </p:nvPicPr>
        <p:blipFill>
          <a:blip r:embed="rId2"/>
          <a:stretch>
            <a:fillRect/>
          </a:stretch>
        </p:blipFill>
        <p:spPr>
          <a:xfrm>
            <a:off x="6739128" y="2862072"/>
            <a:ext cx="411480" cy="411480"/>
          </a:xfrm>
          <a:prstGeom prst="rect">
            <a:avLst/>
          </a:prstGeom>
        </p:spPr>
      </p:pic>
      <p:sp>
        <p:nvSpPr>
          <p:cNvPr id="14" name="Text 10"/>
          <p:cNvSpPr/>
          <p:nvPr/>
        </p:nvSpPr>
        <p:spPr>
          <a:xfrm>
            <a:off x="6537960" y="2532888"/>
            <a:ext cx="822960" cy="274320"/>
          </a:xfrm>
          <a:prstGeom prst="rect">
            <a:avLst/>
          </a:prstGeom>
          <a:noFill/>
          <a:ln/>
        </p:spPr>
        <p:txBody>
          <a:bodyPr wrap="square" lIns="0" tIns="0" rIns="0" bIns="0" rtlCol="0" anchor="ctr"/>
          <a:lstStyle/>
          <a:p>
            <a:pPr algn="ctr" indent="0" marL="0">
              <a:buNone/>
            </a:pPr>
            <a:r>
              <a:rPr lang="en-US" sz="1200" b="1" dirty="0">
                <a:solidFill>
                  <a:srgbClr val="5EEAD4"/>
                </a:solidFill>
                <a:latin typeface="Calibri" pitchFamily="34" charset="0"/>
                <a:ea typeface="Calibri" pitchFamily="34" charset="-122"/>
                <a:cs typeface="Calibri" pitchFamily="34" charset="-120"/>
              </a:rPr>
              <a:t>02</a:t>
            </a:r>
            <a:endParaRPr lang="en-US" sz="1200" dirty="0"/>
          </a:p>
        </p:txBody>
      </p:sp>
      <p:sp>
        <p:nvSpPr>
          <p:cNvPr id="15" name="Text 11"/>
          <p:cNvSpPr/>
          <p:nvPr/>
        </p:nvSpPr>
        <p:spPr>
          <a:xfrm>
            <a:off x="7498080" y="2606040"/>
            <a:ext cx="3886200" cy="457200"/>
          </a:xfrm>
          <a:prstGeom prst="rect">
            <a:avLst/>
          </a:prstGeom>
          <a:noFill/>
          <a:ln/>
        </p:spPr>
        <p:txBody>
          <a:bodyPr wrap="square" lIns="0" tIns="0" rIns="0" bIns="0" rtlCol="0" anchor="ctr"/>
          <a:lstStyle/>
          <a:p>
            <a:pPr indent="0" marL="0">
              <a:buNone/>
            </a:pPr>
            <a:r>
              <a:rPr lang="en-US" sz="1800" b="1" dirty="0">
                <a:solidFill>
                  <a:srgbClr val="1E2E45"/>
                </a:solidFill>
                <a:latin typeface="Calibri" pitchFamily="34" charset="0"/>
                <a:ea typeface="Calibri" pitchFamily="34" charset="-122"/>
                <a:cs typeface="Calibri" pitchFamily="34" charset="-120"/>
              </a:rPr>
              <a:t>Gap List</a:t>
            </a:r>
            <a:endParaRPr lang="en-US" sz="1800" dirty="0"/>
          </a:p>
        </p:txBody>
      </p:sp>
      <p:sp>
        <p:nvSpPr>
          <p:cNvPr id="16" name="Text 12"/>
          <p:cNvSpPr/>
          <p:nvPr/>
        </p:nvSpPr>
        <p:spPr>
          <a:xfrm>
            <a:off x="7498080" y="3081528"/>
            <a:ext cx="3886200" cy="868680"/>
          </a:xfrm>
          <a:prstGeom prst="rect">
            <a:avLst/>
          </a:prstGeom>
          <a:noFill/>
          <a:ln/>
        </p:spPr>
        <p:txBody>
          <a:bodyPr wrap="square" lIns="0" tIns="0" rIns="0" bIns="0" rtlCol="0" anchor="t"/>
          <a:lstStyle/>
          <a:p>
            <a:pPr indent="0" marL="0">
              <a:lnSpc>
                <a:spcPct val="108000"/>
              </a:lnSpc>
              <a:buNone/>
            </a:pPr>
            <a:r>
              <a:rPr lang="en-US" sz="1250" dirty="0">
                <a:solidFill>
                  <a:srgbClr val="5B6B80"/>
                </a:solidFill>
                <a:latin typeface="Calibri" pitchFamily="34" charset="0"/>
                <a:ea typeface="Calibri" pitchFamily="34" charset="-122"/>
                <a:cs typeface="Calibri" pitchFamily="34" charset="-120"/>
              </a:rPr>
              <a:t>Specific, not generic: “no behaviour for empty-form submit; no validation on the email field; failure path missing.”</a:t>
            </a:r>
            <a:endParaRPr lang="en-US" sz="1250" dirty="0"/>
          </a:p>
        </p:txBody>
      </p:sp>
      <p:sp>
        <p:nvSpPr>
          <p:cNvPr id="17" name="Shape 13"/>
          <p:cNvSpPr/>
          <p:nvPr/>
        </p:nvSpPr>
        <p:spPr>
          <a:xfrm>
            <a:off x="548640" y="4389120"/>
            <a:ext cx="5349240" cy="1737360"/>
          </a:xfrm>
          <a:prstGeom prst="roundRect">
            <a:avLst>
              <a:gd name="adj" fmla="val 3684"/>
            </a:avLst>
          </a:prstGeom>
          <a:solidFill>
            <a:srgbClr val="FFFFFF"/>
          </a:solidFill>
          <a:ln/>
          <a:effectLst>
            <a:outerShdw sx="100000" sy="100000" kx="0" ky="0" algn="bl" rotWithShape="0" blurRad="114300" dist="38100" dir="5400000">
              <a:srgbClr val="000000">
                <a:alpha val="18000"/>
              </a:srgbClr>
            </a:outerShdw>
          </a:effectLst>
        </p:spPr>
      </p:sp>
      <p:sp>
        <p:nvSpPr>
          <p:cNvPr id="18" name="Shape 14"/>
          <p:cNvSpPr/>
          <p:nvPr/>
        </p:nvSpPr>
        <p:spPr>
          <a:xfrm>
            <a:off x="841248" y="4736592"/>
            <a:ext cx="777240" cy="777240"/>
          </a:xfrm>
          <a:prstGeom prst="ellipse">
            <a:avLst/>
          </a:prstGeom>
          <a:solidFill>
            <a:srgbClr val="E7F8F5"/>
          </a:solidFill>
          <a:ln/>
        </p:spPr>
      </p:sp>
      <p:pic>
        <p:nvPicPr>
          <p:cNvPr id="19" name="Image 2" descr="preencoded.png">    </p:cNvPr>
          <p:cNvPicPr>
            <a:picLocks noChangeAspect="1"/>
          </p:cNvPicPr>
          <p:nvPr/>
        </p:nvPicPr>
        <p:blipFill>
          <a:blip r:embed="rId3"/>
          <a:stretch>
            <a:fillRect/>
          </a:stretch>
        </p:blipFill>
        <p:spPr>
          <a:xfrm>
            <a:off x="1024128" y="4919472"/>
            <a:ext cx="411480" cy="411480"/>
          </a:xfrm>
          <a:prstGeom prst="rect">
            <a:avLst/>
          </a:prstGeom>
        </p:spPr>
      </p:pic>
      <p:sp>
        <p:nvSpPr>
          <p:cNvPr id="20" name="Text 15"/>
          <p:cNvSpPr/>
          <p:nvPr/>
        </p:nvSpPr>
        <p:spPr>
          <a:xfrm>
            <a:off x="822960" y="4590288"/>
            <a:ext cx="822960" cy="274320"/>
          </a:xfrm>
          <a:prstGeom prst="rect">
            <a:avLst/>
          </a:prstGeom>
          <a:noFill/>
          <a:ln/>
        </p:spPr>
        <p:txBody>
          <a:bodyPr wrap="square" lIns="0" tIns="0" rIns="0" bIns="0" rtlCol="0" anchor="ctr"/>
          <a:lstStyle/>
          <a:p>
            <a:pPr algn="ctr" indent="0" marL="0">
              <a:buNone/>
            </a:pPr>
            <a:r>
              <a:rPr lang="en-US" sz="1200" b="1" dirty="0">
                <a:solidFill>
                  <a:srgbClr val="5EEAD4"/>
                </a:solidFill>
                <a:latin typeface="Calibri" pitchFamily="34" charset="0"/>
                <a:ea typeface="Calibri" pitchFamily="34" charset="-122"/>
                <a:cs typeface="Calibri" pitchFamily="34" charset="-120"/>
              </a:rPr>
              <a:t>03</a:t>
            </a:r>
            <a:endParaRPr lang="en-US" sz="1200" dirty="0"/>
          </a:p>
        </p:txBody>
      </p:sp>
      <p:sp>
        <p:nvSpPr>
          <p:cNvPr id="21" name="Text 16"/>
          <p:cNvSpPr/>
          <p:nvPr/>
        </p:nvSpPr>
        <p:spPr>
          <a:xfrm>
            <a:off x="1783080" y="4663440"/>
            <a:ext cx="3886200" cy="457200"/>
          </a:xfrm>
          <a:prstGeom prst="rect">
            <a:avLst/>
          </a:prstGeom>
          <a:noFill/>
          <a:ln/>
        </p:spPr>
        <p:txBody>
          <a:bodyPr wrap="square" lIns="0" tIns="0" rIns="0" bIns="0" rtlCol="0" anchor="ctr"/>
          <a:lstStyle/>
          <a:p>
            <a:pPr indent="0" marL="0">
              <a:buNone/>
            </a:pPr>
            <a:r>
              <a:rPr lang="en-US" sz="1800" b="1" dirty="0">
                <a:solidFill>
                  <a:srgbClr val="1E2E45"/>
                </a:solidFill>
                <a:latin typeface="Calibri" pitchFamily="34" charset="0"/>
                <a:ea typeface="Calibri" pitchFamily="34" charset="-122"/>
                <a:cs typeface="Calibri" pitchFamily="34" charset="-120"/>
              </a:rPr>
              <a:t>Clarifying Questions</a:t>
            </a:r>
            <a:endParaRPr lang="en-US" sz="1800" dirty="0"/>
          </a:p>
        </p:txBody>
      </p:sp>
      <p:sp>
        <p:nvSpPr>
          <p:cNvPr id="22" name="Text 17"/>
          <p:cNvSpPr/>
          <p:nvPr/>
        </p:nvSpPr>
        <p:spPr>
          <a:xfrm>
            <a:off x="1783080" y="5138928"/>
            <a:ext cx="3886200" cy="868680"/>
          </a:xfrm>
          <a:prstGeom prst="rect">
            <a:avLst/>
          </a:prstGeom>
          <a:noFill/>
          <a:ln/>
        </p:spPr>
        <p:txBody>
          <a:bodyPr wrap="square" lIns="0" tIns="0" rIns="0" bIns="0" rtlCol="0" anchor="t"/>
          <a:lstStyle/>
          <a:p>
            <a:pPr indent="0" marL="0">
              <a:lnSpc>
                <a:spcPct val="108000"/>
              </a:lnSpc>
              <a:buNone/>
            </a:pPr>
            <a:r>
              <a:rPr lang="en-US" sz="1250" dirty="0">
                <a:solidFill>
                  <a:srgbClr val="5B6B80"/>
                </a:solidFill>
                <a:latin typeface="Calibri" pitchFamily="34" charset="0"/>
                <a:ea typeface="Calibri" pitchFamily="34" charset="-122"/>
                <a:cs typeface="Calibri" pitchFamily="34" charset="-120"/>
              </a:rPr>
              <a:t>The exact questions to put to the BA/PO — pre-written, ready to take straight into refinement.</a:t>
            </a:r>
            <a:endParaRPr lang="en-US" sz="1250" dirty="0"/>
          </a:p>
        </p:txBody>
      </p:sp>
      <p:sp>
        <p:nvSpPr>
          <p:cNvPr id="23" name="Shape 18"/>
          <p:cNvSpPr/>
          <p:nvPr/>
        </p:nvSpPr>
        <p:spPr>
          <a:xfrm>
            <a:off x="6263640" y="4389120"/>
            <a:ext cx="5349240" cy="1737360"/>
          </a:xfrm>
          <a:prstGeom prst="roundRect">
            <a:avLst>
              <a:gd name="adj" fmla="val 3684"/>
            </a:avLst>
          </a:prstGeom>
          <a:solidFill>
            <a:srgbClr val="FFFFFF"/>
          </a:solidFill>
          <a:ln/>
          <a:effectLst>
            <a:outerShdw sx="100000" sy="100000" kx="0" ky="0" algn="bl" rotWithShape="0" blurRad="114300" dist="38100" dir="5400000">
              <a:srgbClr val="000000">
                <a:alpha val="18000"/>
              </a:srgbClr>
            </a:outerShdw>
          </a:effectLst>
        </p:spPr>
      </p:sp>
      <p:sp>
        <p:nvSpPr>
          <p:cNvPr id="24" name="Shape 19"/>
          <p:cNvSpPr/>
          <p:nvPr/>
        </p:nvSpPr>
        <p:spPr>
          <a:xfrm>
            <a:off x="6556248" y="4736592"/>
            <a:ext cx="777240" cy="777240"/>
          </a:xfrm>
          <a:prstGeom prst="ellipse">
            <a:avLst/>
          </a:prstGeom>
          <a:solidFill>
            <a:srgbClr val="E7F8F5"/>
          </a:solidFill>
          <a:ln/>
        </p:spPr>
      </p:sp>
      <p:pic>
        <p:nvPicPr>
          <p:cNvPr id="25" name="Image 3" descr="preencoded.png">    </p:cNvPr>
          <p:cNvPicPr>
            <a:picLocks noChangeAspect="1"/>
          </p:cNvPicPr>
          <p:nvPr/>
        </p:nvPicPr>
        <p:blipFill>
          <a:blip r:embed="rId4"/>
          <a:stretch>
            <a:fillRect/>
          </a:stretch>
        </p:blipFill>
        <p:spPr>
          <a:xfrm>
            <a:off x="6739128" y="4919472"/>
            <a:ext cx="411480" cy="411480"/>
          </a:xfrm>
          <a:prstGeom prst="rect">
            <a:avLst/>
          </a:prstGeom>
        </p:spPr>
      </p:pic>
      <p:sp>
        <p:nvSpPr>
          <p:cNvPr id="26" name="Text 20"/>
          <p:cNvSpPr/>
          <p:nvPr/>
        </p:nvSpPr>
        <p:spPr>
          <a:xfrm>
            <a:off x="6537960" y="4590288"/>
            <a:ext cx="822960" cy="274320"/>
          </a:xfrm>
          <a:prstGeom prst="rect">
            <a:avLst/>
          </a:prstGeom>
          <a:noFill/>
          <a:ln/>
        </p:spPr>
        <p:txBody>
          <a:bodyPr wrap="square" lIns="0" tIns="0" rIns="0" bIns="0" rtlCol="0" anchor="ctr"/>
          <a:lstStyle/>
          <a:p>
            <a:pPr algn="ctr" indent="0" marL="0">
              <a:buNone/>
            </a:pPr>
            <a:r>
              <a:rPr lang="en-US" sz="1200" b="1" dirty="0">
                <a:solidFill>
                  <a:srgbClr val="5EEAD4"/>
                </a:solidFill>
                <a:latin typeface="Calibri" pitchFamily="34" charset="0"/>
                <a:ea typeface="Calibri" pitchFamily="34" charset="-122"/>
                <a:cs typeface="Calibri" pitchFamily="34" charset="-120"/>
              </a:rPr>
              <a:t>04</a:t>
            </a:r>
            <a:endParaRPr lang="en-US" sz="1200" dirty="0"/>
          </a:p>
        </p:txBody>
      </p:sp>
      <p:sp>
        <p:nvSpPr>
          <p:cNvPr id="27" name="Text 21"/>
          <p:cNvSpPr/>
          <p:nvPr/>
        </p:nvSpPr>
        <p:spPr>
          <a:xfrm>
            <a:off x="7498080" y="4663440"/>
            <a:ext cx="3886200" cy="457200"/>
          </a:xfrm>
          <a:prstGeom prst="rect">
            <a:avLst/>
          </a:prstGeom>
          <a:noFill/>
          <a:ln/>
        </p:spPr>
        <p:txBody>
          <a:bodyPr wrap="square" lIns="0" tIns="0" rIns="0" bIns="0" rtlCol="0" anchor="ctr"/>
          <a:lstStyle/>
          <a:p>
            <a:pPr indent="0" marL="0">
              <a:buNone/>
            </a:pPr>
            <a:r>
              <a:rPr lang="en-US" sz="1800" b="1" dirty="0">
                <a:solidFill>
                  <a:srgbClr val="1E2E45"/>
                </a:solidFill>
                <a:latin typeface="Calibri" pitchFamily="34" charset="0"/>
                <a:ea typeface="Calibri" pitchFamily="34" charset="-122"/>
                <a:cs typeface="Calibri" pitchFamily="34" charset="-120"/>
              </a:rPr>
              <a:t>Draft Acceptance Criteria</a:t>
            </a:r>
            <a:endParaRPr lang="en-US" sz="1800" dirty="0"/>
          </a:p>
        </p:txBody>
      </p:sp>
      <p:sp>
        <p:nvSpPr>
          <p:cNvPr id="28" name="Text 22"/>
          <p:cNvSpPr/>
          <p:nvPr/>
        </p:nvSpPr>
        <p:spPr>
          <a:xfrm>
            <a:off x="7498080" y="5138928"/>
            <a:ext cx="3886200" cy="868680"/>
          </a:xfrm>
          <a:prstGeom prst="rect">
            <a:avLst/>
          </a:prstGeom>
          <a:noFill/>
          <a:ln/>
        </p:spPr>
        <p:txBody>
          <a:bodyPr wrap="square" lIns="0" tIns="0" rIns="0" bIns="0" rtlCol="0" anchor="t"/>
          <a:lstStyle/>
          <a:p>
            <a:pPr indent="0" marL="0">
              <a:lnSpc>
                <a:spcPct val="108000"/>
              </a:lnSpc>
              <a:buNone/>
            </a:pPr>
            <a:r>
              <a:rPr lang="en-US" sz="1250" dirty="0">
                <a:solidFill>
                  <a:srgbClr val="5B6B80"/>
                </a:solidFill>
                <a:latin typeface="Calibri" pitchFamily="34" charset="0"/>
                <a:ea typeface="Calibri" pitchFamily="34" charset="-122"/>
                <a:cs typeface="Calibri" pitchFamily="34" charset="-120"/>
              </a:rPr>
              <a:t>Proposed Given-When-Then the human edits and confirms. This turns the agent from a nag into an accelerator.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INTELLECTUAL PROPERTY · 1 OF 3</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The Readiness Rubric — eight dimensions, each a checklist</a:t>
            </a:r>
            <a:endParaRPr lang="en-US" sz="3000" dirty="0"/>
          </a:p>
        </p:txBody>
      </p:sp>
      <p:sp>
        <p:nvSpPr>
          <p:cNvPr id="4" name="Text 2"/>
          <p:cNvSpPr/>
          <p:nvPr/>
        </p:nvSpPr>
        <p:spPr>
          <a:xfrm>
            <a:off x="548640" y="1572768"/>
            <a:ext cx="11064240" cy="502920"/>
          </a:xfrm>
          <a:prstGeom prst="rect">
            <a:avLst/>
          </a:prstGeom>
          <a:noFill/>
          <a:ln/>
        </p:spPr>
        <p:txBody>
          <a:bodyPr wrap="square" lIns="0" tIns="0" rIns="0" bIns="0" rtlCol="0" anchor="ctr"/>
          <a:lstStyle/>
          <a:p>
            <a:pPr indent="0" marL="0">
              <a:lnSpc>
                <a:spcPct val="105000"/>
              </a:lnSpc>
              <a:buNone/>
            </a:pPr>
            <a:r>
              <a:rPr lang="en-US" sz="1350" i="1" dirty="0">
                <a:solidFill>
                  <a:srgbClr val="5B6B80"/>
                </a:solidFill>
                <a:latin typeface="Calibri" pitchFamily="34" charset="0"/>
                <a:ea typeface="Calibri" pitchFamily="34" charset="-122"/>
                <a:cs typeface="Calibri" pitchFamily="34" charset="-120"/>
              </a:rPr>
              <a:t>Not eight headings — eight checklists. Each dimension expands into concrete sub-checks the agent must find evidence for. The weight reflects how often ambiguous stories fail there.</a:t>
            </a:r>
            <a:endParaRPr lang="en-US" sz="1350" dirty="0"/>
          </a:p>
        </p:txBody>
      </p:sp>
      <p:sp>
        <p:nvSpPr>
          <p:cNvPr id="5" name="Shape 3"/>
          <p:cNvSpPr/>
          <p:nvPr/>
        </p:nvSpPr>
        <p:spPr>
          <a:xfrm>
            <a:off x="548640" y="2194560"/>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6" name="Text 4"/>
          <p:cNvSpPr/>
          <p:nvPr/>
        </p:nvSpPr>
        <p:spPr>
          <a:xfrm>
            <a:off x="822960" y="2322576"/>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Testable ACs</a:t>
            </a:r>
            <a:endParaRPr lang="en-US" sz="1400" dirty="0"/>
          </a:p>
        </p:txBody>
      </p:sp>
      <p:sp>
        <p:nvSpPr>
          <p:cNvPr id="7" name="Shape 5"/>
          <p:cNvSpPr/>
          <p:nvPr/>
        </p:nvSpPr>
        <p:spPr>
          <a:xfrm>
            <a:off x="4983480" y="2331720"/>
            <a:ext cx="713232" cy="292608"/>
          </a:xfrm>
          <a:prstGeom prst="roundRect">
            <a:avLst>
              <a:gd name="adj" fmla="val 15625"/>
            </a:avLst>
          </a:prstGeom>
          <a:solidFill>
            <a:srgbClr val="E7F8F5"/>
          </a:solidFill>
          <a:ln/>
        </p:spPr>
      </p:sp>
      <p:sp>
        <p:nvSpPr>
          <p:cNvPr id="8" name="Text 6"/>
          <p:cNvSpPr/>
          <p:nvPr/>
        </p:nvSpPr>
        <p:spPr>
          <a:xfrm>
            <a:off x="4983480" y="2331720"/>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20%</a:t>
            </a:r>
            <a:endParaRPr lang="en-US" sz="1200" dirty="0"/>
          </a:p>
        </p:txBody>
      </p:sp>
      <p:sp>
        <p:nvSpPr>
          <p:cNvPr id="9" name="Text 7"/>
          <p:cNvSpPr/>
          <p:nvPr/>
        </p:nvSpPr>
        <p:spPr>
          <a:xfrm>
            <a:off x="822960" y="2651760"/>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ACs present · each independently verifiable · success + ≥1 failure path · no ambiguous adjectives</a:t>
            </a:r>
            <a:endParaRPr lang="en-US" sz="1070" dirty="0"/>
          </a:p>
        </p:txBody>
      </p:sp>
      <p:sp>
        <p:nvSpPr>
          <p:cNvPr id="10" name="Shape 8"/>
          <p:cNvSpPr/>
          <p:nvPr/>
        </p:nvSpPr>
        <p:spPr>
          <a:xfrm>
            <a:off x="6217920" y="2194560"/>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11" name="Text 9"/>
          <p:cNvSpPr/>
          <p:nvPr/>
        </p:nvSpPr>
        <p:spPr>
          <a:xfrm>
            <a:off x="6492240" y="2322576"/>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Edge cases</a:t>
            </a:r>
            <a:endParaRPr lang="en-US" sz="1400" dirty="0"/>
          </a:p>
        </p:txBody>
      </p:sp>
      <p:sp>
        <p:nvSpPr>
          <p:cNvPr id="12" name="Shape 10"/>
          <p:cNvSpPr/>
          <p:nvPr/>
        </p:nvSpPr>
        <p:spPr>
          <a:xfrm>
            <a:off x="10652760" y="2331720"/>
            <a:ext cx="713232" cy="292608"/>
          </a:xfrm>
          <a:prstGeom prst="roundRect">
            <a:avLst>
              <a:gd name="adj" fmla="val 15625"/>
            </a:avLst>
          </a:prstGeom>
          <a:solidFill>
            <a:srgbClr val="E7F8F5"/>
          </a:solidFill>
          <a:ln/>
        </p:spPr>
      </p:sp>
      <p:sp>
        <p:nvSpPr>
          <p:cNvPr id="13" name="Text 11"/>
          <p:cNvSpPr/>
          <p:nvPr/>
        </p:nvSpPr>
        <p:spPr>
          <a:xfrm>
            <a:off x="10652760" y="2331720"/>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15%</a:t>
            </a:r>
            <a:endParaRPr lang="en-US" sz="1200" dirty="0"/>
          </a:p>
        </p:txBody>
      </p:sp>
      <p:sp>
        <p:nvSpPr>
          <p:cNvPr id="14" name="Text 12"/>
          <p:cNvSpPr/>
          <p:nvPr/>
        </p:nvSpPr>
        <p:spPr>
          <a:xfrm>
            <a:off x="6492240" y="2651760"/>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Empty · max · min · invalid · duplicate · concurrent inputs</a:t>
            </a:r>
            <a:endParaRPr lang="en-US" sz="1070" dirty="0"/>
          </a:p>
        </p:txBody>
      </p:sp>
      <p:sp>
        <p:nvSpPr>
          <p:cNvPr id="15" name="Shape 13"/>
          <p:cNvSpPr/>
          <p:nvPr/>
        </p:nvSpPr>
        <p:spPr>
          <a:xfrm>
            <a:off x="548640" y="3236976"/>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16" name="Text 14"/>
          <p:cNvSpPr/>
          <p:nvPr/>
        </p:nvSpPr>
        <p:spPr>
          <a:xfrm>
            <a:off x="822960" y="3364992"/>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Negative paths</a:t>
            </a:r>
            <a:endParaRPr lang="en-US" sz="1400" dirty="0"/>
          </a:p>
        </p:txBody>
      </p:sp>
      <p:sp>
        <p:nvSpPr>
          <p:cNvPr id="17" name="Shape 15"/>
          <p:cNvSpPr/>
          <p:nvPr/>
        </p:nvSpPr>
        <p:spPr>
          <a:xfrm>
            <a:off x="4983480" y="3374136"/>
            <a:ext cx="713232" cy="292608"/>
          </a:xfrm>
          <a:prstGeom prst="roundRect">
            <a:avLst>
              <a:gd name="adj" fmla="val 15625"/>
            </a:avLst>
          </a:prstGeom>
          <a:solidFill>
            <a:srgbClr val="E7F8F5"/>
          </a:solidFill>
          <a:ln/>
        </p:spPr>
      </p:sp>
      <p:sp>
        <p:nvSpPr>
          <p:cNvPr id="18" name="Text 16"/>
          <p:cNvSpPr/>
          <p:nvPr/>
        </p:nvSpPr>
        <p:spPr>
          <a:xfrm>
            <a:off x="4983480" y="3374136"/>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15%</a:t>
            </a:r>
            <a:endParaRPr lang="en-US" sz="1200" dirty="0"/>
          </a:p>
        </p:txBody>
      </p:sp>
      <p:sp>
        <p:nvSpPr>
          <p:cNvPr id="19" name="Text 17"/>
          <p:cNvSpPr/>
          <p:nvPr/>
        </p:nvSpPr>
        <p:spPr>
          <a:xfrm>
            <a:off x="822960" y="3694176"/>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Failure · timeout · permission denied · partial save · retry behaviour</a:t>
            </a:r>
            <a:endParaRPr lang="en-US" sz="1070" dirty="0"/>
          </a:p>
        </p:txBody>
      </p:sp>
      <p:sp>
        <p:nvSpPr>
          <p:cNvPr id="20" name="Shape 18"/>
          <p:cNvSpPr/>
          <p:nvPr/>
        </p:nvSpPr>
        <p:spPr>
          <a:xfrm>
            <a:off x="6217920" y="3236976"/>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21" name="Text 19"/>
          <p:cNvSpPr/>
          <p:nvPr/>
        </p:nvSpPr>
        <p:spPr>
          <a:xfrm>
            <a:off x="6492240" y="3364992"/>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Data &amp; field rules</a:t>
            </a:r>
            <a:endParaRPr lang="en-US" sz="1400" dirty="0"/>
          </a:p>
        </p:txBody>
      </p:sp>
      <p:sp>
        <p:nvSpPr>
          <p:cNvPr id="22" name="Shape 20"/>
          <p:cNvSpPr/>
          <p:nvPr/>
        </p:nvSpPr>
        <p:spPr>
          <a:xfrm>
            <a:off x="10652760" y="3374136"/>
            <a:ext cx="713232" cy="292608"/>
          </a:xfrm>
          <a:prstGeom prst="roundRect">
            <a:avLst>
              <a:gd name="adj" fmla="val 15625"/>
            </a:avLst>
          </a:prstGeom>
          <a:solidFill>
            <a:srgbClr val="E7F8F5"/>
          </a:solidFill>
          <a:ln/>
        </p:spPr>
      </p:sp>
      <p:sp>
        <p:nvSpPr>
          <p:cNvPr id="23" name="Text 21"/>
          <p:cNvSpPr/>
          <p:nvPr/>
        </p:nvSpPr>
        <p:spPr>
          <a:xfrm>
            <a:off x="10652760" y="3374136"/>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12%</a:t>
            </a:r>
            <a:endParaRPr lang="en-US" sz="1200" dirty="0"/>
          </a:p>
        </p:txBody>
      </p:sp>
      <p:sp>
        <p:nvSpPr>
          <p:cNvPr id="24" name="Text 22"/>
          <p:cNvSpPr/>
          <p:nvPr/>
        </p:nvSpPr>
        <p:spPr>
          <a:xfrm>
            <a:off x="6492240" y="3694176"/>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Value sets enumerated · formats · mandatory vs optional · validation messages</a:t>
            </a:r>
            <a:endParaRPr lang="en-US" sz="1070" dirty="0"/>
          </a:p>
        </p:txBody>
      </p:sp>
      <p:sp>
        <p:nvSpPr>
          <p:cNvPr id="25" name="Shape 23"/>
          <p:cNvSpPr/>
          <p:nvPr/>
        </p:nvSpPr>
        <p:spPr>
          <a:xfrm>
            <a:off x="548640" y="4279392"/>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26" name="Text 24"/>
          <p:cNvSpPr/>
          <p:nvPr/>
        </p:nvSpPr>
        <p:spPr>
          <a:xfrm>
            <a:off x="822960" y="4407408"/>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Dependencies &amp; assumptions</a:t>
            </a:r>
            <a:endParaRPr lang="en-US" sz="1400" dirty="0"/>
          </a:p>
        </p:txBody>
      </p:sp>
      <p:sp>
        <p:nvSpPr>
          <p:cNvPr id="27" name="Shape 25"/>
          <p:cNvSpPr/>
          <p:nvPr/>
        </p:nvSpPr>
        <p:spPr>
          <a:xfrm>
            <a:off x="4983480" y="4416552"/>
            <a:ext cx="713232" cy="292608"/>
          </a:xfrm>
          <a:prstGeom prst="roundRect">
            <a:avLst>
              <a:gd name="adj" fmla="val 15625"/>
            </a:avLst>
          </a:prstGeom>
          <a:solidFill>
            <a:srgbClr val="E7F8F5"/>
          </a:solidFill>
          <a:ln/>
        </p:spPr>
      </p:sp>
      <p:sp>
        <p:nvSpPr>
          <p:cNvPr id="28" name="Text 26"/>
          <p:cNvSpPr/>
          <p:nvPr/>
        </p:nvSpPr>
        <p:spPr>
          <a:xfrm>
            <a:off x="4983480" y="4416552"/>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10%</a:t>
            </a:r>
            <a:endParaRPr lang="en-US" sz="1200" dirty="0"/>
          </a:p>
        </p:txBody>
      </p:sp>
      <p:sp>
        <p:nvSpPr>
          <p:cNvPr id="29" name="Text 27"/>
          <p:cNvSpPr/>
          <p:nvPr/>
        </p:nvSpPr>
        <p:spPr>
          <a:xfrm>
            <a:off x="822960" y="4736592"/>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Upstream/downstream stated · assumptions explicit · linked issues consistent</a:t>
            </a:r>
            <a:endParaRPr lang="en-US" sz="1070" dirty="0"/>
          </a:p>
        </p:txBody>
      </p:sp>
      <p:sp>
        <p:nvSpPr>
          <p:cNvPr id="30" name="Shape 28"/>
          <p:cNvSpPr/>
          <p:nvPr/>
        </p:nvSpPr>
        <p:spPr>
          <a:xfrm>
            <a:off x="6217920" y="4279392"/>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31" name="Text 29"/>
          <p:cNvSpPr/>
          <p:nvPr/>
        </p:nvSpPr>
        <p:spPr>
          <a:xfrm>
            <a:off x="6492240" y="4407408"/>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Non-functional</a:t>
            </a:r>
            <a:endParaRPr lang="en-US" sz="1400" dirty="0"/>
          </a:p>
        </p:txBody>
      </p:sp>
      <p:sp>
        <p:nvSpPr>
          <p:cNvPr id="32" name="Shape 30"/>
          <p:cNvSpPr/>
          <p:nvPr/>
        </p:nvSpPr>
        <p:spPr>
          <a:xfrm>
            <a:off x="10652760" y="4416552"/>
            <a:ext cx="713232" cy="292608"/>
          </a:xfrm>
          <a:prstGeom prst="roundRect">
            <a:avLst>
              <a:gd name="adj" fmla="val 15625"/>
            </a:avLst>
          </a:prstGeom>
          <a:solidFill>
            <a:srgbClr val="E7F8F5"/>
          </a:solidFill>
          <a:ln/>
        </p:spPr>
      </p:sp>
      <p:sp>
        <p:nvSpPr>
          <p:cNvPr id="33" name="Text 31"/>
          <p:cNvSpPr/>
          <p:nvPr/>
        </p:nvSpPr>
        <p:spPr>
          <a:xfrm>
            <a:off x="10652760" y="4416552"/>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10%</a:t>
            </a:r>
            <a:endParaRPr lang="en-US" sz="1200" dirty="0"/>
          </a:p>
        </p:txBody>
      </p:sp>
      <p:sp>
        <p:nvSpPr>
          <p:cNvPr id="34" name="Text 32"/>
          <p:cNvSpPr/>
          <p:nvPr/>
        </p:nvSpPr>
        <p:spPr>
          <a:xfrm>
            <a:off x="6492240" y="4736592"/>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Performance · security · accessibility · audit / logging where relevant</a:t>
            </a:r>
            <a:endParaRPr lang="en-US" sz="1070" dirty="0"/>
          </a:p>
        </p:txBody>
      </p:sp>
      <p:sp>
        <p:nvSpPr>
          <p:cNvPr id="35" name="Shape 33"/>
          <p:cNvSpPr/>
          <p:nvPr/>
        </p:nvSpPr>
        <p:spPr>
          <a:xfrm>
            <a:off x="548640" y="5321808"/>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36" name="Text 34"/>
          <p:cNvSpPr/>
          <p:nvPr/>
        </p:nvSpPr>
        <p:spPr>
          <a:xfrm>
            <a:off x="822960" y="5449824"/>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Out-of-scope</a:t>
            </a:r>
            <a:endParaRPr lang="en-US" sz="1400" dirty="0"/>
          </a:p>
        </p:txBody>
      </p:sp>
      <p:sp>
        <p:nvSpPr>
          <p:cNvPr id="37" name="Shape 35"/>
          <p:cNvSpPr/>
          <p:nvPr/>
        </p:nvSpPr>
        <p:spPr>
          <a:xfrm>
            <a:off x="4983480" y="5458968"/>
            <a:ext cx="713232" cy="292608"/>
          </a:xfrm>
          <a:prstGeom prst="roundRect">
            <a:avLst>
              <a:gd name="adj" fmla="val 15625"/>
            </a:avLst>
          </a:prstGeom>
          <a:solidFill>
            <a:srgbClr val="E7F8F5"/>
          </a:solidFill>
          <a:ln/>
        </p:spPr>
      </p:sp>
      <p:sp>
        <p:nvSpPr>
          <p:cNvPr id="38" name="Text 36"/>
          <p:cNvSpPr/>
          <p:nvPr/>
        </p:nvSpPr>
        <p:spPr>
          <a:xfrm>
            <a:off x="4983480" y="5458968"/>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8%</a:t>
            </a:r>
            <a:endParaRPr lang="en-US" sz="1200" dirty="0"/>
          </a:p>
        </p:txBody>
      </p:sp>
      <p:sp>
        <p:nvSpPr>
          <p:cNvPr id="39" name="Text 37"/>
          <p:cNvSpPr/>
          <p:nvPr/>
        </p:nvSpPr>
        <p:spPr>
          <a:xfrm>
            <a:off x="822960" y="5779008"/>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Boundaries stated · no gold-plating · deferred items named</a:t>
            </a:r>
            <a:endParaRPr lang="en-US" sz="1070" dirty="0"/>
          </a:p>
        </p:txBody>
      </p:sp>
      <p:sp>
        <p:nvSpPr>
          <p:cNvPr id="40" name="Shape 38"/>
          <p:cNvSpPr/>
          <p:nvPr/>
        </p:nvSpPr>
        <p:spPr>
          <a:xfrm>
            <a:off x="6217920" y="5321808"/>
            <a:ext cx="5394960" cy="932688"/>
          </a:xfrm>
          <a:prstGeom prst="roundRect">
            <a:avLst>
              <a:gd name="adj" fmla="val 5882"/>
            </a:avLst>
          </a:prstGeom>
          <a:solidFill>
            <a:srgbClr val="FFFFFF"/>
          </a:solidFill>
          <a:ln/>
          <a:effectLst>
            <a:outerShdw sx="100000" sy="100000" kx="0" ky="0" algn="bl" rotWithShape="0" blurRad="114300" dist="38100" dir="5400000">
              <a:srgbClr val="000000">
                <a:alpha val="18000"/>
              </a:srgbClr>
            </a:outerShdw>
          </a:effectLst>
        </p:spPr>
      </p:sp>
      <p:sp>
        <p:nvSpPr>
          <p:cNvPr id="41" name="Text 39"/>
          <p:cNvSpPr/>
          <p:nvPr/>
        </p:nvSpPr>
        <p:spPr>
          <a:xfrm>
            <a:off x="6492240" y="5449824"/>
            <a:ext cx="4114800" cy="310896"/>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DoD alignment</a:t>
            </a:r>
            <a:endParaRPr lang="en-US" sz="1400" dirty="0"/>
          </a:p>
        </p:txBody>
      </p:sp>
      <p:sp>
        <p:nvSpPr>
          <p:cNvPr id="42" name="Shape 40"/>
          <p:cNvSpPr/>
          <p:nvPr/>
        </p:nvSpPr>
        <p:spPr>
          <a:xfrm>
            <a:off x="10652760" y="5458968"/>
            <a:ext cx="713232" cy="292608"/>
          </a:xfrm>
          <a:prstGeom prst="roundRect">
            <a:avLst>
              <a:gd name="adj" fmla="val 15625"/>
            </a:avLst>
          </a:prstGeom>
          <a:solidFill>
            <a:srgbClr val="E7F8F5"/>
          </a:solidFill>
          <a:ln/>
        </p:spPr>
      </p:sp>
      <p:sp>
        <p:nvSpPr>
          <p:cNvPr id="43" name="Text 41"/>
          <p:cNvSpPr/>
          <p:nvPr/>
        </p:nvSpPr>
        <p:spPr>
          <a:xfrm>
            <a:off x="10652760" y="5458968"/>
            <a:ext cx="713232" cy="292608"/>
          </a:xfrm>
          <a:prstGeom prst="rect">
            <a:avLst/>
          </a:prstGeom>
          <a:noFill/>
          <a:ln/>
        </p:spPr>
        <p:txBody>
          <a:bodyPr wrap="square" lIns="0" tIns="0" rIns="0" bIns="0" rtlCol="0" anchor="ctr"/>
          <a:lstStyle/>
          <a:p>
            <a:pPr algn="ctr" indent="0" marL="0">
              <a:buNone/>
            </a:pPr>
            <a:r>
              <a:rPr lang="en-US" sz="1200" b="1" dirty="0">
                <a:solidFill>
                  <a:srgbClr val="16B8A6"/>
                </a:solidFill>
                <a:latin typeface="Calibri" pitchFamily="34" charset="0"/>
                <a:ea typeface="Calibri" pitchFamily="34" charset="-122"/>
                <a:cs typeface="Calibri" pitchFamily="34" charset="-120"/>
              </a:rPr>
              <a:t>10%</a:t>
            </a:r>
            <a:endParaRPr lang="en-US" sz="1200" dirty="0"/>
          </a:p>
        </p:txBody>
      </p:sp>
      <p:sp>
        <p:nvSpPr>
          <p:cNvPr id="44" name="Text 42"/>
          <p:cNvSpPr/>
          <p:nvPr/>
        </p:nvSpPr>
        <p:spPr>
          <a:xfrm>
            <a:off x="6492240" y="5779008"/>
            <a:ext cx="4892040" cy="411480"/>
          </a:xfrm>
          <a:prstGeom prst="rect">
            <a:avLst/>
          </a:prstGeom>
          <a:noFill/>
          <a:ln/>
        </p:spPr>
        <p:txBody>
          <a:bodyPr wrap="square" lIns="0" tIns="0" rIns="0" bIns="0" rtlCol="0" anchor="t"/>
          <a:lstStyle/>
          <a:p>
            <a:pPr indent="0" marL="0">
              <a:lnSpc>
                <a:spcPct val="100000"/>
              </a:lnSpc>
              <a:buNone/>
            </a:pPr>
            <a:r>
              <a:rPr lang="en-US" sz="1070" dirty="0">
                <a:solidFill>
                  <a:srgbClr val="5B6B80"/>
                </a:solidFill>
                <a:latin typeface="Calibri" pitchFamily="34" charset="0"/>
                <a:ea typeface="Calibri" pitchFamily="34" charset="-122"/>
                <a:cs typeface="Calibri" pitchFamily="34" charset="-120"/>
              </a:rPr>
              <a:t>Meets team DoD · test data available · demo-able increment</a:t>
            </a:r>
            <a:endParaRPr lang="en-US" sz="10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INTELLECTUAL PROPERTY · 2 OF 3</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How the score is computed — tunable, not the model's whim</a:t>
            </a:r>
            <a:endParaRPr lang="en-US" sz="3000" dirty="0"/>
          </a:p>
        </p:txBody>
      </p:sp>
      <p:sp>
        <p:nvSpPr>
          <p:cNvPr id="4" name="Text 2"/>
          <p:cNvSpPr/>
          <p:nvPr/>
        </p:nvSpPr>
        <p:spPr>
          <a:xfrm>
            <a:off x="548640" y="1572768"/>
            <a:ext cx="11064240" cy="502920"/>
          </a:xfrm>
          <a:prstGeom prst="rect">
            <a:avLst/>
          </a:prstGeom>
          <a:noFill/>
          <a:ln/>
        </p:spPr>
        <p:txBody>
          <a:bodyPr wrap="square" lIns="0" tIns="0" rIns="0" bIns="0" rtlCol="0" anchor="ctr"/>
          <a:lstStyle/>
          <a:p>
            <a:pPr indent="0" marL="0">
              <a:lnSpc>
                <a:spcPct val="105000"/>
              </a:lnSpc>
              <a:buNone/>
            </a:pPr>
            <a:r>
              <a:rPr lang="en-US" sz="1350" i="1" dirty="0">
                <a:solidFill>
                  <a:srgbClr val="5B6B80"/>
                </a:solidFill>
                <a:latin typeface="Calibri" pitchFamily="34" charset="0"/>
                <a:ea typeface="Calibri" pitchFamily="34" charset="-122"/>
                <a:cs typeface="Calibri" pitchFamily="34" charset="-120"/>
              </a:rPr>
              <a:t>The model returns findings and per-dimension pass rates; our validator does the arithmetic. That keeps the bands tunable without re-prompting — and stops the model drifting its own cut-offs.</a:t>
            </a:r>
            <a:endParaRPr lang="en-US" sz="1350" dirty="0"/>
          </a:p>
        </p:txBody>
      </p:sp>
      <p:sp>
        <p:nvSpPr>
          <p:cNvPr id="5" name="Shape 3"/>
          <p:cNvSpPr/>
          <p:nvPr/>
        </p:nvSpPr>
        <p:spPr>
          <a:xfrm>
            <a:off x="548640" y="2194560"/>
            <a:ext cx="5943600" cy="4069080"/>
          </a:xfrm>
          <a:prstGeom prst="roundRect">
            <a:avLst>
              <a:gd name="adj" fmla="val 1798"/>
            </a:avLst>
          </a:prstGeom>
          <a:solidFill>
            <a:srgbClr val="FFFFFF"/>
          </a:solidFill>
          <a:ln/>
          <a:effectLst>
            <a:outerShdw sx="100000" sy="100000" kx="0" ky="0" algn="bl" rotWithShape="0" blurRad="114300" dist="38100" dir="5400000">
              <a:srgbClr val="000000">
                <a:alpha val="18000"/>
              </a:srgbClr>
            </a:outerShdw>
          </a:effectLst>
        </p:spPr>
      </p:sp>
      <p:sp>
        <p:nvSpPr>
          <p:cNvPr id="6" name="Text 4"/>
          <p:cNvSpPr/>
          <p:nvPr/>
        </p:nvSpPr>
        <p:spPr>
          <a:xfrm>
            <a:off x="822960" y="2395728"/>
            <a:ext cx="5486400" cy="274320"/>
          </a:xfrm>
          <a:prstGeom prst="rect">
            <a:avLst/>
          </a:prstGeom>
          <a:noFill/>
          <a:ln/>
        </p:spPr>
        <p:txBody>
          <a:bodyPr wrap="square" lIns="0" tIns="0" rIns="0" bIns="0" rtlCol="0" anchor="ctr"/>
          <a:lstStyle/>
          <a:p>
            <a:pPr indent="0" marL="0">
              <a:buNone/>
            </a:pPr>
            <a:r>
              <a:rPr lang="en-US" sz="1200" b="1" spc="150" kern="0" dirty="0">
                <a:solidFill>
                  <a:srgbClr val="16B8A6"/>
                </a:solidFill>
                <a:latin typeface="Calibri" pitchFamily="34" charset="0"/>
                <a:ea typeface="Calibri" pitchFamily="34" charset="-122"/>
                <a:cs typeface="Calibri" pitchFamily="34" charset="-120"/>
              </a:rPr>
              <a:t>DIMENSION WEIGHTING</a:t>
            </a:r>
            <a:endParaRPr lang="en-US" sz="1200" dirty="0"/>
          </a:p>
        </p:txBody>
      </p:sp>
      <p:sp>
        <p:nvSpPr>
          <p:cNvPr id="7" name="Text 5"/>
          <p:cNvSpPr/>
          <p:nvPr/>
        </p:nvSpPr>
        <p:spPr>
          <a:xfrm>
            <a:off x="822960" y="2816352"/>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Testable ACs</a:t>
            </a:r>
            <a:endParaRPr lang="en-US" sz="1100" dirty="0"/>
          </a:p>
        </p:txBody>
      </p:sp>
      <p:sp>
        <p:nvSpPr>
          <p:cNvPr id="8" name="Shape 6"/>
          <p:cNvSpPr/>
          <p:nvPr/>
        </p:nvSpPr>
        <p:spPr>
          <a:xfrm>
            <a:off x="2697480" y="2852928"/>
            <a:ext cx="2788920" cy="219456"/>
          </a:xfrm>
          <a:prstGeom prst="roundRect">
            <a:avLst>
              <a:gd name="adj" fmla="val 12500"/>
            </a:avLst>
          </a:prstGeom>
          <a:solidFill>
            <a:srgbClr val="16B8A6"/>
          </a:solidFill>
          <a:ln/>
        </p:spPr>
      </p:sp>
      <p:sp>
        <p:nvSpPr>
          <p:cNvPr id="9" name="Text 7"/>
          <p:cNvSpPr/>
          <p:nvPr/>
        </p:nvSpPr>
        <p:spPr>
          <a:xfrm>
            <a:off x="5559552" y="2816352"/>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20%</a:t>
            </a:r>
            <a:endParaRPr lang="en-US" sz="1050" dirty="0"/>
          </a:p>
        </p:txBody>
      </p:sp>
      <p:sp>
        <p:nvSpPr>
          <p:cNvPr id="10" name="Text 8"/>
          <p:cNvSpPr/>
          <p:nvPr/>
        </p:nvSpPr>
        <p:spPr>
          <a:xfrm>
            <a:off x="822960" y="3236976"/>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Edge cases</a:t>
            </a:r>
            <a:endParaRPr lang="en-US" sz="1100" dirty="0"/>
          </a:p>
        </p:txBody>
      </p:sp>
      <p:sp>
        <p:nvSpPr>
          <p:cNvPr id="11" name="Shape 9"/>
          <p:cNvSpPr/>
          <p:nvPr/>
        </p:nvSpPr>
        <p:spPr>
          <a:xfrm>
            <a:off x="2697480" y="3273552"/>
            <a:ext cx="2091690" cy="219456"/>
          </a:xfrm>
          <a:prstGeom prst="roundRect">
            <a:avLst>
              <a:gd name="adj" fmla="val 12500"/>
            </a:avLst>
          </a:prstGeom>
          <a:solidFill>
            <a:srgbClr val="16B8A6"/>
          </a:solidFill>
          <a:ln/>
        </p:spPr>
      </p:sp>
      <p:sp>
        <p:nvSpPr>
          <p:cNvPr id="12" name="Text 10"/>
          <p:cNvSpPr/>
          <p:nvPr/>
        </p:nvSpPr>
        <p:spPr>
          <a:xfrm>
            <a:off x="4862322" y="3236976"/>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15%</a:t>
            </a:r>
            <a:endParaRPr lang="en-US" sz="1050" dirty="0"/>
          </a:p>
        </p:txBody>
      </p:sp>
      <p:sp>
        <p:nvSpPr>
          <p:cNvPr id="13" name="Text 11"/>
          <p:cNvSpPr/>
          <p:nvPr/>
        </p:nvSpPr>
        <p:spPr>
          <a:xfrm>
            <a:off x="822960" y="3657600"/>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Negative paths</a:t>
            </a:r>
            <a:endParaRPr lang="en-US" sz="1100" dirty="0"/>
          </a:p>
        </p:txBody>
      </p:sp>
      <p:sp>
        <p:nvSpPr>
          <p:cNvPr id="14" name="Shape 12"/>
          <p:cNvSpPr/>
          <p:nvPr/>
        </p:nvSpPr>
        <p:spPr>
          <a:xfrm>
            <a:off x="2697480" y="3694176"/>
            <a:ext cx="2091690" cy="219456"/>
          </a:xfrm>
          <a:prstGeom prst="roundRect">
            <a:avLst>
              <a:gd name="adj" fmla="val 12500"/>
            </a:avLst>
          </a:prstGeom>
          <a:solidFill>
            <a:srgbClr val="16B8A6"/>
          </a:solidFill>
          <a:ln/>
        </p:spPr>
      </p:sp>
      <p:sp>
        <p:nvSpPr>
          <p:cNvPr id="15" name="Text 13"/>
          <p:cNvSpPr/>
          <p:nvPr/>
        </p:nvSpPr>
        <p:spPr>
          <a:xfrm>
            <a:off x="4862322" y="3657600"/>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15%</a:t>
            </a:r>
            <a:endParaRPr lang="en-US" sz="1050" dirty="0"/>
          </a:p>
        </p:txBody>
      </p:sp>
      <p:sp>
        <p:nvSpPr>
          <p:cNvPr id="16" name="Text 14"/>
          <p:cNvSpPr/>
          <p:nvPr/>
        </p:nvSpPr>
        <p:spPr>
          <a:xfrm>
            <a:off x="822960" y="4078224"/>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Data &amp; field rules</a:t>
            </a:r>
            <a:endParaRPr lang="en-US" sz="1100" dirty="0"/>
          </a:p>
        </p:txBody>
      </p:sp>
      <p:sp>
        <p:nvSpPr>
          <p:cNvPr id="17" name="Shape 15"/>
          <p:cNvSpPr/>
          <p:nvPr/>
        </p:nvSpPr>
        <p:spPr>
          <a:xfrm>
            <a:off x="2697480" y="4114800"/>
            <a:ext cx="1673352" cy="219456"/>
          </a:xfrm>
          <a:prstGeom prst="roundRect">
            <a:avLst>
              <a:gd name="adj" fmla="val 12500"/>
            </a:avLst>
          </a:prstGeom>
          <a:solidFill>
            <a:srgbClr val="16B8A6"/>
          </a:solidFill>
          <a:ln/>
        </p:spPr>
      </p:sp>
      <p:sp>
        <p:nvSpPr>
          <p:cNvPr id="18" name="Text 16"/>
          <p:cNvSpPr/>
          <p:nvPr/>
        </p:nvSpPr>
        <p:spPr>
          <a:xfrm>
            <a:off x="4443984" y="4078224"/>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12%</a:t>
            </a:r>
            <a:endParaRPr lang="en-US" sz="1050" dirty="0"/>
          </a:p>
        </p:txBody>
      </p:sp>
      <p:sp>
        <p:nvSpPr>
          <p:cNvPr id="19" name="Text 17"/>
          <p:cNvSpPr/>
          <p:nvPr/>
        </p:nvSpPr>
        <p:spPr>
          <a:xfrm>
            <a:off x="822960" y="4498848"/>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Dependencies</a:t>
            </a:r>
            <a:endParaRPr lang="en-US" sz="1100" dirty="0"/>
          </a:p>
        </p:txBody>
      </p:sp>
      <p:sp>
        <p:nvSpPr>
          <p:cNvPr id="20" name="Shape 18"/>
          <p:cNvSpPr/>
          <p:nvPr/>
        </p:nvSpPr>
        <p:spPr>
          <a:xfrm>
            <a:off x="2697480" y="4535424"/>
            <a:ext cx="1394460" cy="219456"/>
          </a:xfrm>
          <a:prstGeom prst="roundRect">
            <a:avLst>
              <a:gd name="adj" fmla="val 12500"/>
            </a:avLst>
          </a:prstGeom>
          <a:solidFill>
            <a:srgbClr val="16B8A6"/>
          </a:solidFill>
          <a:ln/>
        </p:spPr>
      </p:sp>
      <p:sp>
        <p:nvSpPr>
          <p:cNvPr id="21" name="Text 19"/>
          <p:cNvSpPr/>
          <p:nvPr/>
        </p:nvSpPr>
        <p:spPr>
          <a:xfrm>
            <a:off x="4165092" y="4498848"/>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10%</a:t>
            </a:r>
            <a:endParaRPr lang="en-US" sz="1050" dirty="0"/>
          </a:p>
        </p:txBody>
      </p:sp>
      <p:sp>
        <p:nvSpPr>
          <p:cNvPr id="22" name="Text 20"/>
          <p:cNvSpPr/>
          <p:nvPr/>
        </p:nvSpPr>
        <p:spPr>
          <a:xfrm>
            <a:off x="822960" y="4919472"/>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Non-functional</a:t>
            </a:r>
            <a:endParaRPr lang="en-US" sz="1100" dirty="0"/>
          </a:p>
        </p:txBody>
      </p:sp>
      <p:sp>
        <p:nvSpPr>
          <p:cNvPr id="23" name="Shape 21"/>
          <p:cNvSpPr/>
          <p:nvPr/>
        </p:nvSpPr>
        <p:spPr>
          <a:xfrm>
            <a:off x="2697480" y="4956048"/>
            <a:ext cx="1394460" cy="219456"/>
          </a:xfrm>
          <a:prstGeom prst="roundRect">
            <a:avLst>
              <a:gd name="adj" fmla="val 12500"/>
            </a:avLst>
          </a:prstGeom>
          <a:solidFill>
            <a:srgbClr val="16B8A6"/>
          </a:solidFill>
          <a:ln/>
        </p:spPr>
      </p:sp>
      <p:sp>
        <p:nvSpPr>
          <p:cNvPr id="24" name="Text 22"/>
          <p:cNvSpPr/>
          <p:nvPr/>
        </p:nvSpPr>
        <p:spPr>
          <a:xfrm>
            <a:off x="4165092" y="4919472"/>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10%</a:t>
            </a:r>
            <a:endParaRPr lang="en-US" sz="1050" dirty="0"/>
          </a:p>
        </p:txBody>
      </p:sp>
      <p:sp>
        <p:nvSpPr>
          <p:cNvPr id="25" name="Text 23"/>
          <p:cNvSpPr/>
          <p:nvPr/>
        </p:nvSpPr>
        <p:spPr>
          <a:xfrm>
            <a:off x="822960" y="5340096"/>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DoD alignment</a:t>
            </a:r>
            <a:endParaRPr lang="en-US" sz="1100" dirty="0"/>
          </a:p>
        </p:txBody>
      </p:sp>
      <p:sp>
        <p:nvSpPr>
          <p:cNvPr id="26" name="Shape 24"/>
          <p:cNvSpPr/>
          <p:nvPr/>
        </p:nvSpPr>
        <p:spPr>
          <a:xfrm>
            <a:off x="2697480" y="5376672"/>
            <a:ext cx="1394460" cy="219456"/>
          </a:xfrm>
          <a:prstGeom prst="roundRect">
            <a:avLst>
              <a:gd name="adj" fmla="val 12500"/>
            </a:avLst>
          </a:prstGeom>
          <a:solidFill>
            <a:srgbClr val="16B8A6"/>
          </a:solidFill>
          <a:ln/>
        </p:spPr>
      </p:sp>
      <p:sp>
        <p:nvSpPr>
          <p:cNvPr id="27" name="Text 25"/>
          <p:cNvSpPr/>
          <p:nvPr/>
        </p:nvSpPr>
        <p:spPr>
          <a:xfrm>
            <a:off x="4165092" y="5340096"/>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10%</a:t>
            </a:r>
            <a:endParaRPr lang="en-US" sz="1050" dirty="0"/>
          </a:p>
        </p:txBody>
      </p:sp>
      <p:sp>
        <p:nvSpPr>
          <p:cNvPr id="28" name="Text 26"/>
          <p:cNvSpPr/>
          <p:nvPr/>
        </p:nvSpPr>
        <p:spPr>
          <a:xfrm>
            <a:off x="822960" y="5760720"/>
            <a:ext cx="1783080" cy="274320"/>
          </a:xfrm>
          <a:prstGeom prst="rect">
            <a:avLst/>
          </a:prstGeom>
          <a:noFill/>
          <a:ln/>
        </p:spPr>
        <p:txBody>
          <a:bodyPr wrap="square" lIns="0" tIns="0" rIns="0" bIns="0" rtlCol="0" anchor="ctr"/>
          <a:lstStyle/>
          <a:p>
            <a:pPr indent="0" marL="0">
              <a:buNone/>
            </a:pPr>
            <a:r>
              <a:rPr lang="en-US" sz="1100" dirty="0">
                <a:solidFill>
                  <a:srgbClr val="1E2E45"/>
                </a:solidFill>
                <a:latin typeface="Calibri" pitchFamily="34" charset="0"/>
                <a:ea typeface="Calibri" pitchFamily="34" charset="-122"/>
                <a:cs typeface="Calibri" pitchFamily="34" charset="-120"/>
              </a:rPr>
              <a:t>Out-of-scope</a:t>
            </a:r>
            <a:endParaRPr lang="en-US" sz="1100" dirty="0"/>
          </a:p>
        </p:txBody>
      </p:sp>
      <p:sp>
        <p:nvSpPr>
          <p:cNvPr id="29" name="Shape 27"/>
          <p:cNvSpPr/>
          <p:nvPr/>
        </p:nvSpPr>
        <p:spPr>
          <a:xfrm>
            <a:off x="2697480" y="5797296"/>
            <a:ext cx="1115568" cy="219456"/>
          </a:xfrm>
          <a:prstGeom prst="roundRect">
            <a:avLst>
              <a:gd name="adj" fmla="val 12500"/>
            </a:avLst>
          </a:prstGeom>
          <a:solidFill>
            <a:srgbClr val="16B8A6"/>
          </a:solidFill>
          <a:ln/>
        </p:spPr>
      </p:sp>
      <p:sp>
        <p:nvSpPr>
          <p:cNvPr id="30" name="Text 28"/>
          <p:cNvSpPr/>
          <p:nvPr/>
        </p:nvSpPr>
        <p:spPr>
          <a:xfrm>
            <a:off x="3886200" y="5760720"/>
            <a:ext cx="548640" cy="274320"/>
          </a:xfrm>
          <a:prstGeom prst="rect">
            <a:avLst/>
          </a:prstGeom>
          <a:noFill/>
          <a:ln/>
        </p:spPr>
        <p:txBody>
          <a:bodyPr wrap="square" lIns="0" tIns="0" rIns="0" bIns="0" rtlCol="0" anchor="ctr"/>
          <a:lstStyle/>
          <a:p>
            <a:pPr indent="0" marL="0">
              <a:buNone/>
            </a:pPr>
            <a:r>
              <a:rPr lang="en-US" sz="1050" b="1" dirty="0">
                <a:solidFill>
                  <a:srgbClr val="5B6B80"/>
                </a:solidFill>
                <a:latin typeface="Calibri" pitchFamily="34" charset="0"/>
                <a:ea typeface="Calibri" pitchFamily="34" charset="-122"/>
                <a:cs typeface="Calibri" pitchFamily="34" charset="-120"/>
              </a:rPr>
              <a:t>8%</a:t>
            </a:r>
            <a:endParaRPr lang="en-US" sz="1050" dirty="0"/>
          </a:p>
        </p:txBody>
      </p:sp>
      <p:sp>
        <p:nvSpPr>
          <p:cNvPr id="31" name="Shape 29"/>
          <p:cNvSpPr/>
          <p:nvPr/>
        </p:nvSpPr>
        <p:spPr>
          <a:xfrm>
            <a:off x="6675120" y="2194560"/>
            <a:ext cx="4937760" cy="1810512"/>
          </a:xfrm>
          <a:prstGeom prst="roundRect">
            <a:avLst>
              <a:gd name="adj" fmla="val 4040"/>
            </a:avLst>
          </a:prstGeom>
          <a:solidFill>
            <a:srgbClr val="0E1A2B"/>
          </a:solidFill>
          <a:ln/>
          <a:effectLst>
            <a:outerShdw sx="100000" sy="100000" kx="0" ky="0" algn="bl" rotWithShape="0" blurRad="114300" dist="38100" dir="5400000">
              <a:srgbClr val="000000">
                <a:alpha val="18000"/>
              </a:srgbClr>
            </a:outerShdw>
          </a:effectLst>
        </p:spPr>
      </p:sp>
      <p:sp>
        <p:nvSpPr>
          <p:cNvPr id="32" name="Text 30"/>
          <p:cNvSpPr/>
          <p:nvPr/>
        </p:nvSpPr>
        <p:spPr>
          <a:xfrm>
            <a:off x="6949440" y="2359152"/>
            <a:ext cx="4572000" cy="274320"/>
          </a:xfrm>
          <a:prstGeom prst="rect">
            <a:avLst/>
          </a:prstGeom>
          <a:noFill/>
          <a:ln/>
        </p:spPr>
        <p:txBody>
          <a:bodyPr wrap="square" lIns="0" tIns="0" rIns="0" bIns="0" rtlCol="0" anchor="ctr"/>
          <a:lstStyle/>
          <a:p>
            <a:pPr indent="0" marL="0">
              <a:buNone/>
            </a:pPr>
            <a:r>
              <a:rPr lang="en-US" sz="1200" b="1" spc="150" kern="0" dirty="0">
                <a:solidFill>
                  <a:srgbClr val="5EEAD4"/>
                </a:solidFill>
                <a:latin typeface="Calibri" pitchFamily="34" charset="0"/>
                <a:ea typeface="Calibri" pitchFamily="34" charset="-122"/>
                <a:cs typeface="Calibri" pitchFamily="34" charset="-120"/>
              </a:rPr>
              <a:t>SCORING PIPELINE</a:t>
            </a:r>
            <a:endParaRPr lang="en-US" sz="1200" dirty="0"/>
          </a:p>
        </p:txBody>
      </p:sp>
      <p:sp>
        <p:nvSpPr>
          <p:cNvPr id="33" name="Shape 31"/>
          <p:cNvSpPr/>
          <p:nvPr/>
        </p:nvSpPr>
        <p:spPr>
          <a:xfrm>
            <a:off x="6949440" y="2715768"/>
            <a:ext cx="310896" cy="310896"/>
          </a:xfrm>
          <a:prstGeom prst="ellipse">
            <a:avLst/>
          </a:prstGeom>
          <a:solidFill>
            <a:srgbClr val="16B8A6"/>
          </a:solidFill>
          <a:ln/>
        </p:spPr>
      </p:sp>
      <p:sp>
        <p:nvSpPr>
          <p:cNvPr id="34" name="Text 32"/>
          <p:cNvSpPr/>
          <p:nvPr/>
        </p:nvSpPr>
        <p:spPr>
          <a:xfrm>
            <a:off x="6949440" y="2715768"/>
            <a:ext cx="310896" cy="310896"/>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1</a:t>
            </a:r>
            <a:endParaRPr lang="en-US" sz="1200" dirty="0"/>
          </a:p>
        </p:txBody>
      </p:sp>
      <p:sp>
        <p:nvSpPr>
          <p:cNvPr id="35" name="Text 33"/>
          <p:cNvSpPr/>
          <p:nvPr/>
        </p:nvSpPr>
        <p:spPr>
          <a:xfrm>
            <a:off x="7360920" y="2679192"/>
            <a:ext cx="4114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Sub-check pass rate  </a:t>
            </a:r>
            <a:pPr indent="0" marL="0">
              <a:buNone/>
            </a:pPr>
            <a:r>
              <a:rPr lang="en-US" sz="1050" dirty="0">
                <a:solidFill>
                  <a:srgbClr val="CFE0F0"/>
                </a:solidFill>
                <a:latin typeface="Calibri" pitchFamily="34" charset="0"/>
                <a:ea typeface="Calibri" pitchFamily="34" charset="-122"/>
                <a:cs typeface="Calibri" pitchFamily="34" charset="-120"/>
              </a:rPr>
              <a:t>each dimension scored 0–1 from evidence found</a:t>
            </a:r>
            <a:endParaRPr lang="en-US" sz="1200" dirty="0"/>
          </a:p>
        </p:txBody>
      </p:sp>
      <p:sp>
        <p:nvSpPr>
          <p:cNvPr id="36" name="Shape 34"/>
          <p:cNvSpPr/>
          <p:nvPr/>
        </p:nvSpPr>
        <p:spPr>
          <a:xfrm>
            <a:off x="6949440" y="3127248"/>
            <a:ext cx="310896" cy="310896"/>
          </a:xfrm>
          <a:prstGeom prst="ellipse">
            <a:avLst/>
          </a:prstGeom>
          <a:solidFill>
            <a:srgbClr val="16B8A6"/>
          </a:solidFill>
          <a:ln/>
        </p:spPr>
      </p:sp>
      <p:sp>
        <p:nvSpPr>
          <p:cNvPr id="37" name="Text 35"/>
          <p:cNvSpPr/>
          <p:nvPr/>
        </p:nvSpPr>
        <p:spPr>
          <a:xfrm>
            <a:off x="6949440" y="3127248"/>
            <a:ext cx="310896" cy="310896"/>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2</a:t>
            </a:r>
            <a:endParaRPr lang="en-US" sz="1200" dirty="0"/>
          </a:p>
        </p:txBody>
      </p:sp>
      <p:sp>
        <p:nvSpPr>
          <p:cNvPr id="38" name="Text 36"/>
          <p:cNvSpPr/>
          <p:nvPr/>
        </p:nvSpPr>
        <p:spPr>
          <a:xfrm>
            <a:off x="7360920" y="3090672"/>
            <a:ext cx="4114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Weighted sum × 100  </a:t>
            </a:r>
            <a:pPr indent="0" marL="0">
              <a:buNone/>
            </a:pPr>
            <a:r>
              <a:rPr lang="en-US" sz="1050" dirty="0">
                <a:solidFill>
                  <a:srgbClr val="CFE0F0"/>
                </a:solidFill>
                <a:latin typeface="Calibri" pitchFamily="34" charset="0"/>
                <a:ea typeface="Calibri" pitchFamily="34" charset="-122"/>
                <a:cs typeface="Calibri" pitchFamily="34" charset="-120"/>
              </a:rPr>
              <a:t>gives the readiness score, 0–100</a:t>
            </a:r>
            <a:endParaRPr lang="en-US" sz="1200" dirty="0"/>
          </a:p>
        </p:txBody>
      </p:sp>
      <p:sp>
        <p:nvSpPr>
          <p:cNvPr id="39" name="Shape 37"/>
          <p:cNvSpPr/>
          <p:nvPr/>
        </p:nvSpPr>
        <p:spPr>
          <a:xfrm>
            <a:off x="6949440" y="3538728"/>
            <a:ext cx="310896" cy="310896"/>
          </a:xfrm>
          <a:prstGeom prst="ellipse">
            <a:avLst/>
          </a:prstGeom>
          <a:solidFill>
            <a:srgbClr val="16B8A6"/>
          </a:solidFill>
          <a:ln/>
        </p:spPr>
      </p:sp>
      <p:sp>
        <p:nvSpPr>
          <p:cNvPr id="40" name="Text 38"/>
          <p:cNvSpPr/>
          <p:nvPr/>
        </p:nvSpPr>
        <p:spPr>
          <a:xfrm>
            <a:off x="6949440" y="3538728"/>
            <a:ext cx="310896" cy="310896"/>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3</a:t>
            </a:r>
            <a:endParaRPr lang="en-US" sz="1200" dirty="0"/>
          </a:p>
        </p:txBody>
      </p:sp>
      <p:sp>
        <p:nvSpPr>
          <p:cNvPr id="41" name="Text 39"/>
          <p:cNvSpPr/>
          <p:nvPr/>
        </p:nvSpPr>
        <p:spPr>
          <a:xfrm>
            <a:off x="7360920" y="3502152"/>
            <a:ext cx="4114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Validator derives RAG  </a:t>
            </a:r>
            <a:pPr indent="0" marL="0">
              <a:buNone/>
            </a:pPr>
            <a:r>
              <a:rPr lang="en-US" sz="1050" dirty="0">
                <a:solidFill>
                  <a:srgbClr val="CFE0F0"/>
                </a:solidFill>
                <a:latin typeface="Calibri" pitchFamily="34" charset="0"/>
                <a:ea typeface="Calibri" pitchFamily="34" charset="-122"/>
                <a:cs typeface="Calibri" pitchFamily="34" charset="-120"/>
              </a:rPr>
              <a:t>from your thresholds — not the model</a:t>
            </a:r>
            <a:endParaRPr lang="en-US" sz="1200" dirty="0"/>
          </a:p>
        </p:txBody>
      </p:sp>
      <p:sp>
        <p:nvSpPr>
          <p:cNvPr id="42" name="Shape 40"/>
          <p:cNvSpPr/>
          <p:nvPr/>
        </p:nvSpPr>
        <p:spPr>
          <a:xfrm>
            <a:off x="6675120" y="4160520"/>
            <a:ext cx="4937760" cy="2103120"/>
          </a:xfrm>
          <a:prstGeom prst="roundRect">
            <a:avLst>
              <a:gd name="adj" fmla="val 3478"/>
            </a:avLst>
          </a:prstGeom>
          <a:solidFill>
            <a:srgbClr val="FFFFFF"/>
          </a:solidFill>
          <a:ln/>
          <a:effectLst>
            <a:outerShdw sx="100000" sy="100000" kx="0" ky="0" algn="bl" rotWithShape="0" blurRad="114300" dist="38100" dir="5400000">
              <a:srgbClr val="000000">
                <a:alpha val="18000"/>
              </a:srgbClr>
            </a:outerShdw>
          </a:effectLst>
        </p:spPr>
      </p:sp>
      <p:sp>
        <p:nvSpPr>
          <p:cNvPr id="43" name="Text 41"/>
          <p:cNvSpPr/>
          <p:nvPr/>
        </p:nvSpPr>
        <p:spPr>
          <a:xfrm>
            <a:off x="6949440" y="4325112"/>
            <a:ext cx="4572000" cy="274320"/>
          </a:xfrm>
          <a:prstGeom prst="rect">
            <a:avLst/>
          </a:prstGeom>
          <a:noFill/>
          <a:ln/>
        </p:spPr>
        <p:txBody>
          <a:bodyPr wrap="square" lIns="0" tIns="0" rIns="0" bIns="0" rtlCol="0" anchor="ctr"/>
          <a:lstStyle/>
          <a:p>
            <a:pPr indent="0" marL="0">
              <a:buNone/>
            </a:pPr>
            <a:r>
              <a:rPr lang="en-US" sz="1200" b="1" spc="150" kern="0" dirty="0">
                <a:solidFill>
                  <a:srgbClr val="16B8A6"/>
                </a:solidFill>
                <a:latin typeface="Calibri" pitchFamily="34" charset="0"/>
                <a:ea typeface="Calibri" pitchFamily="34" charset="-122"/>
                <a:cs typeface="Calibri" pitchFamily="34" charset="-120"/>
              </a:rPr>
              <a:t>RAG THRESHOLDS · TUNABLE</a:t>
            </a:r>
            <a:endParaRPr lang="en-US" sz="1200" dirty="0"/>
          </a:p>
        </p:txBody>
      </p:sp>
      <p:sp>
        <p:nvSpPr>
          <p:cNvPr id="44" name="Shape 42"/>
          <p:cNvSpPr/>
          <p:nvPr/>
        </p:nvSpPr>
        <p:spPr>
          <a:xfrm>
            <a:off x="6949440" y="4727448"/>
            <a:ext cx="219456" cy="219456"/>
          </a:xfrm>
          <a:prstGeom prst="ellipse">
            <a:avLst/>
          </a:prstGeom>
          <a:solidFill>
            <a:srgbClr val="E5484D"/>
          </a:solidFill>
          <a:ln/>
        </p:spPr>
      </p:sp>
      <p:sp>
        <p:nvSpPr>
          <p:cNvPr id="45" name="Text 43"/>
          <p:cNvSpPr/>
          <p:nvPr/>
        </p:nvSpPr>
        <p:spPr>
          <a:xfrm>
            <a:off x="7269480" y="4681728"/>
            <a:ext cx="4114800" cy="274320"/>
          </a:xfrm>
          <a:prstGeom prst="rect">
            <a:avLst/>
          </a:prstGeom>
          <a:noFill/>
          <a:ln/>
        </p:spPr>
        <p:txBody>
          <a:bodyPr wrap="square" lIns="0" tIns="0" rIns="0" bIns="0" rtlCol="0" anchor="ctr"/>
          <a:lstStyle/>
          <a:p>
            <a:pPr indent="0" marL="0">
              <a:buNone/>
            </a:pPr>
            <a:r>
              <a:rPr lang="en-US" sz="1250" b="1" dirty="0">
                <a:solidFill>
                  <a:srgbClr val="E5484D"/>
                </a:solidFill>
                <a:latin typeface="Calibri" pitchFamily="34" charset="0"/>
                <a:ea typeface="Calibri" pitchFamily="34" charset="-122"/>
                <a:cs typeface="Calibri" pitchFamily="34" charset="-120"/>
              </a:rPr>
              <a:t>RED  </a:t>
            </a:r>
            <a:pPr indent="0" marL="0">
              <a:buNone/>
            </a:pPr>
            <a:r>
              <a:rPr lang="en-US" sz="1250" b="1" dirty="0">
                <a:solidFill>
                  <a:srgbClr val="1E2E45"/>
                </a:solidFill>
                <a:latin typeface="Calibri" pitchFamily="34" charset="0"/>
                <a:ea typeface="Calibri" pitchFamily="34" charset="-122"/>
                <a:cs typeface="Calibri" pitchFamily="34" charset="-120"/>
              </a:rPr>
              <a:t>score &lt; 50</a:t>
            </a:r>
            <a:endParaRPr lang="en-US" sz="1250" dirty="0"/>
          </a:p>
        </p:txBody>
      </p:sp>
      <p:sp>
        <p:nvSpPr>
          <p:cNvPr id="46" name="Text 44"/>
          <p:cNvSpPr/>
          <p:nvPr/>
        </p:nvSpPr>
        <p:spPr>
          <a:xfrm>
            <a:off x="7269480" y="4956048"/>
            <a:ext cx="4160520" cy="256032"/>
          </a:xfrm>
          <a:prstGeom prst="rect">
            <a:avLst/>
          </a:prstGeom>
          <a:noFill/>
          <a:ln/>
        </p:spPr>
        <p:txBody>
          <a:bodyPr wrap="square" lIns="0" tIns="0" rIns="0" bIns="0" rtlCol="0" anchor="t"/>
          <a:lstStyle/>
          <a:p>
            <a:pPr indent="0" marL="0">
              <a:buNone/>
            </a:pPr>
            <a:r>
              <a:rPr lang="en-US" sz="1050" dirty="0">
                <a:solidFill>
                  <a:srgbClr val="5B6B80"/>
                </a:solidFill>
                <a:latin typeface="Calibri" pitchFamily="34" charset="0"/>
                <a:ea typeface="Calibri" pitchFamily="34" charset="-122"/>
                <a:cs typeface="Calibri" pitchFamily="34" charset="-120"/>
              </a:rPr>
              <a:t>not ready — do not pull into the sprint</a:t>
            </a:r>
            <a:endParaRPr lang="en-US" sz="1050" dirty="0"/>
          </a:p>
        </p:txBody>
      </p:sp>
      <p:sp>
        <p:nvSpPr>
          <p:cNvPr id="47" name="Shape 45"/>
          <p:cNvSpPr/>
          <p:nvPr/>
        </p:nvSpPr>
        <p:spPr>
          <a:xfrm>
            <a:off x="6949440" y="5276088"/>
            <a:ext cx="219456" cy="219456"/>
          </a:xfrm>
          <a:prstGeom prst="ellipse">
            <a:avLst/>
          </a:prstGeom>
          <a:solidFill>
            <a:srgbClr val="F4B740"/>
          </a:solidFill>
          <a:ln/>
        </p:spPr>
      </p:sp>
      <p:sp>
        <p:nvSpPr>
          <p:cNvPr id="48" name="Text 46"/>
          <p:cNvSpPr/>
          <p:nvPr/>
        </p:nvSpPr>
        <p:spPr>
          <a:xfrm>
            <a:off x="7269480" y="5230368"/>
            <a:ext cx="4114800" cy="274320"/>
          </a:xfrm>
          <a:prstGeom prst="rect">
            <a:avLst/>
          </a:prstGeom>
          <a:noFill/>
          <a:ln/>
        </p:spPr>
        <p:txBody>
          <a:bodyPr wrap="square" lIns="0" tIns="0" rIns="0" bIns="0" rtlCol="0" anchor="ctr"/>
          <a:lstStyle/>
          <a:p>
            <a:pPr indent="0" marL="0">
              <a:buNone/>
            </a:pPr>
            <a:r>
              <a:rPr lang="en-US" sz="1250" b="1" dirty="0">
                <a:solidFill>
                  <a:srgbClr val="F4B740"/>
                </a:solidFill>
                <a:latin typeface="Calibri" pitchFamily="34" charset="0"/>
                <a:ea typeface="Calibri" pitchFamily="34" charset="-122"/>
                <a:cs typeface="Calibri" pitchFamily="34" charset="-120"/>
              </a:rPr>
              <a:t>AMBER  </a:t>
            </a:r>
            <a:pPr indent="0" marL="0">
              <a:buNone/>
            </a:pPr>
            <a:r>
              <a:rPr lang="en-US" sz="1250" b="1" dirty="0">
                <a:solidFill>
                  <a:srgbClr val="1E2E45"/>
                </a:solidFill>
                <a:latin typeface="Calibri" pitchFamily="34" charset="0"/>
                <a:ea typeface="Calibri" pitchFamily="34" charset="-122"/>
                <a:cs typeface="Calibri" pitchFamily="34" charset="-120"/>
              </a:rPr>
              <a:t>50 – 74</a:t>
            </a:r>
            <a:endParaRPr lang="en-US" sz="1250" dirty="0"/>
          </a:p>
        </p:txBody>
      </p:sp>
      <p:sp>
        <p:nvSpPr>
          <p:cNvPr id="49" name="Text 47"/>
          <p:cNvSpPr/>
          <p:nvPr/>
        </p:nvSpPr>
        <p:spPr>
          <a:xfrm>
            <a:off x="7269480" y="5504688"/>
            <a:ext cx="4160520" cy="256032"/>
          </a:xfrm>
          <a:prstGeom prst="rect">
            <a:avLst/>
          </a:prstGeom>
          <a:noFill/>
          <a:ln/>
        </p:spPr>
        <p:txBody>
          <a:bodyPr wrap="square" lIns="0" tIns="0" rIns="0" bIns="0" rtlCol="0" anchor="t"/>
          <a:lstStyle/>
          <a:p>
            <a:pPr indent="0" marL="0">
              <a:buNone/>
            </a:pPr>
            <a:r>
              <a:rPr lang="en-US" sz="1050" dirty="0">
                <a:solidFill>
                  <a:srgbClr val="5B6B80"/>
                </a:solidFill>
                <a:latin typeface="Calibri" pitchFamily="34" charset="0"/>
                <a:ea typeface="Calibri" pitchFamily="34" charset="-122"/>
                <a:cs typeface="Calibri" pitchFamily="34" charset="-120"/>
              </a:rPr>
              <a:t>gaps to resolve in refinement first</a:t>
            </a:r>
            <a:endParaRPr lang="en-US" sz="1050" dirty="0"/>
          </a:p>
        </p:txBody>
      </p:sp>
      <p:sp>
        <p:nvSpPr>
          <p:cNvPr id="50" name="Shape 48"/>
          <p:cNvSpPr/>
          <p:nvPr/>
        </p:nvSpPr>
        <p:spPr>
          <a:xfrm>
            <a:off x="6949440" y="5824728"/>
            <a:ext cx="219456" cy="219456"/>
          </a:xfrm>
          <a:prstGeom prst="ellipse">
            <a:avLst/>
          </a:prstGeom>
          <a:solidFill>
            <a:srgbClr val="3FB950"/>
          </a:solidFill>
          <a:ln/>
        </p:spPr>
      </p:sp>
      <p:sp>
        <p:nvSpPr>
          <p:cNvPr id="51" name="Text 49"/>
          <p:cNvSpPr/>
          <p:nvPr/>
        </p:nvSpPr>
        <p:spPr>
          <a:xfrm>
            <a:off x="7269480" y="5779008"/>
            <a:ext cx="4114800" cy="274320"/>
          </a:xfrm>
          <a:prstGeom prst="rect">
            <a:avLst/>
          </a:prstGeom>
          <a:noFill/>
          <a:ln/>
        </p:spPr>
        <p:txBody>
          <a:bodyPr wrap="square" lIns="0" tIns="0" rIns="0" bIns="0" rtlCol="0" anchor="ctr"/>
          <a:lstStyle/>
          <a:p>
            <a:pPr indent="0" marL="0">
              <a:buNone/>
            </a:pPr>
            <a:r>
              <a:rPr lang="en-US" sz="1250" b="1" dirty="0">
                <a:solidFill>
                  <a:srgbClr val="3FB950"/>
                </a:solidFill>
                <a:latin typeface="Calibri" pitchFamily="34" charset="0"/>
                <a:ea typeface="Calibri" pitchFamily="34" charset="-122"/>
                <a:cs typeface="Calibri" pitchFamily="34" charset="-120"/>
              </a:rPr>
              <a:t>GREEN  </a:t>
            </a:r>
            <a:pPr indent="0" marL="0">
              <a:buNone/>
            </a:pPr>
            <a:r>
              <a:rPr lang="en-US" sz="1250" b="1" dirty="0">
                <a:solidFill>
                  <a:srgbClr val="1E2E45"/>
                </a:solidFill>
                <a:latin typeface="Calibri" pitchFamily="34" charset="0"/>
                <a:ea typeface="Calibri" pitchFamily="34" charset="-122"/>
                <a:cs typeface="Calibri" pitchFamily="34" charset="-120"/>
              </a:rPr>
              <a:t>≥ 75</a:t>
            </a:r>
            <a:endParaRPr lang="en-US" sz="1250" dirty="0"/>
          </a:p>
        </p:txBody>
      </p:sp>
      <p:sp>
        <p:nvSpPr>
          <p:cNvPr id="52" name="Text 50"/>
          <p:cNvSpPr/>
          <p:nvPr/>
        </p:nvSpPr>
        <p:spPr>
          <a:xfrm>
            <a:off x="7269480" y="6053328"/>
            <a:ext cx="4160520" cy="256032"/>
          </a:xfrm>
          <a:prstGeom prst="rect">
            <a:avLst/>
          </a:prstGeom>
          <a:noFill/>
          <a:ln/>
        </p:spPr>
        <p:txBody>
          <a:bodyPr wrap="square" lIns="0" tIns="0" rIns="0" bIns="0" rtlCol="0" anchor="t"/>
          <a:lstStyle/>
          <a:p>
            <a:pPr indent="0" marL="0">
              <a:buNone/>
            </a:pPr>
            <a:r>
              <a:rPr lang="en-US" sz="1050" dirty="0">
                <a:solidFill>
                  <a:srgbClr val="5B6B80"/>
                </a:solidFill>
                <a:latin typeface="Calibri" pitchFamily="34" charset="0"/>
                <a:ea typeface="Calibri" pitchFamily="34" charset="-122"/>
                <a:cs typeface="Calibri" pitchFamily="34" charset="-120"/>
              </a:rPr>
              <a:t>ready — pull with confidence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INTELLECTUAL PROPERTY · 3 OF 3</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Worked example — a real story, scored in one pass</a:t>
            </a:r>
            <a:endParaRPr lang="en-US" sz="3000" dirty="0"/>
          </a:p>
        </p:txBody>
      </p:sp>
      <p:sp>
        <p:nvSpPr>
          <p:cNvPr id="4" name="Shape 2"/>
          <p:cNvSpPr/>
          <p:nvPr/>
        </p:nvSpPr>
        <p:spPr>
          <a:xfrm>
            <a:off x="548640" y="2194560"/>
            <a:ext cx="3977640" cy="4069080"/>
          </a:xfrm>
          <a:prstGeom prst="roundRect">
            <a:avLst>
              <a:gd name="adj" fmla="val 1839"/>
            </a:avLst>
          </a:prstGeom>
          <a:solidFill>
            <a:srgbClr val="FFFFFF"/>
          </a:solidFill>
          <a:ln/>
          <a:effectLst>
            <a:outerShdw sx="100000" sy="100000" kx="0" ky="0" algn="bl" rotWithShape="0" blurRad="114300" dist="38100" dir="5400000">
              <a:srgbClr val="000000">
                <a:alpha val="18000"/>
              </a:srgbClr>
            </a:outerShdw>
          </a:effectLst>
        </p:spPr>
      </p:sp>
      <p:sp>
        <p:nvSpPr>
          <p:cNvPr id="5" name="Text 3"/>
          <p:cNvSpPr/>
          <p:nvPr/>
        </p:nvSpPr>
        <p:spPr>
          <a:xfrm>
            <a:off x="822960" y="2377440"/>
            <a:ext cx="3474720" cy="274320"/>
          </a:xfrm>
          <a:prstGeom prst="rect">
            <a:avLst/>
          </a:prstGeom>
          <a:noFill/>
          <a:ln/>
        </p:spPr>
        <p:txBody>
          <a:bodyPr wrap="square" lIns="0" tIns="0" rIns="0" bIns="0" rtlCol="0" anchor="ctr"/>
          <a:lstStyle/>
          <a:p>
            <a:pPr indent="0" marL="0">
              <a:buNone/>
            </a:pPr>
            <a:r>
              <a:rPr lang="en-US" sz="1150" b="1" spc="100" kern="0" dirty="0">
                <a:solidFill>
                  <a:srgbClr val="16B8A6"/>
                </a:solidFill>
                <a:latin typeface="Calibri" pitchFamily="34" charset="0"/>
                <a:ea typeface="Calibri" pitchFamily="34" charset="-122"/>
                <a:cs typeface="Calibri" pitchFamily="34" charset="-120"/>
              </a:rPr>
              <a:t>INPUT · THE STORY AS WRITTEN</a:t>
            </a:r>
            <a:endParaRPr lang="en-US" sz="1150" dirty="0"/>
          </a:p>
        </p:txBody>
      </p:sp>
      <p:sp>
        <p:nvSpPr>
          <p:cNvPr id="6" name="Text 4"/>
          <p:cNvSpPr/>
          <p:nvPr/>
        </p:nvSpPr>
        <p:spPr>
          <a:xfrm>
            <a:off x="822960" y="2697480"/>
            <a:ext cx="3474720" cy="256032"/>
          </a:xfrm>
          <a:prstGeom prst="rect">
            <a:avLst/>
          </a:prstGeom>
          <a:noFill/>
          <a:ln/>
        </p:spPr>
        <p:txBody>
          <a:bodyPr wrap="square" lIns="0" tIns="0" rIns="0" bIns="0" rtlCol="0" anchor="ctr"/>
          <a:lstStyle/>
          <a:p>
            <a:pPr indent="0" marL="0">
              <a:buNone/>
            </a:pPr>
            <a:r>
              <a:rPr lang="en-US" sz="1200" b="1" dirty="0">
                <a:solidFill>
                  <a:srgbClr val="5B6B80"/>
                </a:solidFill>
                <a:latin typeface="Courier New" pitchFamily="34" charset="0"/>
                <a:ea typeface="Courier New" pitchFamily="34" charset="-122"/>
                <a:cs typeface="Courier New" pitchFamily="34" charset="-120"/>
              </a:rPr>
              <a:t>BEN-1234</a:t>
            </a:r>
            <a:endParaRPr lang="en-US" sz="1200" dirty="0"/>
          </a:p>
        </p:txBody>
      </p:sp>
      <p:sp>
        <p:nvSpPr>
          <p:cNvPr id="7" name="Text 5"/>
          <p:cNvSpPr/>
          <p:nvPr/>
        </p:nvSpPr>
        <p:spPr>
          <a:xfrm>
            <a:off x="822960" y="2999232"/>
            <a:ext cx="3429000" cy="822960"/>
          </a:xfrm>
          <a:prstGeom prst="rect">
            <a:avLst/>
          </a:prstGeom>
          <a:noFill/>
          <a:ln/>
        </p:spPr>
        <p:txBody>
          <a:bodyPr wrap="square" lIns="0" tIns="0" rIns="0" bIns="0" rtlCol="0" anchor="ctr"/>
          <a:lstStyle/>
          <a:p>
            <a:pPr indent="0" marL="0">
              <a:lnSpc>
                <a:spcPct val="108000"/>
              </a:lnSpc>
              <a:buNone/>
            </a:pPr>
            <a:r>
              <a:rPr lang="en-US" sz="1500" b="1" dirty="0">
                <a:solidFill>
                  <a:srgbClr val="1E2E45"/>
                </a:solidFill>
                <a:latin typeface="Calibri" pitchFamily="34" charset="0"/>
                <a:ea typeface="Calibri" pitchFamily="34" charset="-122"/>
                <a:cs typeface="Calibri" pitchFamily="34" charset="-120"/>
              </a:rPr>
              <a:t>“As a member, I want to see my claim status so I know where my claim is.”</a:t>
            </a:r>
            <a:endParaRPr lang="en-US" sz="1500" dirty="0"/>
          </a:p>
        </p:txBody>
      </p:sp>
      <p:sp>
        <p:nvSpPr>
          <p:cNvPr id="8" name="Text 6"/>
          <p:cNvSpPr/>
          <p:nvPr/>
        </p:nvSpPr>
        <p:spPr>
          <a:xfrm>
            <a:off x="822960" y="3886200"/>
            <a:ext cx="3429000" cy="640080"/>
          </a:xfrm>
          <a:prstGeom prst="rect">
            <a:avLst/>
          </a:prstGeom>
          <a:noFill/>
          <a:ln/>
        </p:spPr>
        <p:txBody>
          <a:bodyPr wrap="square" lIns="0" tIns="0" rIns="0" bIns="0" rtlCol="0" anchor="ctr"/>
          <a:lstStyle/>
          <a:p>
            <a:pPr indent="0" marL="0">
              <a:lnSpc>
                <a:spcPct val="105000"/>
              </a:lnSpc>
              <a:buNone/>
            </a:pPr>
            <a:r>
              <a:rPr lang="en-US" sz="1250" dirty="0">
                <a:solidFill>
                  <a:srgbClr val="5B6B80"/>
                </a:solidFill>
                <a:latin typeface="Calibri" pitchFamily="34" charset="0"/>
                <a:ea typeface="Calibri" pitchFamily="34" charset="-122"/>
                <a:cs typeface="Calibri" pitchFamily="34" charset="-120"/>
              </a:rPr>
              <a:t>Acceptance criteria: member can view claim status on the portal.</a:t>
            </a:r>
            <a:endParaRPr lang="en-US" sz="1250" dirty="0"/>
          </a:p>
        </p:txBody>
      </p:sp>
      <p:sp>
        <p:nvSpPr>
          <p:cNvPr id="9" name="Shape 7"/>
          <p:cNvSpPr/>
          <p:nvPr/>
        </p:nvSpPr>
        <p:spPr>
          <a:xfrm>
            <a:off x="822960" y="4892040"/>
            <a:ext cx="3429000" cy="1143000"/>
          </a:xfrm>
          <a:prstGeom prst="roundRect">
            <a:avLst>
              <a:gd name="adj" fmla="val 4800"/>
            </a:avLst>
          </a:prstGeom>
          <a:solidFill>
            <a:srgbClr val="FDF3E0"/>
          </a:solidFill>
          <a:ln/>
        </p:spPr>
      </p:sp>
      <p:sp>
        <p:nvSpPr>
          <p:cNvPr id="10" name="Text 8"/>
          <p:cNvSpPr/>
          <p:nvPr/>
        </p:nvSpPr>
        <p:spPr>
          <a:xfrm>
            <a:off x="1005840" y="5029200"/>
            <a:ext cx="3108960" cy="914400"/>
          </a:xfrm>
          <a:prstGeom prst="rect">
            <a:avLst/>
          </a:prstGeom>
          <a:noFill/>
          <a:ln/>
        </p:spPr>
        <p:txBody>
          <a:bodyPr wrap="square" lIns="0" tIns="0" rIns="0" bIns="0" rtlCol="0" anchor="t"/>
          <a:lstStyle/>
          <a:p>
            <a:pPr indent="0" marL="0">
              <a:lnSpc>
                <a:spcPct val="106000"/>
              </a:lnSpc>
              <a:buNone/>
            </a:pPr>
            <a:r>
              <a:rPr lang="en-US" sz="1150" b="1" dirty="0">
                <a:solidFill>
                  <a:srgbClr val="8A5A00"/>
                </a:solidFill>
                <a:latin typeface="Calibri" pitchFamily="34" charset="0"/>
                <a:ea typeface="Calibri" pitchFamily="34" charset="-122"/>
                <a:cs typeface="Calibri" pitchFamily="34" charset="-120"/>
              </a:rPr>
              <a:t>The catch:  </a:t>
            </a:r>
            <a:pPr indent="0" marL="0">
              <a:lnSpc>
                <a:spcPct val="106000"/>
              </a:lnSpc>
              <a:buNone/>
            </a:pPr>
            <a:r>
              <a:rPr lang="en-US" sz="1150" dirty="0">
                <a:solidFill>
                  <a:srgbClr val="6B4A10"/>
                </a:solidFill>
                <a:latin typeface="Calibri" pitchFamily="34" charset="0"/>
                <a:ea typeface="Calibri" pitchFamily="34" charset="-122"/>
                <a:cs typeface="Calibri" pitchFamily="34" charset="-120"/>
              </a:rPr>
              <a:t>only the success path is implied — no value set, no failure path, no empty state.</a:t>
            </a:r>
            <a:endParaRPr lang="en-US" sz="1150" dirty="0"/>
          </a:p>
        </p:txBody>
      </p:sp>
      <p:sp>
        <p:nvSpPr>
          <p:cNvPr id="11" name="Shape 9"/>
          <p:cNvSpPr/>
          <p:nvPr/>
        </p:nvSpPr>
        <p:spPr>
          <a:xfrm>
            <a:off x="4709160" y="2194560"/>
            <a:ext cx="6903720" cy="4069080"/>
          </a:xfrm>
          <a:prstGeom prst="roundRect">
            <a:avLst>
              <a:gd name="adj" fmla="val 1798"/>
            </a:avLst>
          </a:prstGeom>
          <a:solidFill>
            <a:srgbClr val="0E1A2B"/>
          </a:solidFill>
          <a:ln/>
          <a:effectLst>
            <a:outerShdw sx="100000" sy="100000" kx="0" ky="0" algn="bl" rotWithShape="0" blurRad="114300" dist="38100" dir="5400000">
              <a:srgbClr val="000000">
                <a:alpha val="18000"/>
              </a:srgbClr>
            </a:outerShdw>
          </a:effectLst>
        </p:spPr>
      </p:sp>
      <p:sp>
        <p:nvSpPr>
          <p:cNvPr id="12" name="Text 10"/>
          <p:cNvSpPr/>
          <p:nvPr/>
        </p:nvSpPr>
        <p:spPr>
          <a:xfrm>
            <a:off x="4983480" y="2377440"/>
            <a:ext cx="3657600" cy="274320"/>
          </a:xfrm>
          <a:prstGeom prst="rect">
            <a:avLst/>
          </a:prstGeom>
          <a:noFill/>
          <a:ln/>
        </p:spPr>
        <p:txBody>
          <a:bodyPr wrap="square" lIns="0" tIns="0" rIns="0" bIns="0" rtlCol="0" anchor="ctr"/>
          <a:lstStyle/>
          <a:p>
            <a:pPr indent="0" marL="0">
              <a:buNone/>
            </a:pPr>
            <a:r>
              <a:rPr lang="en-US" sz="1150" b="1" spc="100" kern="0" dirty="0">
                <a:solidFill>
                  <a:srgbClr val="5EEAD4"/>
                </a:solidFill>
                <a:latin typeface="Calibri" pitchFamily="34" charset="0"/>
                <a:ea typeface="Calibri" pitchFamily="34" charset="-122"/>
                <a:cs typeface="Calibri" pitchFamily="34" charset="-120"/>
              </a:rPr>
              <a:t>VERDICT · ABRIDGED</a:t>
            </a:r>
            <a:endParaRPr lang="en-US" sz="1150" dirty="0"/>
          </a:p>
        </p:txBody>
      </p:sp>
      <p:sp>
        <p:nvSpPr>
          <p:cNvPr id="13" name="Text 11"/>
          <p:cNvSpPr/>
          <p:nvPr/>
        </p:nvSpPr>
        <p:spPr>
          <a:xfrm>
            <a:off x="4983480" y="2688336"/>
            <a:ext cx="6400800" cy="274320"/>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readinessScore: 42</a:t>
            </a:r>
            <a:pPr indent="0" marL="0">
              <a:buNone/>
            </a:pPr>
            <a:r>
              <a:rPr lang="en-US" sz="1250" dirty="0">
                <a:solidFill>
                  <a:srgbClr val="CFE0F0"/>
                </a:solidFill>
                <a:latin typeface="Courier New" pitchFamily="34" charset="0"/>
                <a:ea typeface="Courier New" pitchFamily="34" charset="-122"/>
                <a:cs typeface="Courier New" pitchFamily="34" charset="-120"/>
              </a:rPr>
              <a:t>    rag: </a:t>
            </a:r>
            <a:pPr indent="0" marL="0">
              <a:buNone/>
            </a:pPr>
            <a:r>
              <a:rPr lang="en-US" sz="1250" b="1" dirty="0">
                <a:solidFill>
                  <a:srgbClr val="E5484D"/>
                </a:solidFill>
                <a:latin typeface="Courier New" pitchFamily="34" charset="0"/>
                <a:ea typeface="Courier New" pitchFamily="34" charset="-122"/>
                <a:cs typeface="Courier New" pitchFamily="34" charset="-120"/>
              </a:rPr>
              <a:t>RED</a:t>
            </a:r>
            <a:pPr indent="0" marL="0">
              <a:buNone/>
            </a:pPr>
            <a:r>
              <a:rPr lang="en-US" sz="1250" dirty="0">
                <a:solidFill>
                  <a:srgbClr val="CFE0F0"/>
                </a:solidFill>
                <a:latin typeface="Courier New" pitchFamily="34" charset="0"/>
                <a:ea typeface="Courier New" pitchFamily="34" charset="-122"/>
                <a:cs typeface="Courier New" pitchFamily="34" charset="-120"/>
              </a:rPr>
              <a:t>    confidence: 0.83</a:t>
            </a:r>
            <a:endParaRPr lang="en-US" sz="1250" dirty="0"/>
          </a:p>
        </p:txBody>
      </p:sp>
      <p:sp>
        <p:nvSpPr>
          <p:cNvPr id="14" name="Text 12"/>
          <p:cNvSpPr/>
          <p:nvPr/>
        </p:nvSpPr>
        <p:spPr>
          <a:xfrm>
            <a:off x="4983480" y="3072384"/>
            <a:ext cx="6400800" cy="237744"/>
          </a:xfrm>
          <a:prstGeom prst="rect">
            <a:avLst/>
          </a:prstGeom>
          <a:noFill/>
          <a:ln/>
        </p:spPr>
        <p:txBody>
          <a:bodyPr wrap="square" lIns="0" tIns="0" rIns="0" bIns="0" rtlCol="0" anchor="ctr"/>
          <a:lstStyle/>
          <a:p>
            <a:pPr indent="0" marL="0">
              <a:buNone/>
            </a:pPr>
            <a:r>
              <a:rPr lang="en-US" sz="1050" b="1" spc="100" kern="0" dirty="0">
                <a:solidFill>
                  <a:srgbClr val="5EEAD4"/>
                </a:solidFill>
                <a:latin typeface="Calibri" pitchFamily="34" charset="0"/>
                <a:ea typeface="Calibri" pitchFamily="34" charset="-122"/>
                <a:cs typeface="Calibri" pitchFamily="34" charset="-120"/>
              </a:rPr>
              <a:t>GAPS  ·  each with a “why”</a:t>
            </a:r>
            <a:endParaRPr lang="en-US" sz="1050" dirty="0"/>
          </a:p>
        </p:txBody>
      </p:sp>
      <p:sp>
        <p:nvSpPr>
          <p:cNvPr id="15" name="Text 13"/>
          <p:cNvSpPr/>
          <p:nvPr/>
        </p:nvSpPr>
        <p:spPr>
          <a:xfrm>
            <a:off x="4983480" y="3346704"/>
            <a:ext cx="6400800" cy="566928"/>
          </a:xfrm>
          <a:prstGeom prst="rect">
            <a:avLst/>
          </a:prstGeom>
          <a:noFill/>
          <a:ln/>
        </p:spPr>
        <p:txBody>
          <a:bodyPr wrap="square" lIns="0" tIns="0" rIns="0" bIns="0" rtlCol="0" anchor="t"/>
          <a:lstStyle/>
          <a:p>
            <a:pPr indent="0" marL="0">
              <a:lnSpc>
                <a:spcPct val="100000"/>
              </a:lnSpc>
              <a:buNone/>
            </a:pPr>
            <a:r>
              <a:rPr lang="en-US" sz="1100" b="1" dirty="0">
                <a:solidFill>
                  <a:srgbClr val="5EEAD4"/>
                </a:solidFill>
                <a:latin typeface="Calibri" pitchFamily="34" charset="0"/>
                <a:ea typeface="Calibri" pitchFamily="34" charset="-122"/>
                <a:cs typeface="Calibri" pitchFamily="34" charset="-120"/>
              </a:rPr>
              <a:t>Negative paths — </a:t>
            </a:r>
            <a:pPr indent="0" marL="0">
              <a:lnSpc>
                <a:spcPct val="100000"/>
              </a:lnSpc>
              <a:buNone/>
            </a:pPr>
            <a:r>
              <a:rPr lang="en-US" sz="1100" dirty="0">
                <a:solidFill>
                  <a:srgbClr val="FFFFFF"/>
                </a:solidFill>
                <a:latin typeface="Calibri" pitchFamily="34" charset="0"/>
                <a:ea typeface="Calibri" pitchFamily="34" charset="-122"/>
                <a:cs typeface="Calibri" pitchFamily="34" charset="-120"/>
              </a:rPr>
              <a:t>No behaviour when the claim-status service times out</a:t>
            </a:r>
            <a:pPr indent="0" marL="0">
              <a:lnSpc>
                <a:spcPct val="100000"/>
              </a:lnSpc>
              <a:buNone/>
            </a:pPr>
            <a:endParaRPr lang="en-US" sz="1100" dirty="0"/>
          </a:p>
          <a:p>
            <a:pPr indent="0" marL="0">
              <a:lnSpc>
                <a:spcPct val="100000"/>
              </a:lnSpc>
              <a:buNone/>
            </a:pPr>
            <a:r>
              <a:rPr lang="en-US" sz="1000" i="1" dirty="0">
                <a:solidFill>
                  <a:srgbClr val="CFE0F0"/>
                </a:solidFill>
                <a:latin typeface="Calibri" pitchFamily="34" charset="0"/>
                <a:ea typeface="Calibri" pitchFamily="34" charset="-122"/>
                <a:cs typeface="Calibri" pitchFamily="34" charset="-120"/>
              </a:rPr>
              <a:t>why: member sees a blank screen and files a support ticket</a:t>
            </a:r>
            <a:endParaRPr lang="en-US" sz="1100" dirty="0"/>
          </a:p>
        </p:txBody>
      </p:sp>
      <p:sp>
        <p:nvSpPr>
          <p:cNvPr id="16" name="Text 14"/>
          <p:cNvSpPr/>
          <p:nvPr/>
        </p:nvSpPr>
        <p:spPr>
          <a:xfrm>
            <a:off x="4983480" y="3922776"/>
            <a:ext cx="6400800" cy="566928"/>
          </a:xfrm>
          <a:prstGeom prst="rect">
            <a:avLst/>
          </a:prstGeom>
          <a:noFill/>
          <a:ln/>
        </p:spPr>
        <p:txBody>
          <a:bodyPr wrap="square" lIns="0" tIns="0" rIns="0" bIns="0" rtlCol="0" anchor="t"/>
          <a:lstStyle/>
          <a:p>
            <a:pPr indent="0" marL="0">
              <a:lnSpc>
                <a:spcPct val="100000"/>
              </a:lnSpc>
              <a:buNone/>
            </a:pPr>
            <a:r>
              <a:rPr lang="en-US" sz="1100" b="1" dirty="0">
                <a:solidFill>
                  <a:srgbClr val="5EEAD4"/>
                </a:solidFill>
                <a:latin typeface="Calibri" pitchFamily="34" charset="0"/>
                <a:ea typeface="Calibri" pitchFamily="34" charset="-122"/>
                <a:cs typeface="Calibri" pitchFamily="34" charset="-120"/>
              </a:rPr>
              <a:t>Data &amp; field rules — </a:t>
            </a:r>
            <a:pPr indent="0" marL="0">
              <a:lnSpc>
                <a:spcPct val="100000"/>
              </a:lnSpc>
              <a:buNone/>
            </a:pPr>
            <a:r>
              <a:rPr lang="en-US" sz="1100" dirty="0">
                <a:solidFill>
                  <a:srgbClr val="FFFFFF"/>
                </a:solidFill>
                <a:latin typeface="Calibri" pitchFamily="34" charset="0"/>
                <a:ea typeface="Calibri" pitchFamily="34" charset="-122"/>
                <a:cs typeface="Calibri" pitchFamily="34" charset="-120"/>
              </a:rPr>
              <a:t>Status values are not enumerated</a:t>
            </a:r>
            <a:pPr indent="0" marL="0">
              <a:lnSpc>
                <a:spcPct val="100000"/>
              </a:lnSpc>
              <a:buNone/>
            </a:pPr>
            <a:endParaRPr lang="en-US" sz="1100" dirty="0"/>
          </a:p>
          <a:p>
            <a:pPr indent="0" marL="0">
              <a:lnSpc>
                <a:spcPct val="100000"/>
              </a:lnSpc>
              <a:buNone/>
            </a:pPr>
            <a:r>
              <a:rPr lang="en-US" sz="1000" i="1" dirty="0">
                <a:solidFill>
                  <a:srgbClr val="CFE0F0"/>
                </a:solidFill>
                <a:latin typeface="Calibri" pitchFamily="34" charset="0"/>
                <a:ea typeface="Calibri" pitchFamily="34" charset="-122"/>
                <a:cs typeface="Calibri" pitchFamily="34" charset="-120"/>
              </a:rPr>
              <a:t>why: QA cannot assert on undefined states</a:t>
            </a:r>
            <a:endParaRPr lang="en-US" sz="1100" dirty="0"/>
          </a:p>
        </p:txBody>
      </p:sp>
      <p:sp>
        <p:nvSpPr>
          <p:cNvPr id="17" name="Text 15"/>
          <p:cNvSpPr/>
          <p:nvPr/>
        </p:nvSpPr>
        <p:spPr>
          <a:xfrm>
            <a:off x="4983480" y="4498848"/>
            <a:ext cx="6400800" cy="566928"/>
          </a:xfrm>
          <a:prstGeom prst="rect">
            <a:avLst/>
          </a:prstGeom>
          <a:noFill/>
          <a:ln/>
        </p:spPr>
        <p:txBody>
          <a:bodyPr wrap="square" lIns="0" tIns="0" rIns="0" bIns="0" rtlCol="0" anchor="t"/>
          <a:lstStyle/>
          <a:p>
            <a:pPr indent="0" marL="0">
              <a:lnSpc>
                <a:spcPct val="100000"/>
              </a:lnSpc>
              <a:buNone/>
            </a:pPr>
            <a:r>
              <a:rPr lang="en-US" sz="1100" b="1" dirty="0">
                <a:solidFill>
                  <a:srgbClr val="5EEAD4"/>
                </a:solidFill>
                <a:latin typeface="Calibri" pitchFamily="34" charset="0"/>
                <a:ea typeface="Calibri" pitchFamily="34" charset="-122"/>
                <a:cs typeface="Calibri" pitchFamily="34" charset="-120"/>
              </a:rPr>
              <a:t>Edge cases / Testable — </a:t>
            </a:r>
            <a:pPr indent="0" marL="0">
              <a:lnSpc>
                <a:spcPct val="100000"/>
              </a:lnSpc>
              <a:buNone/>
            </a:pPr>
            <a:r>
              <a:rPr lang="en-US" sz="1100" dirty="0">
                <a:solidFill>
                  <a:srgbClr val="FFFFFF"/>
                </a:solidFill>
                <a:latin typeface="Calibri" pitchFamily="34" charset="0"/>
                <a:ea typeface="Calibri" pitchFamily="34" charset="-122"/>
                <a:cs typeface="Calibri" pitchFamily="34" charset="-120"/>
              </a:rPr>
              <a:t>No empty-state for a member with zero claims; no ACs</a:t>
            </a:r>
            <a:pPr indent="0" marL="0">
              <a:lnSpc>
                <a:spcPct val="100000"/>
              </a:lnSpc>
              <a:buNone/>
            </a:pPr>
            <a:endParaRPr lang="en-US" sz="1100" dirty="0"/>
          </a:p>
          <a:p>
            <a:pPr indent="0" marL="0">
              <a:lnSpc>
                <a:spcPct val="100000"/>
              </a:lnSpc>
              <a:buNone/>
            </a:pPr>
            <a:r>
              <a:rPr lang="en-US" sz="1000" i="1" dirty="0">
                <a:solidFill>
                  <a:srgbClr val="CFE0F0"/>
                </a:solidFill>
                <a:latin typeface="Calibri" pitchFamily="34" charset="0"/>
                <a:ea typeface="Calibri" pitchFamily="34" charset="-122"/>
                <a:cs typeface="Calibri" pitchFamily="34" charset="-120"/>
              </a:rPr>
              <a:t>why: only the success path is implied</a:t>
            </a:r>
            <a:endParaRPr lang="en-US" sz="1100" dirty="0"/>
          </a:p>
        </p:txBody>
      </p:sp>
      <p:sp>
        <p:nvSpPr>
          <p:cNvPr id="18" name="Text 16"/>
          <p:cNvSpPr/>
          <p:nvPr/>
        </p:nvSpPr>
        <p:spPr>
          <a:xfrm>
            <a:off x="4983480" y="5102352"/>
            <a:ext cx="6400800" cy="237744"/>
          </a:xfrm>
          <a:prstGeom prst="rect">
            <a:avLst/>
          </a:prstGeom>
          <a:noFill/>
          <a:ln/>
        </p:spPr>
        <p:txBody>
          <a:bodyPr wrap="square" lIns="0" tIns="0" rIns="0" bIns="0" rtlCol="0" anchor="ctr"/>
          <a:lstStyle/>
          <a:p>
            <a:pPr indent="0" marL="0">
              <a:buNone/>
            </a:pPr>
            <a:r>
              <a:rPr lang="en-US" sz="1050" b="1" spc="100" kern="0" dirty="0">
                <a:solidFill>
                  <a:srgbClr val="5EEAD4"/>
                </a:solidFill>
                <a:latin typeface="Calibri" pitchFamily="34" charset="0"/>
                <a:ea typeface="Calibri" pitchFamily="34" charset="-122"/>
                <a:cs typeface="Calibri" pitchFamily="34" charset="-120"/>
              </a:rPr>
              <a:t>DRAFT ACCEPTANCE CRITERIA  ·  sample</a:t>
            </a:r>
            <a:endParaRPr lang="en-US" sz="1050" dirty="0"/>
          </a:p>
        </p:txBody>
      </p:sp>
      <p:sp>
        <p:nvSpPr>
          <p:cNvPr id="19" name="Text 17"/>
          <p:cNvSpPr/>
          <p:nvPr/>
        </p:nvSpPr>
        <p:spPr>
          <a:xfrm>
            <a:off x="4983480" y="5340096"/>
            <a:ext cx="6400800" cy="566928"/>
          </a:xfrm>
          <a:prstGeom prst="rect">
            <a:avLst/>
          </a:prstGeom>
          <a:noFill/>
          <a:ln/>
        </p:spPr>
        <p:txBody>
          <a:bodyPr wrap="square" lIns="0" tIns="0" rIns="0" bIns="0" rtlCol="0" anchor="t"/>
          <a:lstStyle/>
          <a:p>
            <a:pPr indent="0" marL="0">
              <a:lnSpc>
                <a:spcPct val="102000"/>
              </a:lnSpc>
              <a:buNone/>
            </a:pPr>
            <a:r>
              <a:rPr lang="en-US" sz="1000" dirty="0">
                <a:solidFill>
                  <a:srgbClr val="9FE8DD"/>
                </a:solidFill>
                <a:latin typeface="Courier New" pitchFamily="34" charset="0"/>
                <a:ea typeface="Courier New" pitchFamily="34" charset="-122"/>
                <a:cs typeface="Courier New" pitchFamily="34" charset="-120"/>
              </a:rPr>
              <a:t>Given the status service is unavailable / When the member opens Claim Status / Then an inline retry message shows and the error is logged</a:t>
            </a:r>
            <a:endParaRPr lang="en-US" sz="1000" dirty="0"/>
          </a:p>
        </p:txBody>
      </p:sp>
      <p:sp>
        <p:nvSpPr>
          <p:cNvPr id="20" name="Text 18"/>
          <p:cNvSpPr/>
          <p:nvPr/>
        </p:nvSpPr>
        <p:spPr>
          <a:xfrm>
            <a:off x="4983480" y="5888736"/>
            <a:ext cx="6400800" cy="274320"/>
          </a:xfrm>
          <a:prstGeom prst="rect">
            <a:avLst/>
          </a:prstGeom>
          <a:noFill/>
          <a:ln/>
        </p:spPr>
        <p:txBody>
          <a:bodyPr wrap="square" lIns="0" tIns="0" rIns="0" bIns="0" rtlCol="0" anchor="t"/>
          <a:lstStyle/>
          <a:p>
            <a:pPr indent="0" marL="0">
              <a:buNone/>
            </a:pPr>
            <a:r>
              <a:rPr lang="en-US" sz="1050" b="1" dirty="0">
                <a:solidFill>
                  <a:srgbClr val="F4B740"/>
                </a:solidFill>
                <a:latin typeface="Calibri" pitchFamily="34" charset="0"/>
                <a:ea typeface="Calibri" pitchFamily="34" charset="-122"/>
                <a:cs typeface="Calibri" pitchFamily="34" charset="-120"/>
              </a:rPr>
              <a:t>CROSS-STORY FLAG:  </a:t>
            </a:r>
            <a:pPr indent="0" marL="0">
              <a:buNone/>
            </a:pPr>
            <a:r>
              <a:rPr lang="en-US" sz="1050" dirty="0">
                <a:solidFill>
                  <a:srgbClr val="CFE0F0"/>
                </a:solidFill>
                <a:latin typeface="Calibri" pitchFamily="34" charset="0"/>
                <a:ea typeface="Calibri" pitchFamily="34" charset="-122"/>
                <a:cs typeface="Calibri" pitchFamily="34" charset="-120"/>
              </a:rPr>
              <a:t>status value set contradicts the enum on linked parent BEN-1180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AI APPROACH</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How the intelligence works — agentic, grounded, in-boundary</a:t>
            </a:r>
            <a:endParaRPr lang="en-US" sz="3000" dirty="0"/>
          </a:p>
        </p:txBody>
      </p:sp>
      <p:sp>
        <p:nvSpPr>
          <p:cNvPr id="4" name="Text 2"/>
          <p:cNvSpPr/>
          <p:nvPr/>
        </p:nvSpPr>
        <p:spPr>
          <a:xfrm>
            <a:off x="548640" y="1572768"/>
            <a:ext cx="11064240" cy="457200"/>
          </a:xfrm>
          <a:prstGeom prst="rect">
            <a:avLst/>
          </a:prstGeom>
          <a:noFill/>
          <a:ln/>
        </p:spPr>
        <p:txBody>
          <a:bodyPr wrap="square" lIns="0" tIns="0" rIns="0" bIns="0" rtlCol="0" anchor="ctr"/>
          <a:lstStyle/>
          <a:p>
            <a:pPr indent="0" marL="0">
              <a:buNone/>
            </a:pPr>
            <a:r>
              <a:rPr lang="en-US" sz="1350" i="1" dirty="0">
                <a:solidFill>
                  <a:srgbClr val="5B6B80"/>
                </a:solidFill>
                <a:latin typeface="Calibri" pitchFamily="34" charset="0"/>
                <a:ea typeface="Calibri" pitchFamily="34" charset="-122"/>
                <a:cs typeface="Calibri" pitchFamily="34" charset="-120"/>
              </a:rPr>
              <a:t>Not a prompt in a chatbox. A grounded scoring agent with swappable parts: change the model or the surface, keep the rubric.</a:t>
            </a:r>
            <a:endParaRPr lang="en-US" sz="1350" dirty="0"/>
          </a:p>
        </p:txBody>
      </p:sp>
      <p:sp>
        <p:nvSpPr>
          <p:cNvPr id="5" name="Shape 3"/>
          <p:cNvSpPr/>
          <p:nvPr/>
        </p:nvSpPr>
        <p:spPr>
          <a:xfrm>
            <a:off x="548640" y="2148840"/>
            <a:ext cx="5486400" cy="4160520"/>
          </a:xfrm>
          <a:prstGeom prst="roundRect">
            <a:avLst>
              <a:gd name="adj" fmla="val 1758"/>
            </a:avLst>
          </a:prstGeom>
          <a:solidFill>
            <a:srgbClr val="FFFFFF"/>
          </a:solidFill>
          <a:ln/>
          <a:effectLst>
            <a:outerShdw sx="100000" sy="100000" kx="0" ky="0" algn="bl" rotWithShape="0" blurRad="114300" dist="38100" dir="5400000">
              <a:srgbClr val="000000">
                <a:alpha val="18000"/>
              </a:srgbClr>
            </a:outerShdw>
          </a:effectLst>
        </p:spPr>
      </p:sp>
      <p:sp>
        <p:nvSpPr>
          <p:cNvPr id="6" name="Text 4"/>
          <p:cNvSpPr/>
          <p:nvPr/>
        </p:nvSpPr>
        <p:spPr>
          <a:xfrm>
            <a:off x="822960" y="2377440"/>
            <a:ext cx="4937760" cy="274320"/>
          </a:xfrm>
          <a:prstGeom prst="rect">
            <a:avLst/>
          </a:prstGeom>
          <a:noFill/>
          <a:ln/>
        </p:spPr>
        <p:txBody>
          <a:bodyPr wrap="square" lIns="0" tIns="0" rIns="0" bIns="0" rtlCol="0" anchor="ctr"/>
          <a:lstStyle/>
          <a:p>
            <a:pPr indent="0" marL="0">
              <a:buNone/>
            </a:pPr>
            <a:r>
              <a:rPr lang="en-US" sz="1200" b="1" spc="150" kern="0" dirty="0">
                <a:solidFill>
                  <a:srgbClr val="16B8A6"/>
                </a:solidFill>
                <a:latin typeface="Calibri" pitchFamily="34" charset="0"/>
                <a:ea typeface="Calibri" pitchFamily="34" charset="-122"/>
                <a:cs typeface="Calibri" pitchFamily="34" charset="-120"/>
              </a:rPr>
              <a:t>THE APPROACH — TECHNIQUES</a:t>
            </a:r>
            <a:endParaRPr lang="en-US" sz="1200" dirty="0"/>
          </a:p>
        </p:txBody>
      </p:sp>
      <p:sp>
        <p:nvSpPr>
          <p:cNvPr id="7" name="Shape 5"/>
          <p:cNvSpPr/>
          <p:nvPr/>
        </p:nvSpPr>
        <p:spPr>
          <a:xfrm>
            <a:off x="841248" y="2779776"/>
            <a:ext cx="457200" cy="457200"/>
          </a:xfrm>
          <a:prstGeom prst="ellipse">
            <a:avLst/>
          </a:prstGeom>
          <a:solidFill>
            <a:srgbClr val="E7F8F5"/>
          </a:solidFill>
          <a:ln/>
        </p:spPr>
      </p:sp>
      <p:pic>
        <p:nvPicPr>
          <p:cNvPr id="8" name="Image 0" descr="preencoded.png">    </p:cNvPr>
          <p:cNvPicPr>
            <a:picLocks noChangeAspect="1"/>
          </p:cNvPicPr>
          <p:nvPr/>
        </p:nvPicPr>
        <p:blipFill>
          <a:blip r:embed="rId1"/>
          <a:stretch>
            <a:fillRect/>
          </a:stretch>
        </p:blipFill>
        <p:spPr>
          <a:xfrm>
            <a:off x="950976" y="2889504"/>
            <a:ext cx="237744" cy="237744"/>
          </a:xfrm>
          <a:prstGeom prst="rect">
            <a:avLst/>
          </a:prstGeom>
        </p:spPr>
      </p:pic>
      <p:sp>
        <p:nvSpPr>
          <p:cNvPr id="9" name="Text 6"/>
          <p:cNvSpPr/>
          <p:nvPr/>
        </p:nvSpPr>
        <p:spPr>
          <a:xfrm>
            <a:off x="1463040" y="2724912"/>
            <a:ext cx="4434840" cy="292608"/>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Agentic, not a chatbot</a:t>
            </a:r>
            <a:endParaRPr lang="en-US" sz="1400" dirty="0"/>
          </a:p>
        </p:txBody>
      </p:sp>
      <p:sp>
        <p:nvSpPr>
          <p:cNvPr id="10" name="Text 7"/>
          <p:cNvSpPr/>
          <p:nvPr/>
        </p:nvSpPr>
        <p:spPr>
          <a:xfrm>
            <a:off x="1463040" y="3017520"/>
            <a:ext cx="4480560" cy="457200"/>
          </a:xfrm>
          <a:prstGeom prst="rect">
            <a:avLst/>
          </a:prstGeom>
          <a:noFill/>
          <a:ln/>
        </p:spPr>
        <p:txBody>
          <a:bodyPr wrap="square" lIns="0" tIns="0" rIns="0" bIns="0" rtlCol="0" anchor="t"/>
          <a:lstStyle/>
          <a:p>
            <a:pPr indent="0" marL="0">
              <a:lnSpc>
                <a:spcPct val="100000"/>
              </a:lnSpc>
              <a:buNone/>
            </a:pPr>
            <a:r>
              <a:rPr lang="en-US" sz="1130" dirty="0">
                <a:solidFill>
                  <a:srgbClr val="5B6B80"/>
                </a:solidFill>
                <a:latin typeface="Calibri" pitchFamily="34" charset="0"/>
                <a:ea typeface="Calibri" pitchFamily="34" charset="-122"/>
                <a:cs typeface="Calibri" pitchFamily="34" charset="-120"/>
              </a:rPr>
              <a:t>Reads the live backlog in batch over MCP — no copy-paste.</a:t>
            </a:r>
            <a:endParaRPr lang="en-US" sz="1130" dirty="0"/>
          </a:p>
        </p:txBody>
      </p:sp>
      <p:sp>
        <p:nvSpPr>
          <p:cNvPr id="11" name="Shape 8"/>
          <p:cNvSpPr/>
          <p:nvPr/>
        </p:nvSpPr>
        <p:spPr>
          <a:xfrm>
            <a:off x="841248" y="3474720"/>
            <a:ext cx="457200" cy="457200"/>
          </a:xfrm>
          <a:prstGeom prst="ellipse">
            <a:avLst/>
          </a:prstGeom>
          <a:solidFill>
            <a:srgbClr val="E7F8F5"/>
          </a:solidFill>
          <a:ln/>
        </p:spPr>
      </p:sp>
      <p:pic>
        <p:nvPicPr>
          <p:cNvPr id="12" name="Image 1" descr="preencoded.png">    </p:cNvPr>
          <p:cNvPicPr>
            <a:picLocks noChangeAspect="1"/>
          </p:cNvPicPr>
          <p:nvPr/>
        </p:nvPicPr>
        <p:blipFill>
          <a:blip r:embed="rId2"/>
          <a:stretch>
            <a:fillRect/>
          </a:stretch>
        </p:blipFill>
        <p:spPr>
          <a:xfrm>
            <a:off x="950976" y="3584448"/>
            <a:ext cx="237744" cy="237744"/>
          </a:xfrm>
          <a:prstGeom prst="rect">
            <a:avLst/>
          </a:prstGeom>
        </p:spPr>
      </p:pic>
      <p:sp>
        <p:nvSpPr>
          <p:cNvPr id="13" name="Text 9"/>
          <p:cNvSpPr/>
          <p:nvPr/>
        </p:nvSpPr>
        <p:spPr>
          <a:xfrm>
            <a:off x="1463040" y="3419856"/>
            <a:ext cx="4434840" cy="292608"/>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Rubric-grounded scoring</a:t>
            </a:r>
            <a:endParaRPr lang="en-US" sz="1400" dirty="0"/>
          </a:p>
        </p:txBody>
      </p:sp>
      <p:sp>
        <p:nvSpPr>
          <p:cNvPr id="14" name="Text 10"/>
          <p:cNvSpPr/>
          <p:nvPr/>
        </p:nvSpPr>
        <p:spPr>
          <a:xfrm>
            <a:off x="1463040" y="3712464"/>
            <a:ext cx="4480560" cy="457200"/>
          </a:xfrm>
          <a:prstGeom prst="rect">
            <a:avLst/>
          </a:prstGeom>
          <a:noFill/>
          <a:ln/>
        </p:spPr>
        <p:txBody>
          <a:bodyPr wrap="square" lIns="0" tIns="0" rIns="0" bIns="0" rtlCol="0" anchor="t"/>
          <a:lstStyle/>
          <a:p>
            <a:pPr indent="0" marL="0">
              <a:lnSpc>
                <a:spcPct val="100000"/>
              </a:lnSpc>
              <a:buNone/>
            </a:pPr>
            <a:r>
              <a:rPr lang="en-US" sz="1130" dirty="0">
                <a:solidFill>
                  <a:srgbClr val="5B6B80"/>
                </a:solidFill>
                <a:latin typeface="Calibri" pitchFamily="34" charset="0"/>
                <a:ea typeface="Calibri" pitchFamily="34" charset="-122"/>
                <a:cs typeface="Calibri" pitchFamily="34" charset="-120"/>
              </a:rPr>
              <a:t>System prompt carries the fixed IP; the story is the only variable.</a:t>
            </a:r>
            <a:endParaRPr lang="en-US" sz="1130" dirty="0"/>
          </a:p>
        </p:txBody>
      </p:sp>
      <p:sp>
        <p:nvSpPr>
          <p:cNvPr id="15" name="Shape 11"/>
          <p:cNvSpPr/>
          <p:nvPr/>
        </p:nvSpPr>
        <p:spPr>
          <a:xfrm>
            <a:off x="841248" y="4169664"/>
            <a:ext cx="457200" cy="457200"/>
          </a:xfrm>
          <a:prstGeom prst="ellipse">
            <a:avLst/>
          </a:prstGeom>
          <a:solidFill>
            <a:srgbClr val="E7F8F5"/>
          </a:solidFill>
          <a:ln/>
        </p:spPr>
      </p:sp>
      <p:pic>
        <p:nvPicPr>
          <p:cNvPr id="16" name="Image 2" descr="preencoded.png">    </p:cNvPr>
          <p:cNvPicPr>
            <a:picLocks noChangeAspect="1"/>
          </p:cNvPicPr>
          <p:nvPr/>
        </p:nvPicPr>
        <p:blipFill>
          <a:blip r:embed="rId3"/>
          <a:stretch>
            <a:fillRect/>
          </a:stretch>
        </p:blipFill>
        <p:spPr>
          <a:xfrm>
            <a:off x="950976" y="4279392"/>
            <a:ext cx="237744" cy="237744"/>
          </a:xfrm>
          <a:prstGeom prst="rect">
            <a:avLst/>
          </a:prstGeom>
        </p:spPr>
      </p:pic>
      <p:sp>
        <p:nvSpPr>
          <p:cNvPr id="17" name="Text 12"/>
          <p:cNvSpPr/>
          <p:nvPr/>
        </p:nvSpPr>
        <p:spPr>
          <a:xfrm>
            <a:off x="1463040" y="4114800"/>
            <a:ext cx="4434840" cy="292608"/>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Few-shot grounded</a:t>
            </a:r>
            <a:endParaRPr lang="en-US" sz="1400" dirty="0"/>
          </a:p>
        </p:txBody>
      </p:sp>
      <p:sp>
        <p:nvSpPr>
          <p:cNvPr id="18" name="Text 13"/>
          <p:cNvSpPr/>
          <p:nvPr/>
        </p:nvSpPr>
        <p:spPr>
          <a:xfrm>
            <a:off x="1463040" y="4407408"/>
            <a:ext cx="4480560" cy="457200"/>
          </a:xfrm>
          <a:prstGeom prst="rect">
            <a:avLst/>
          </a:prstGeom>
          <a:noFill/>
          <a:ln/>
        </p:spPr>
        <p:txBody>
          <a:bodyPr wrap="square" lIns="0" tIns="0" rIns="0" bIns="0" rtlCol="0" anchor="t"/>
          <a:lstStyle/>
          <a:p>
            <a:pPr indent="0" marL="0">
              <a:lnSpc>
                <a:spcPct val="100000"/>
              </a:lnSpc>
              <a:buNone/>
            </a:pPr>
            <a:r>
              <a:rPr lang="en-US" sz="1130" dirty="0">
                <a:solidFill>
                  <a:srgbClr val="5B6B80"/>
                </a:solidFill>
                <a:latin typeface="Calibri" pitchFamily="34" charset="0"/>
                <a:ea typeface="Calibri" pitchFamily="34" charset="-122"/>
                <a:cs typeface="Calibri" pitchFamily="34" charset="-120"/>
              </a:rPr>
              <a:t>Good &amp; bad golden examples + a domain DoR template cut hallucinated edge cases.</a:t>
            </a:r>
            <a:endParaRPr lang="en-US" sz="1130" dirty="0"/>
          </a:p>
        </p:txBody>
      </p:sp>
      <p:sp>
        <p:nvSpPr>
          <p:cNvPr id="19" name="Shape 14"/>
          <p:cNvSpPr/>
          <p:nvPr/>
        </p:nvSpPr>
        <p:spPr>
          <a:xfrm>
            <a:off x="841248" y="4864608"/>
            <a:ext cx="457200" cy="457200"/>
          </a:xfrm>
          <a:prstGeom prst="ellipse">
            <a:avLst/>
          </a:prstGeom>
          <a:solidFill>
            <a:srgbClr val="E7F8F5"/>
          </a:solidFill>
          <a:ln/>
        </p:spPr>
      </p:sp>
      <p:pic>
        <p:nvPicPr>
          <p:cNvPr id="20" name="Image 3" descr="preencoded.png">    </p:cNvPr>
          <p:cNvPicPr>
            <a:picLocks noChangeAspect="1"/>
          </p:cNvPicPr>
          <p:nvPr/>
        </p:nvPicPr>
        <p:blipFill>
          <a:blip r:embed="rId4"/>
          <a:stretch>
            <a:fillRect/>
          </a:stretch>
        </p:blipFill>
        <p:spPr>
          <a:xfrm>
            <a:off x="950976" y="4974336"/>
            <a:ext cx="237744" cy="237744"/>
          </a:xfrm>
          <a:prstGeom prst="rect">
            <a:avLst/>
          </a:prstGeom>
        </p:spPr>
      </p:pic>
      <p:sp>
        <p:nvSpPr>
          <p:cNvPr id="21" name="Text 15"/>
          <p:cNvSpPr/>
          <p:nvPr/>
        </p:nvSpPr>
        <p:spPr>
          <a:xfrm>
            <a:off x="1463040" y="4809744"/>
            <a:ext cx="4434840" cy="292608"/>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Schema-forced output</a:t>
            </a:r>
            <a:endParaRPr lang="en-US" sz="1400" dirty="0"/>
          </a:p>
        </p:txBody>
      </p:sp>
      <p:sp>
        <p:nvSpPr>
          <p:cNvPr id="22" name="Text 16"/>
          <p:cNvSpPr/>
          <p:nvPr/>
        </p:nvSpPr>
        <p:spPr>
          <a:xfrm>
            <a:off x="1463040" y="5102352"/>
            <a:ext cx="4480560" cy="457200"/>
          </a:xfrm>
          <a:prstGeom prst="rect">
            <a:avLst/>
          </a:prstGeom>
          <a:noFill/>
          <a:ln/>
        </p:spPr>
        <p:txBody>
          <a:bodyPr wrap="square" lIns="0" tIns="0" rIns="0" bIns="0" rtlCol="0" anchor="t"/>
          <a:lstStyle/>
          <a:p>
            <a:pPr indent="0" marL="0">
              <a:lnSpc>
                <a:spcPct val="100000"/>
              </a:lnSpc>
              <a:buNone/>
            </a:pPr>
            <a:r>
              <a:rPr lang="en-US" sz="1130" dirty="0">
                <a:solidFill>
                  <a:srgbClr val="5B6B80"/>
                </a:solidFill>
                <a:latin typeface="Calibri" pitchFamily="34" charset="0"/>
                <a:ea typeface="Calibri" pitchFamily="34" charset="-122"/>
                <a:cs typeface="Calibri" pitchFamily="34" charset="-120"/>
              </a:rPr>
              <a:t>JSON-only with one repair retry — deterministic, machine-parseable verdict.</a:t>
            </a:r>
            <a:endParaRPr lang="en-US" sz="1130" dirty="0"/>
          </a:p>
        </p:txBody>
      </p:sp>
      <p:sp>
        <p:nvSpPr>
          <p:cNvPr id="23" name="Shape 17"/>
          <p:cNvSpPr/>
          <p:nvPr/>
        </p:nvSpPr>
        <p:spPr>
          <a:xfrm>
            <a:off x="841248" y="5559552"/>
            <a:ext cx="457200" cy="457200"/>
          </a:xfrm>
          <a:prstGeom prst="ellipse">
            <a:avLst/>
          </a:prstGeom>
          <a:solidFill>
            <a:srgbClr val="E7F8F5"/>
          </a:solidFill>
          <a:ln/>
        </p:spPr>
      </p:sp>
      <p:pic>
        <p:nvPicPr>
          <p:cNvPr id="24" name="Image 4" descr="preencoded.png">    </p:cNvPr>
          <p:cNvPicPr>
            <a:picLocks noChangeAspect="1"/>
          </p:cNvPicPr>
          <p:nvPr/>
        </p:nvPicPr>
        <p:blipFill>
          <a:blip r:embed="rId5"/>
          <a:stretch>
            <a:fillRect/>
          </a:stretch>
        </p:blipFill>
        <p:spPr>
          <a:xfrm>
            <a:off x="950976" y="5669280"/>
            <a:ext cx="237744" cy="237744"/>
          </a:xfrm>
          <a:prstGeom prst="rect">
            <a:avLst/>
          </a:prstGeom>
        </p:spPr>
      </p:pic>
      <p:sp>
        <p:nvSpPr>
          <p:cNvPr id="25" name="Text 18"/>
          <p:cNvSpPr/>
          <p:nvPr/>
        </p:nvSpPr>
        <p:spPr>
          <a:xfrm>
            <a:off x="1463040" y="5504688"/>
            <a:ext cx="4434840" cy="292608"/>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In-boundary &amp; tunable</a:t>
            </a:r>
            <a:endParaRPr lang="en-US" sz="1400" dirty="0"/>
          </a:p>
        </p:txBody>
      </p:sp>
      <p:sp>
        <p:nvSpPr>
          <p:cNvPr id="26" name="Text 19"/>
          <p:cNvSpPr/>
          <p:nvPr/>
        </p:nvSpPr>
        <p:spPr>
          <a:xfrm>
            <a:off x="1463040" y="5797296"/>
            <a:ext cx="4480560" cy="457200"/>
          </a:xfrm>
          <a:prstGeom prst="rect">
            <a:avLst/>
          </a:prstGeom>
          <a:noFill/>
          <a:ln/>
        </p:spPr>
        <p:txBody>
          <a:bodyPr wrap="square" lIns="0" tIns="0" rIns="0" bIns="0" rtlCol="0" anchor="t"/>
          <a:lstStyle/>
          <a:p>
            <a:pPr indent="0" marL="0">
              <a:lnSpc>
                <a:spcPct val="100000"/>
              </a:lnSpc>
              <a:buNone/>
            </a:pPr>
            <a:r>
              <a:rPr lang="en-US" sz="1130" dirty="0">
                <a:solidFill>
                  <a:srgbClr val="5B6B80"/>
                </a:solidFill>
                <a:latin typeface="Calibri" pitchFamily="34" charset="0"/>
                <a:ea typeface="Calibri" pitchFamily="34" charset="-122"/>
                <a:cs typeface="Calibri" pitchFamily="34" charset="-120"/>
              </a:rPr>
              <a:t>Client-approved LLM, low temp (~0.2); RAG derived from your thresholds.</a:t>
            </a:r>
            <a:endParaRPr lang="en-US" sz="1130" dirty="0"/>
          </a:p>
        </p:txBody>
      </p:sp>
      <p:sp>
        <p:nvSpPr>
          <p:cNvPr id="27" name="Shape 20"/>
          <p:cNvSpPr/>
          <p:nvPr/>
        </p:nvSpPr>
        <p:spPr>
          <a:xfrm>
            <a:off x="6217920" y="2148840"/>
            <a:ext cx="5394960" cy="4160520"/>
          </a:xfrm>
          <a:prstGeom prst="roundRect">
            <a:avLst>
              <a:gd name="adj" fmla="val 1758"/>
            </a:avLst>
          </a:prstGeom>
          <a:solidFill>
            <a:srgbClr val="0E1A2B"/>
          </a:solidFill>
          <a:ln/>
          <a:effectLst>
            <a:outerShdw sx="100000" sy="100000" kx="0" ky="0" algn="bl" rotWithShape="0" blurRad="114300" dist="38100" dir="5400000">
              <a:srgbClr val="000000">
                <a:alpha val="18000"/>
              </a:srgbClr>
            </a:outerShdw>
          </a:effectLst>
        </p:spPr>
      </p:sp>
      <p:sp>
        <p:nvSpPr>
          <p:cNvPr id="28" name="Text 21"/>
          <p:cNvSpPr/>
          <p:nvPr/>
        </p:nvSpPr>
        <p:spPr>
          <a:xfrm>
            <a:off x="6492240" y="2377440"/>
            <a:ext cx="4846320" cy="274320"/>
          </a:xfrm>
          <a:prstGeom prst="rect">
            <a:avLst/>
          </a:prstGeom>
          <a:noFill/>
          <a:ln/>
        </p:spPr>
        <p:txBody>
          <a:bodyPr wrap="square" lIns="0" tIns="0" rIns="0" bIns="0" rtlCol="0" anchor="ctr"/>
          <a:lstStyle/>
          <a:p>
            <a:pPr indent="0" marL="0">
              <a:buNone/>
            </a:pPr>
            <a:r>
              <a:rPr lang="en-US" sz="1200" b="1" spc="150" kern="0" dirty="0">
                <a:solidFill>
                  <a:srgbClr val="5EEAD4"/>
                </a:solidFill>
                <a:latin typeface="Calibri" pitchFamily="34" charset="0"/>
                <a:ea typeface="Calibri" pitchFamily="34" charset="-122"/>
                <a:cs typeface="Calibri" pitchFamily="34" charset="-120"/>
              </a:rPr>
              <a:t>AI COMPONENTS — THE STACK</a:t>
            </a:r>
            <a:endParaRPr lang="en-US" sz="1200" dirty="0"/>
          </a:p>
        </p:txBody>
      </p:sp>
      <p:sp>
        <p:nvSpPr>
          <p:cNvPr id="29" name="Shape 22"/>
          <p:cNvSpPr/>
          <p:nvPr/>
        </p:nvSpPr>
        <p:spPr>
          <a:xfrm>
            <a:off x="6510528" y="2779776"/>
            <a:ext cx="457200" cy="457200"/>
          </a:xfrm>
          <a:prstGeom prst="ellipse">
            <a:avLst/>
          </a:prstGeom>
          <a:solidFill>
            <a:srgbClr val="17263B"/>
          </a:solidFill>
          <a:ln/>
        </p:spPr>
      </p:sp>
      <p:pic>
        <p:nvPicPr>
          <p:cNvPr id="30" name="Image 5" descr="preencoded.png">    </p:cNvPr>
          <p:cNvPicPr>
            <a:picLocks noChangeAspect="1"/>
          </p:cNvPicPr>
          <p:nvPr/>
        </p:nvPicPr>
        <p:blipFill>
          <a:blip r:embed="rId6"/>
          <a:stretch>
            <a:fillRect/>
          </a:stretch>
        </p:blipFill>
        <p:spPr>
          <a:xfrm>
            <a:off x="6620256" y="2889504"/>
            <a:ext cx="237744" cy="237744"/>
          </a:xfrm>
          <a:prstGeom prst="rect">
            <a:avLst/>
          </a:prstGeom>
        </p:spPr>
      </p:pic>
      <p:sp>
        <p:nvSpPr>
          <p:cNvPr id="31" name="Text 23"/>
          <p:cNvSpPr/>
          <p:nvPr/>
        </p:nvSpPr>
        <p:spPr>
          <a:xfrm>
            <a:off x="7132320" y="2724912"/>
            <a:ext cx="4343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Scoring Engine (LLM)</a:t>
            </a:r>
            <a:endParaRPr lang="en-US" sz="1400" dirty="0"/>
          </a:p>
        </p:txBody>
      </p:sp>
      <p:sp>
        <p:nvSpPr>
          <p:cNvPr id="32" name="Text 24"/>
          <p:cNvSpPr/>
          <p:nvPr/>
        </p:nvSpPr>
        <p:spPr>
          <a:xfrm>
            <a:off x="7132320" y="3017520"/>
            <a:ext cx="4389120" cy="457200"/>
          </a:xfrm>
          <a:prstGeom prst="rect">
            <a:avLst/>
          </a:prstGeom>
          <a:noFill/>
          <a:ln/>
        </p:spPr>
        <p:txBody>
          <a:bodyPr wrap="square" lIns="0" tIns="0" rIns="0" bIns="0" rtlCol="0" anchor="t"/>
          <a:lstStyle/>
          <a:p>
            <a:pPr indent="0" marL="0">
              <a:lnSpc>
                <a:spcPct val="100000"/>
              </a:lnSpc>
              <a:buNone/>
            </a:pPr>
            <a:r>
              <a:rPr lang="en-US" sz="1130" dirty="0">
                <a:solidFill>
                  <a:srgbClr val="CFE0F0"/>
                </a:solidFill>
                <a:latin typeface="Calibri" pitchFamily="34" charset="0"/>
                <a:ea typeface="Calibri" pitchFamily="34" charset="-122"/>
                <a:cs typeface="Calibri" pitchFamily="34" charset="-120"/>
              </a:rPr>
              <a:t>Claude — in-boundary via Bedrock / Vertex / OCI, HIPAA-eligible</a:t>
            </a:r>
            <a:endParaRPr lang="en-US" sz="1130" dirty="0"/>
          </a:p>
        </p:txBody>
      </p:sp>
      <p:sp>
        <p:nvSpPr>
          <p:cNvPr id="33" name="Shape 25"/>
          <p:cNvSpPr/>
          <p:nvPr/>
        </p:nvSpPr>
        <p:spPr>
          <a:xfrm>
            <a:off x="6510528" y="3474720"/>
            <a:ext cx="457200" cy="457200"/>
          </a:xfrm>
          <a:prstGeom prst="ellipse">
            <a:avLst/>
          </a:prstGeom>
          <a:solidFill>
            <a:srgbClr val="17263B"/>
          </a:solidFill>
          <a:ln/>
        </p:spPr>
      </p:sp>
      <p:pic>
        <p:nvPicPr>
          <p:cNvPr id="34" name="Image 6" descr="preencoded.png">    </p:cNvPr>
          <p:cNvPicPr>
            <a:picLocks noChangeAspect="1"/>
          </p:cNvPicPr>
          <p:nvPr/>
        </p:nvPicPr>
        <p:blipFill>
          <a:blip r:embed="rId7"/>
          <a:stretch>
            <a:fillRect/>
          </a:stretch>
        </p:blipFill>
        <p:spPr>
          <a:xfrm>
            <a:off x="6620256" y="3584448"/>
            <a:ext cx="237744" cy="237744"/>
          </a:xfrm>
          <a:prstGeom prst="rect">
            <a:avLst/>
          </a:prstGeom>
        </p:spPr>
      </p:pic>
      <p:sp>
        <p:nvSpPr>
          <p:cNvPr id="35" name="Text 26"/>
          <p:cNvSpPr/>
          <p:nvPr/>
        </p:nvSpPr>
        <p:spPr>
          <a:xfrm>
            <a:off x="7132320" y="3419856"/>
            <a:ext cx="4343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Prompt Assembler</a:t>
            </a:r>
            <a:endParaRPr lang="en-US" sz="1400" dirty="0"/>
          </a:p>
        </p:txBody>
      </p:sp>
      <p:sp>
        <p:nvSpPr>
          <p:cNvPr id="36" name="Text 27"/>
          <p:cNvSpPr/>
          <p:nvPr/>
        </p:nvSpPr>
        <p:spPr>
          <a:xfrm>
            <a:off x="7132320" y="3712464"/>
            <a:ext cx="4389120" cy="457200"/>
          </a:xfrm>
          <a:prstGeom prst="rect">
            <a:avLst/>
          </a:prstGeom>
          <a:noFill/>
          <a:ln/>
        </p:spPr>
        <p:txBody>
          <a:bodyPr wrap="square" lIns="0" tIns="0" rIns="0" bIns="0" rtlCol="0" anchor="t"/>
          <a:lstStyle/>
          <a:p>
            <a:pPr indent="0" marL="0">
              <a:lnSpc>
                <a:spcPct val="100000"/>
              </a:lnSpc>
              <a:buNone/>
            </a:pPr>
            <a:r>
              <a:rPr lang="en-US" sz="1130" dirty="0">
                <a:solidFill>
                  <a:srgbClr val="CFE0F0"/>
                </a:solidFill>
                <a:latin typeface="Calibri" pitchFamily="34" charset="0"/>
                <a:ea typeface="Calibri" pitchFamily="34" charset="-122"/>
                <a:cs typeface="Calibri" pitchFamily="34" charset="-120"/>
              </a:rPr>
              <a:t>Bundle + rubric + few-shot → JSON-only</a:t>
            </a:r>
            <a:endParaRPr lang="en-US" sz="1130" dirty="0"/>
          </a:p>
        </p:txBody>
      </p:sp>
      <p:sp>
        <p:nvSpPr>
          <p:cNvPr id="37" name="Shape 28"/>
          <p:cNvSpPr/>
          <p:nvPr/>
        </p:nvSpPr>
        <p:spPr>
          <a:xfrm>
            <a:off x="6510528" y="4169664"/>
            <a:ext cx="457200" cy="457200"/>
          </a:xfrm>
          <a:prstGeom prst="ellipse">
            <a:avLst/>
          </a:prstGeom>
          <a:solidFill>
            <a:srgbClr val="17263B"/>
          </a:solidFill>
          <a:ln/>
        </p:spPr>
      </p:sp>
      <p:pic>
        <p:nvPicPr>
          <p:cNvPr id="38" name="Image 7" descr="preencoded.png">    </p:cNvPr>
          <p:cNvPicPr>
            <a:picLocks noChangeAspect="1"/>
          </p:cNvPicPr>
          <p:nvPr/>
        </p:nvPicPr>
        <p:blipFill>
          <a:blip r:embed="rId8"/>
          <a:stretch>
            <a:fillRect/>
          </a:stretch>
        </p:blipFill>
        <p:spPr>
          <a:xfrm>
            <a:off x="6620256" y="4279392"/>
            <a:ext cx="237744" cy="237744"/>
          </a:xfrm>
          <a:prstGeom prst="rect">
            <a:avLst/>
          </a:prstGeom>
        </p:spPr>
      </p:pic>
      <p:sp>
        <p:nvSpPr>
          <p:cNvPr id="39" name="Text 29"/>
          <p:cNvSpPr/>
          <p:nvPr/>
        </p:nvSpPr>
        <p:spPr>
          <a:xfrm>
            <a:off x="7132320" y="4114800"/>
            <a:ext cx="4343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Rubric &amp; Few-Shot Store</a:t>
            </a:r>
            <a:endParaRPr lang="en-US" sz="1400" dirty="0"/>
          </a:p>
        </p:txBody>
      </p:sp>
      <p:sp>
        <p:nvSpPr>
          <p:cNvPr id="40" name="Text 30"/>
          <p:cNvSpPr/>
          <p:nvPr/>
        </p:nvSpPr>
        <p:spPr>
          <a:xfrm>
            <a:off x="7132320" y="4407408"/>
            <a:ext cx="4389120" cy="457200"/>
          </a:xfrm>
          <a:prstGeom prst="rect">
            <a:avLst/>
          </a:prstGeom>
          <a:noFill/>
          <a:ln/>
        </p:spPr>
        <p:txBody>
          <a:bodyPr wrap="square" lIns="0" tIns="0" rIns="0" bIns="0" rtlCol="0" anchor="t"/>
          <a:lstStyle/>
          <a:p>
            <a:pPr indent="0" marL="0">
              <a:lnSpc>
                <a:spcPct val="100000"/>
              </a:lnSpc>
              <a:buNone/>
            </a:pPr>
            <a:r>
              <a:rPr lang="en-US" sz="1130" dirty="0">
                <a:solidFill>
                  <a:srgbClr val="CFE0F0"/>
                </a:solidFill>
                <a:latin typeface="Calibri" pitchFamily="34" charset="0"/>
                <a:ea typeface="Calibri" pitchFamily="34" charset="-122"/>
                <a:cs typeface="Calibri" pitchFamily="34" charset="-120"/>
              </a:rPr>
              <a:t>DoR rubric · domain template · golden examples</a:t>
            </a:r>
            <a:endParaRPr lang="en-US" sz="1130" dirty="0"/>
          </a:p>
        </p:txBody>
      </p:sp>
      <p:sp>
        <p:nvSpPr>
          <p:cNvPr id="41" name="Shape 31"/>
          <p:cNvSpPr/>
          <p:nvPr/>
        </p:nvSpPr>
        <p:spPr>
          <a:xfrm>
            <a:off x="6510528" y="4864608"/>
            <a:ext cx="457200" cy="457200"/>
          </a:xfrm>
          <a:prstGeom prst="ellipse">
            <a:avLst/>
          </a:prstGeom>
          <a:solidFill>
            <a:srgbClr val="17263B"/>
          </a:solidFill>
          <a:ln/>
        </p:spPr>
      </p:sp>
      <p:pic>
        <p:nvPicPr>
          <p:cNvPr id="42" name="Image 8" descr="preencoded.png">    </p:cNvPr>
          <p:cNvPicPr>
            <a:picLocks noChangeAspect="1"/>
          </p:cNvPicPr>
          <p:nvPr/>
        </p:nvPicPr>
        <p:blipFill>
          <a:blip r:embed="rId9"/>
          <a:stretch>
            <a:fillRect/>
          </a:stretch>
        </p:blipFill>
        <p:spPr>
          <a:xfrm>
            <a:off x="6620256" y="4974336"/>
            <a:ext cx="237744" cy="237744"/>
          </a:xfrm>
          <a:prstGeom prst="rect">
            <a:avLst/>
          </a:prstGeom>
        </p:spPr>
      </p:pic>
      <p:sp>
        <p:nvSpPr>
          <p:cNvPr id="43" name="Text 32"/>
          <p:cNvSpPr/>
          <p:nvPr/>
        </p:nvSpPr>
        <p:spPr>
          <a:xfrm>
            <a:off x="7132320" y="4809744"/>
            <a:ext cx="4343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Verdict Validator</a:t>
            </a:r>
            <a:endParaRPr lang="en-US" sz="1400" dirty="0"/>
          </a:p>
        </p:txBody>
      </p:sp>
      <p:sp>
        <p:nvSpPr>
          <p:cNvPr id="44" name="Text 33"/>
          <p:cNvSpPr/>
          <p:nvPr/>
        </p:nvSpPr>
        <p:spPr>
          <a:xfrm>
            <a:off x="7132320" y="5102352"/>
            <a:ext cx="4389120" cy="457200"/>
          </a:xfrm>
          <a:prstGeom prst="rect">
            <a:avLst/>
          </a:prstGeom>
          <a:noFill/>
          <a:ln/>
        </p:spPr>
        <p:txBody>
          <a:bodyPr wrap="square" lIns="0" tIns="0" rIns="0" bIns="0" rtlCol="0" anchor="t"/>
          <a:lstStyle/>
          <a:p>
            <a:pPr indent="0" marL="0">
              <a:lnSpc>
                <a:spcPct val="100000"/>
              </a:lnSpc>
              <a:buNone/>
            </a:pPr>
            <a:r>
              <a:rPr lang="en-US" sz="1130" dirty="0">
                <a:solidFill>
                  <a:srgbClr val="CFE0F0"/>
                </a:solidFill>
                <a:latin typeface="Calibri" pitchFamily="34" charset="0"/>
                <a:ea typeface="Calibri" pitchFamily="34" charset="-122"/>
                <a:cs typeface="Calibri" pitchFamily="34" charset="-120"/>
              </a:rPr>
              <a:t>Schema check · repair retry · RAG derivation (pydantic)</a:t>
            </a:r>
            <a:endParaRPr lang="en-US" sz="1130" dirty="0"/>
          </a:p>
        </p:txBody>
      </p:sp>
      <p:sp>
        <p:nvSpPr>
          <p:cNvPr id="45" name="Shape 34"/>
          <p:cNvSpPr/>
          <p:nvPr/>
        </p:nvSpPr>
        <p:spPr>
          <a:xfrm>
            <a:off x="6510528" y="5559552"/>
            <a:ext cx="457200" cy="457200"/>
          </a:xfrm>
          <a:prstGeom prst="ellipse">
            <a:avLst/>
          </a:prstGeom>
          <a:solidFill>
            <a:srgbClr val="17263B"/>
          </a:solidFill>
          <a:ln/>
        </p:spPr>
      </p:sp>
      <p:pic>
        <p:nvPicPr>
          <p:cNvPr id="46" name="Image 9" descr="preencoded.png">    </p:cNvPr>
          <p:cNvPicPr>
            <a:picLocks noChangeAspect="1"/>
          </p:cNvPicPr>
          <p:nvPr/>
        </p:nvPicPr>
        <p:blipFill>
          <a:blip r:embed="rId10"/>
          <a:stretch>
            <a:fillRect/>
          </a:stretch>
        </p:blipFill>
        <p:spPr>
          <a:xfrm>
            <a:off x="6620256" y="5669280"/>
            <a:ext cx="237744" cy="237744"/>
          </a:xfrm>
          <a:prstGeom prst="rect">
            <a:avLst/>
          </a:prstGeom>
        </p:spPr>
      </p:pic>
      <p:sp>
        <p:nvSpPr>
          <p:cNvPr id="47" name="Text 35"/>
          <p:cNvSpPr/>
          <p:nvPr/>
        </p:nvSpPr>
        <p:spPr>
          <a:xfrm>
            <a:off x="7132320" y="5504688"/>
            <a:ext cx="4343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 Orchestrator</a:t>
            </a:r>
            <a:endParaRPr lang="en-US" sz="1400" dirty="0"/>
          </a:p>
        </p:txBody>
      </p:sp>
      <p:sp>
        <p:nvSpPr>
          <p:cNvPr id="48" name="Text 36"/>
          <p:cNvSpPr/>
          <p:nvPr/>
        </p:nvSpPr>
        <p:spPr>
          <a:xfrm>
            <a:off x="7132320" y="5797296"/>
            <a:ext cx="4389120" cy="457200"/>
          </a:xfrm>
          <a:prstGeom prst="rect">
            <a:avLst/>
          </a:prstGeom>
          <a:noFill/>
          <a:ln/>
        </p:spPr>
        <p:txBody>
          <a:bodyPr wrap="square" lIns="0" tIns="0" rIns="0" bIns="0" rtlCol="0" anchor="t"/>
          <a:lstStyle/>
          <a:p>
            <a:pPr indent="0" marL="0">
              <a:lnSpc>
                <a:spcPct val="100000"/>
              </a:lnSpc>
              <a:buNone/>
            </a:pPr>
            <a:r>
              <a:rPr lang="en-US" sz="1130" dirty="0">
                <a:solidFill>
                  <a:srgbClr val="CFE0F0"/>
                </a:solidFill>
                <a:latin typeface="Calibri" pitchFamily="34" charset="0"/>
                <a:ea typeface="Calibri" pitchFamily="34" charset="-122"/>
                <a:cs typeface="Calibri" pitchFamily="34" charset="-120"/>
              </a:rPr>
              <a:t>Batch loop + async scoring pool over the sprint</a:t>
            </a:r>
            <a:endParaRPr lang="en-US" sz="11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TECHNICAL FEASIBILITY</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Architecture — an agent over MCP-connected Jira</a:t>
            </a:r>
            <a:endParaRPr lang="en-US" sz="3000" dirty="0"/>
          </a:p>
        </p:txBody>
      </p:sp>
      <p:sp>
        <p:nvSpPr>
          <p:cNvPr id="4" name="Text 2"/>
          <p:cNvSpPr/>
          <p:nvPr/>
        </p:nvSpPr>
        <p:spPr>
          <a:xfrm>
            <a:off x="566928" y="1371600"/>
            <a:ext cx="10972800" cy="457200"/>
          </a:xfrm>
          <a:prstGeom prst="rect">
            <a:avLst/>
          </a:prstGeom>
          <a:noFill/>
          <a:ln/>
        </p:spPr>
        <p:txBody>
          <a:bodyPr wrap="square" lIns="0" tIns="0" rIns="0" bIns="0" rtlCol="0" anchor="ctr"/>
          <a:lstStyle/>
          <a:p>
            <a:pPr indent="0" marL="0">
              <a:buNone/>
            </a:pPr>
            <a:r>
              <a:rPr lang="en-US" sz="1400" dirty="0">
                <a:solidFill>
                  <a:srgbClr val="CFE0F0"/>
                </a:solidFill>
                <a:latin typeface="Calibri" pitchFamily="34" charset="0"/>
                <a:ea typeface="Calibri" pitchFamily="34" charset="-122"/>
                <a:cs typeface="Calibri" pitchFamily="34" charset="-120"/>
              </a:rPr>
              <a:t>Loosely coupled by design: the rubric is the intelligence, MCP is plumbing, the LLM is a swappable engine. Inference stays inside the client tenant.</a:t>
            </a:r>
            <a:endParaRPr lang="en-US" sz="1400" dirty="0"/>
          </a:p>
        </p:txBody>
      </p:sp>
      <p:sp>
        <p:nvSpPr>
          <p:cNvPr id="5" name="Shape 3"/>
          <p:cNvSpPr/>
          <p:nvPr/>
        </p:nvSpPr>
        <p:spPr>
          <a:xfrm>
            <a:off x="548640" y="2148840"/>
            <a:ext cx="2697480" cy="3063240"/>
          </a:xfrm>
          <a:prstGeom prst="roundRect">
            <a:avLst>
              <a:gd name="adj" fmla="val 2712"/>
            </a:avLst>
          </a:prstGeom>
          <a:solidFill>
            <a:srgbClr val="17263B"/>
          </a:solidFill>
          <a:ln/>
          <a:effectLst>
            <a:outerShdw sx="100000" sy="100000" kx="0" ky="0" algn="bl" rotWithShape="0" blurRad="114300" dist="38100" dir="5400000">
              <a:srgbClr val="000000">
                <a:alpha val="18000"/>
              </a:srgbClr>
            </a:outerShdw>
          </a:effectLst>
        </p:spPr>
      </p:sp>
      <p:sp>
        <p:nvSpPr>
          <p:cNvPr id="6" name="Shape 4"/>
          <p:cNvSpPr/>
          <p:nvPr/>
        </p:nvSpPr>
        <p:spPr>
          <a:xfrm>
            <a:off x="841248" y="2468880"/>
            <a:ext cx="685800" cy="685800"/>
          </a:xfrm>
          <a:prstGeom prst="ellipse">
            <a:avLst/>
          </a:prstGeom>
          <a:solidFill>
            <a:srgbClr val="16B8A6"/>
          </a:solidFill>
          <a:ln/>
        </p:spPr>
      </p:sp>
      <p:pic>
        <p:nvPicPr>
          <p:cNvPr id="7" name="Image 0" descr="preencoded.png">    </p:cNvPr>
          <p:cNvPicPr>
            <a:picLocks noChangeAspect="1"/>
          </p:cNvPicPr>
          <p:nvPr/>
        </p:nvPicPr>
        <p:blipFill>
          <a:blip r:embed="rId1"/>
          <a:stretch>
            <a:fillRect/>
          </a:stretch>
        </p:blipFill>
        <p:spPr>
          <a:xfrm>
            <a:off x="996696" y="2624328"/>
            <a:ext cx="374904" cy="374904"/>
          </a:xfrm>
          <a:prstGeom prst="rect">
            <a:avLst/>
          </a:prstGeom>
        </p:spPr>
      </p:pic>
      <p:sp>
        <p:nvSpPr>
          <p:cNvPr id="8" name="Text 5"/>
          <p:cNvSpPr/>
          <p:nvPr/>
        </p:nvSpPr>
        <p:spPr>
          <a:xfrm>
            <a:off x="822960" y="3291840"/>
            <a:ext cx="2148840" cy="320040"/>
          </a:xfrm>
          <a:prstGeom prst="rect">
            <a:avLst/>
          </a:prstGeom>
          <a:noFill/>
          <a:ln/>
        </p:spPr>
        <p:txBody>
          <a:bodyPr wrap="square" lIns="0" tIns="0" rIns="0" bIns="0" rtlCol="0" anchor="ctr"/>
          <a:lstStyle/>
          <a:p>
            <a:pPr indent="0" marL="0">
              <a:buNone/>
            </a:pPr>
            <a:r>
              <a:rPr lang="en-US" sz="1500" b="1" spc="200" kern="0" dirty="0">
                <a:solidFill>
                  <a:srgbClr val="16B8A6"/>
                </a:solidFill>
                <a:latin typeface="Calibri" pitchFamily="34" charset="0"/>
                <a:ea typeface="Calibri" pitchFamily="34" charset="-122"/>
                <a:cs typeface="Calibri" pitchFamily="34" charset="-120"/>
              </a:rPr>
              <a:t>INGEST</a:t>
            </a:r>
            <a:endParaRPr lang="en-US" sz="1500" dirty="0"/>
          </a:p>
        </p:txBody>
      </p:sp>
      <p:sp>
        <p:nvSpPr>
          <p:cNvPr id="9" name="Text 6"/>
          <p:cNvSpPr/>
          <p:nvPr/>
        </p:nvSpPr>
        <p:spPr>
          <a:xfrm>
            <a:off x="822960" y="3611880"/>
            <a:ext cx="2148840" cy="292608"/>
          </a:xfrm>
          <a:prstGeom prst="rect">
            <a:avLst/>
          </a:prstGeom>
          <a:noFill/>
          <a:ln/>
        </p:spPr>
        <p:txBody>
          <a:bodyPr wrap="square" lIns="0" tIns="0" rIns="0" bIns="0" rtlCol="0" anchor="ctr"/>
          <a:lstStyle/>
          <a:p>
            <a:pPr indent="0" marL="0">
              <a:buNone/>
            </a:pPr>
            <a:r>
              <a:rPr lang="en-US" sz="1250" i="1" dirty="0">
                <a:solidFill>
                  <a:srgbClr val="CFE0F0"/>
                </a:solidFill>
                <a:latin typeface="Calibri" pitchFamily="34" charset="0"/>
                <a:ea typeface="Calibri" pitchFamily="34" charset="-122"/>
                <a:cs typeface="Calibri" pitchFamily="34" charset="-120"/>
              </a:rPr>
              <a:t>Pull from Jira</a:t>
            </a:r>
            <a:endParaRPr lang="en-US" sz="1250" dirty="0"/>
          </a:p>
        </p:txBody>
      </p:sp>
      <p:sp>
        <p:nvSpPr>
          <p:cNvPr id="10" name="Text 7"/>
          <p:cNvSpPr/>
          <p:nvPr/>
        </p:nvSpPr>
        <p:spPr>
          <a:xfrm>
            <a:off x="822960" y="3959352"/>
            <a:ext cx="2194560" cy="1143000"/>
          </a:xfrm>
          <a:prstGeom prst="rect">
            <a:avLst/>
          </a:prstGeom>
          <a:noFill/>
          <a:ln/>
        </p:spPr>
        <p:txBody>
          <a:bodyPr wrap="square" lIns="0" tIns="0" rIns="0" bIns="0" rtlCol="0" anchor="t"/>
          <a:lstStyle/>
          <a:p>
            <a:pPr indent="0" marL="0">
              <a:lnSpc>
                <a:spcPct val="110000"/>
              </a:lnSpc>
              <a:buNone/>
            </a:pPr>
            <a:r>
              <a:rPr lang="en-US" sz="1180" dirty="0">
                <a:solidFill>
                  <a:srgbClr val="CFE0F0"/>
                </a:solidFill>
                <a:latin typeface="Calibri" pitchFamily="34" charset="0"/>
                <a:ea typeface="Calibri" pitchFamily="34" charset="-122"/>
                <a:cs typeface="Calibri" pitchFamily="34" charset="-120"/>
              </a:rPr>
              <a:t>search_issues (JQL) → get_issue / comments / linked issues → normalise into one StoryBundle.</a:t>
            </a:r>
            <a:endParaRPr lang="en-US" sz="1180" dirty="0"/>
          </a:p>
        </p:txBody>
      </p:sp>
      <p:pic>
        <p:nvPicPr>
          <p:cNvPr id="11" name="Image 1" descr="preencoded.png">    </p:cNvPr>
          <p:cNvPicPr>
            <a:picLocks noChangeAspect="1"/>
          </p:cNvPicPr>
          <p:nvPr/>
        </p:nvPicPr>
        <p:blipFill>
          <a:blip r:embed="rId2"/>
          <a:stretch>
            <a:fillRect/>
          </a:stretch>
        </p:blipFill>
        <p:spPr>
          <a:xfrm>
            <a:off x="3264408" y="3474720"/>
            <a:ext cx="201168" cy="201168"/>
          </a:xfrm>
          <a:prstGeom prst="rect">
            <a:avLst/>
          </a:prstGeom>
        </p:spPr>
      </p:pic>
      <p:sp>
        <p:nvSpPr>
          <p:cNvPr id="12" name="Shape 8"/>
          <p:cNvSpPr/>
          <p:nvPr/>
        </p:nvSpPr>
        <p:spPr>
          <a:xfrm>
            <a:off x="3493008" y="2148840"/>
            <a:ext cx="2697480" cy="3063240"/>
          </a:xfrm>
          <a:prstGeom prst="roundRect">
            <a:avLst>
              <a:gd name="adj" fmla="val 2712"/>
            </a:avLst>
          </a:prstGeom>
          <a:solidFill>
            <a:srgbClr val="17263B"/>
          </a:solidFill>
          <a:ln/>
          <a:effectLst>
            <a:outerShdw sx="100000" sy="100000" kx="0" ky="0" algn="bl" rotWithShape="0" blurRad="114300" dist="38100" dir="5400000">
              <a:srgbClr val="000000">
                <a:alpha val="18000"/>
              </a:srgbClr>
            </a:outerShdw>
          </a:effectLst>
        </p:spPr>
      </p:sp>
      <p:sp>
        <p:nvSpPr>
          <p:cNvPr id="13" name="Shape 9"/>
          <p:cNvSpPr/>
          <p:nvPr/>
        </p:nvSpPr>
        <p:spPr>
          <a:xfrm>
            <a:off x="3785616" y="2468880"/>
            <a:ext cx="685800" cy="685800"/>
          </a:xfrm>
          <a:prstGeom prst="ellipse">
            <a:avLst/>
          </a:prstGeom>
          <a:solidFill>
            <a:srgbClr val="5EEAD4"/>
          </a:solidFill>
          <a:ln/>
        </p:spPr>
      </p:sp>
      <p:pic>
        <p:nvPicPr>
          <p:cNvPr id="14" name="Image 2" descr="preencoded.png">    </p:cNvPr>
          <p:cNvPicPr>
            <a:picLocks noChangeAspect="1"/>
          </p:cNvPicPr>
          <p:nvPr/>
        </p:nvPicPr>
        <p:blipFill>
          <a:blip r:embed="rId3"/>
          <a:stretch>
            <a:fillRect/>
          </a:stretch>
        </p:blipFill>
        <p:spPr>
          <a:xfrm>
            <a:off x="3941064" y="2624328"/>
            <a:ext cx="374904" cy="374904"/>
          </a:xfrm>
          <a:prstGeom prst="rect">
            <a:avLst/>
          </a:prstGeom>
        </p:spPr>
      </p:pic>
      <p:sp>
        <p:nvSpPr>
          <p:cNvPr id="15" name="Text 10"/>
          <p:cNvSpPr/>
          <p:nvPr/>
        </p:nvSpPr>
        <p:spPr>
          <a:xfrm>
            <a:off x="3767328" y="3291840"/>
            <a:ext cx="2148840" cy="320040"/>
          </a:xfrm>
          <a:prstGeom prst="rect">
            <a:avLst/>
          </a:prstGeom>
          <a:noFill/>
          <a:ln/>
        </p:spPr>
        <p:txBody>
          <a:bodyPr wrap="square" lIns="0" tIns="0" rIns="0" bIns="0" rtlCol="0" anchor="ctr"/>
          <a:lstStyle/>
          <a:p>
            <a:pPr indent="0" marL="0">
              <a:buNone/>
            </a:pPr>
            <a:r>
              <a:rPr lang="en-US" sz="1500" b="1" spc="200" kern="0" dirty="0">
                <a:solidFill>
                  <a:srgbClr val="5EEAD4"/>
                </a:solidFill>
                <a:latin typeface="Calibri" pitchFamily="34" charset="0"/>
                <a:ea typeface="Calibri" pitchFamily="34" charset="-122"/>
                <a:cs typeface="Calibri" pitchFamily="34" charset="-120"/>
              </a:rPr>
              <a:t>REASON</a:t>
            </a:r>
            <a:endParaRPr lang="en-US" sz="1500" dirty="0"/>
          </a:p>
        </p:txBody>
      </p:sp>
      <p:sp>
        <p:nvSpPr>
          <p:cNvPr id="16" name="Text 11"/>
          <p:cNvSpPr/>
          <p:nvPr/>
        </p:nvSpPr>
        <p:spPr>
          <a:xfrm>
            <a:off x="3767328" y="3611880"/>
            <a:ext cx="2148840" cy="292608"/>
          </a:xfrm>
          <a:prstGeom prst="rect">
            <a:avLst/>
          </a:prstGeom>
          <a:noFill/>
          <a:ln/>
        </p:spPr>
        <p:txBody>
          <a:bodyPr wrap="square" lIns="0" tIns="0" rIns="0" bIns="0" rtlCol="0" anchor="ctr"/>
          <a:lstStyle/>
          <a:p>
            <a:pPr indent="0" marL="0">
              <a:buNone/>
            </a:pPr>
            <a:r>
              <a:rPr lang="en-US" sz="1250" i="1" dirty="0">
                <a:solidFill>
                  <a:srgbClr val="CFE0F0"/>
                </a:solidFill>
                <a:latin typeface="Calibri" pitchFamily="34" charset="0"/>
                <a:ea typeface="Calibri" pitchFamily="34" charset="-122"/>
                <a:cs typeface="Calibri" pitchFamily="34" charset="-120"/>
              </a:rPr>
              <a:t>Score the rubric</a:t>
            </a:r>
            <a:endParaRPr lang="en-US" sz="1250" dirty="0"/>
          </a:p>
        </p:txBody>
      </p:sp>
      <p:sp>
        <p:nvSpPr>
          <p:cNvPr id="17" name="Text 12"/>
          <p:cNvSpPr/>
          <p:nvPr/>
        </p:nvSpPr>
        <p:spPr>
          <a:xfrm>
            <a:off x="3767328" y="3959352"/>
            <a:ext cx="2194560" cy="1143000"/>
          </a:xfrm>
          <a:prstGeom prst="rect">
            <a:avLst/>
          </a:prstGeom>
          <a:noFill/>
          <a:ln/>
        </p:spPr>
        <p:txBody>
          <a:bodyPr wrap="square" lIns="0" tIns="0" rIns="0" bIns="0" rtlCol="0" anchor="t"/>
          <a:lstStyle/>
          <a:p>
            <a:pPr indent="0" marL="0">
              <a:lnSpc>
                <a:spcPct val="110000"/>
              </a:lnSpc>
              <a:buNone/>
            </a:pPr>
            <a:r>
              <a:rPr lang="en-US" sz="1180" dirty="0">
                <a:solidFill>
                  <a:srgbClr val="CFE0F0"/>
                </a:solidFill>
                <a:latin typeface="Calibri" pitchFamily="34" charset="0"/>
                <a:ea typeface="Calibri" pitchFamily="34" charset="-122"/>
                <a:cs typeface="Calibri" pitchFamily="34" charset="-120"/>
              </a:rPr>
              <a:t>Claude, in-boundary, low temp, schema-forced JSON. Validator repairs &amp; derives RAG from thresholds.</a:t>
            </a:r>
            <a:endParaRPr lang="en-US" sz="1180" dirty="0"/>
          </a:p>
        </p:txBody>
      </p:sp>
      <p:pic>
        <p:nvPicPr>
          <p:cNvPr id="18" name="Image 3" descr="preencoded.png">    </p:cNvPr>
          <p:cNvPicPr>
            <a:picLocks noChangeAspect="1"/>
          </p:cNvPicPr>
          <p:nvPr/>
        </p:nvPicPr>
        <p:blipFill>
          <a:blip r:embed="rId4"/>
          <a:stretch>
            <a:fillRect/>
          </a:stretch>
        </p:blipFill>
        <p:spPr>
          <a:xfrm>
            <a:off x="6208776" y="3474720"/>
            <a:ext cx="201168" cy="201168"/>
          </a:xfrm>
          <a:prstGeom prst="rect">
            <a:avLst/>
          </a:prstGeom>
        </p:spPr>
      </p:pic>
      <p:sp>
        <p:nvSpPr>
          <p:cNvPr id="19" name="Shape 13"/>
          <p:cNvSpPr/>
          <p:nvPr/>
        </p:nvSpPr>
        <p:spPr>
          <a:xfrm>
            <a:off x="6437376" y="2148840"/>
            <a:ext cx="2697480" cy="3063240"/>
          </a:xfrm>
          <a:prstGeom prst="roundRect">
            <a:avLst>
              <a:gd name="adj" fmla="val 2712"/>
            </a:avLst>
          </a:prstGeom>
          <a:solidFill>
            <a:srgbClr val="17263B"/>
          </a:solidFill>
          <a:ln/>
          <a:effectLst>
            <a:outerShdw sx="100000" sy="100000" kx="0" ky="0" algn="bl" rotWithShape="0" blurRad="114300" dist="38100" dir="5400000">
              <a:srgbClr val="000000">
                <a:alpha val="18000"/>
              </a:srgbClr>
            </a:outerShdw>
          </a:effectLst>
        </p:spPr>
      </p:sp>
      <p:sp>
        <p:nvSpPr>
          <p:cNvPr id="20" name="Shape 14"/>
          <p:cNvSpPr/>
          <p:nvPr/>
        </p:nvSpPr>
        <p:spPr>
          <a:xfrm>
            <a:off x="6729984" y="2468880"/>
            <a:ext cx="685800" cy="685800"/>
          </a:xfrm>
          <a:prstGeom prst="ellipse">
            <a:avLst/>
          </a:prstGeom>
          <a:solidFill>
            <a:srgbClr val="8AD8FF"/>
          </a:solidFill>
          <a:ln/>
        </p:spPr>
      </p:sp>
      <p:pic>
        <p:nvPicPr>
          <p:cNvPr id="21" name="Image 4" descr="preencoded.png">    </p:cNvPr>
          <p:cNvPicPr>
            <a:picLocks noChangeAspect="1"/>
          </p:cNvPicPr>
          <p:nvPr/>
        </p:nvPicPr>
        <p:blipFill>
          <a:blip r:embed="rId5"/>
          <a:stretch>
            <a:fillRect/>
          </a:stretch>
        </p:blipFill>
        <p:spPr>
          <a:xfrm>
            <a:off x="6885432" y="2624328"/>
            <a:ext cx="374904" cy="374904"/>
          </a:xfrm>
          <a:prstGeom prst="rect">
            <a:avLst/>
          </a:prstGeom>
        </p:spPr>
      </p:pic>
      <p:sp>
        <p:nvSpPr>
          <p:cNvPr id="22" name="Text 15"/>
          <p:cNvSpPr/>
          <p:nvPr/>
        </p:nvSpPr>
        <p:spPr>
          <a:xfrm>
            <a:off x="6711696" y="3291840"/>
            <a:ext cx="2148840" cy="320040"/>
          </a:xfrm>
          <a:prstGeom prst="rect">
            <a:avLst/>
          </a:prstGeom>
          <a:noFill/>
          <a:ln/>
        </p:spPr>
        <p:txBody>
          <a:bodyPr wrap="square" lIns="0" tIns="0" rIns="0" bIns="0" rtlCol="0" anchor="ctr"/>
          <a:lstStyle/>
          <a:p>
            <a:pPr indent="0" marL="0">
              <a:buNone/>
            </a:pPr>
            <a:r>
              <a:rPr lang="en-US" sz="1500" b="1" spc="200" kern="0" dirty="0">
                <a:solidFill>
                  <a:srgbClr val="8AD8FF"/>
                </a:solidFill>
                <a:latin typeface="Calibri" pitchFamily="34" charset="0"/>
                <a:ea typeface="Calibri" pitchFamily="34" charset="-122"/>
                <a:cs typeface="Calibri" pitchFamily="34" charset="-120"/>
              </a:rPr>
              <a:t>SERVE</a:t>
            </a:r>
            <a:endParaRPr lang="en-US" sz="1500" dirty="0"/>
          </a:p>
        </p:txBody>
      </p:sp>
      <p:sp>
        <p:nvSpPr>
          <p:cNvPr id="23" name="Text 16"/>
          <p:cNvSpPr/>
          <p:nvPr/>
        </p:nvSpPr>
        <p:spPr>
          <a:xfrm>
            <a:off x="6711696" y="3611880"/>
            <a:ext cx="2148840" cy="292608"/>
          </a:xfrm>
          <a:prstGeom prst="rect">
            <a:avLst/>
          </a:prstGeom>
          <a:noFill/>
          <a:ln/>
        </p:spPr>
        <p:txBody>
          <a:bodyPr wrap="square" lIns="0" tIns="0" rIns="0" bIns="0" rtlCol="0" anchor="ctr"/>
          <a:lstStyle/>
          <a:p>
            <a:pPr indent="0" marL="0">
              <a:buNone/>
            </a:pPr>
            <a:r>
              <a:rPr lang="en-US" sz="1250" i="1" dirty="0">
                <a:solidFill>
                  <a:srgbClr val="CFE0F0"/>
                </a:solidFill>
                <a:latin typeface="Calibri" pitchFamily="34" charset="0"/>
                <a:ea typeface="Calibri" pitchFamily="34" charset="-122"/>
                <a:cs typeface="Calibri" pitchFamily="34" charset="-120"/>
              </a:rPr>
              <a:t>Render the verdict</a:t>
            </a:r>
            <a:endParaRPr lang="en-US" sz="1250" dirty="0"/>
          </a:p>
        </p:txBody>
      </p:sp>
      <p:sp>
        <p:nvSpPr>
          <p:cNvPr id="24" name="Text 17"/>
          <p:cNvSpPr/>
          <p:nvPr/>
        </p:nvSpPr>
        <p:spPr>
          <a:xfrm>
            <a:off x="6711696" y="3959352"/>
            <a:ext cx="2194560" cy="1143000"/>
          </a:xfrm>
          <a:prstGeom prst="rect">
            <a:avLst/>
          </a:prstGeom>
          <a:noFill/>
          <a:ln/>
        </p:spPr>
        <p:txBody>
          <a:bodyPr wrap="square" lIns="0" tIns="0" rIns="0" bIns="0" rtlCol="0" anchor="t"/>
          <a:lstStyle/>
          <a:p>
            <a:pPr indent="0" marL="0">
              <a:lnSpc>
                <a:spcPct val="110000"/>
              </a:lnSpc>
              <a:buNone/>
            </a:pPr>
            <a:r>
              <a:rPr lang="en-US" sz="1180" dirty="0">
                <a:solidFill>
                  <a:srgbClr val="CFE0F0"/>
                </a:solidFill>
                <a:latin typeface="Calibri" pitchFamily="34" charset="0"/>
                <a:ea typeface="Calibri" pitchFamily="34" charset="-122"/>
                <a:cs typeface="Calibri" pitchFamily="34" charset="-120"/>
              </a:rPr>
              <a:t>Aggregate the sprint → Teams card / Streamlit table showing the RAG spread across stories.</a:t>
            </a:r>
            <a:endParaRPr lang="en-US" sz="1180" dirty="0"/>
          </a:p>
        </p:txBody>
      </p:sp>
      <p:pic>
        <p:nvPicPr>
          <p:cNvPr id="25" name="Image 5" descr="preencoded.png">    </p:cNvPr>
          <p:cNvPicPr>
            <a:picLocks noChangeAspect="1"/>
          </p:cNvPicPr>
          <p:nvPr/>
        </p:nvPicPr>
        <p:blipFill>
          <a:blip r:embed="rId6"/>
          <a:stretch>
            <a:fillRect/>
          </a:stretch>
        </p:blipFill>
        <p:spPr>
          <a:xfrm>
            <a:off x="9153144" y="3474720"/>
            <a:ext cx="201168" cy="201168"/>
          </a:xfrm>
          <a:prstGeom prst="rect">
            <a:avLst/>
          </a:prstGeom>
        </p:spPr>
      </p:pic>
      <p:sp>
        <p:nvSpPr>
          <p:cNvPr id="26" name="Shape 18"/>
          <p:cNvSpPr/>
          <p:nvPr/>
        </p:nvSpPr>
        <p:spPr>
          <a:xfrm>
            <a:off x="9381744" y="2148840"/>
            <a:ext cx="2697480" cy="3063240"/>
          </a:xfrm>
          <a:prstGeom prst="roundRect">
            <a:avLst>
              <a:gd name="adj" fmla="val 2712"/>
            </a:avLst>
          </a:prstGeom>
          <a:solidFill>
            <a:srgbClr val="17263B"/>
          </a:solidFill>
          <a:ln w="15875">
            <a:solidFill>
              <a:srgbClr val="F4B740"/>
            </a:solidFill>
            <a:prstDash val="dash"/>
          </a:ln>
          <a:effectLst>
            <a:outerShdw sx="100000" sy="100000" kx="0" ky="0" algn="bl" rotWithShape="0" blurRad="114300" dist="38100" dir="5400000">
              <a:srgbClr val="000000">
                <a:alpha val="18000"/>
              </a:srgbClr>
            </a:outerShdw>
          </a:effectLst>
        </p:spPr>
      </p:sp>
      <p:sp>
        <p:nvSpPr>
          <p:cNvPr id="27" name="Shape 19"/>
          <p:cNvSpPr/>
          <p:nvPr/>
        </p:nvSpPr>
        <p:spPr>
          <a:xfrm>
            <a:off x="9674352" y="2468880"/>
            <a:ext cx="685800" cy="685800"/>
          </a:xfrm>
          <a:prstGeom prst="ellipse">
            <a:avLst/>
          </a:prstGeom>
          <a:solidFill>
            <a:srgbClr val="F4B740"/>
          </a:solidFill>
          <a:ln/>
        </p:spPr>
      </p:sp>
      <p:pic>
        <p:nvPicPr>
          <p:cNvPr id="28" name="Image 6" descr="preencoded.png">    </p:cNvPr>
          <p:cNvPicPr>
            <a:picLocks noChangeAspect="1"/>
          </p:cNvPicPr>
          <p:nvPr/>
        </p:nvPicPr>
        <p:blipFill>
          <a:blip r:embed="rId7"/>
          <a:stretch>
            <a:fillRect/>
          </a:stretch>
        </p:blipFill>
        <p:spPr>
          <a:xfrm>
            <a:off x="9829800" y="2624328"/>
            <a:ext cx="374904" cy="374904"/>
          </a:xfrm>
          <a:prstGeom prst="rect">
            <a:avLst/>
          </a:prstGeom>
        </p:spPr>
      </p:pic>
      <p:sp>
        <p:nvSpPr>
          <p:cNvPr id="29" name="Text 20"/>
          <p:cNvSpPr/>
          <p:nvPr/>
        </p:nvSpPr>
        <p:spPr>
          <a:xfrm>
            <a:off x="9656064" y="3291840"/>
            <a:ext cx="2148840" cy="320040"/>
          </a:xfrm>
          <a:prstGeom prst="rect">
            <a:avLst/>
          </a:prstGeom>
          <a:noFill/>
          <a:ln/>
        </p:spPr>
        <p:txBody>
          <a:bodyPr wrap="square" lIns="0" tIns="0" rIns="0" bIns="0" rtlCol="0" anchor="ctr"/>
          <a:lstStyle/>
          <a:p>
            <a:pPr indent="0" marL="0">
              <a:buNone/>
            </a:pPr>
            <a:r>
              <a:rPr lang="en-US" sz="1500" b="1" spc="200" kern="0" dirty="0">
                <a:solidFill>
                  <a:srgbClr val="F4B740"/>
                </a:solidFill>
                <a:latin typeface="Calibri" pitchFamily="34" charset="0"/>
                <a:ea typeface="Calibri" pitchFamily="34" charset="-122"/>
                <a:cs typeface="Calibri" pitchFamily="34" charset="-120"/>
              </a:rPr>
              <a:t>WRITE-BACK</a:t>
            </a:r>
            <a:endParaRPr lang="en-US" sz="1500" dirty="0"/>
          </a:p>
        </p:txBody>
      </p:sp>
      <p:sp>
        <p:nvSpPr>
          <p:cNvPr id="30" name="Text 21"/>
          <p:cNvSpPr/>
          <p:nvPr/>
        </p:nvSpPr>
        <p:spPr>
          <a:xfrm>
            <a:off x="9656064" y="3611880"/>
            <a:ext cx="2148840" cy="292608"/>
          </a:xfrm>
          <a:prstGeom prst="rect">
            <a:avLst/>
          </a:prstGeom>
          <a:noFill/>
          <a:ln/>
        </p:spPr>
        <p:txBody>
          <a:bodyPr wrap="square" lIns="0" tIns="0" rIns="0" bIns="0" rtlCol="0" anchor="ctr"/>
          <a:lstStyle/>
          <a:p>
            <a:pPr indent="0" marL="0">
              <a:buNone/>
            </a:pPr>
            <a:r>
              <a:rPr lang="en-US" sz="1250" i="1" dirty="0">
                <a:solidFill>
                  <a:srgbClr val="CFE0F0"/>
                </a:solidFill>
                <a:latin typeface="Calibri" pitchFamily="34" charset="0"/>
                <a:ea typeface="Calibri" pitchFamily="34" charset="-122"/>
                <a:cs typeface="Calibri" pitchFamily="34" charset="-120"/>
              </a:rPr>
              <a:t>Gated · dormant</a:t>
            </a:r>
            <a:endParaRPr lang="en-US" sz="1250" dirty="0"/>
          </a:p>
        </p:txBody>
      </p:sp>
      <p:sp>
        <p:nvSpPr>
          <p:cNvPr id="31" name="Text 22"/>
          <p:cNvSpPr/>
          <p:nvPr/>
        </p:nvSpPr>
        <p:spPr>
          <a:xfrm>
            <a:off x="9656064" y="3959352"/>
            <a:ext cx="2194560" cy="1143000"/>
          </a:xfrm>
          <a:prstGeom prst="rect">
            <a:avLst/>
          </a:prstGeom>
          <a:noFill/>
          <a:ln/>
        </p:spPr>
        <p:txBody>
          <a:bodyPr wrap="square" lIns="0" tIns="0" rIns="0" bIns="0" rtlCol="0" anchor="t"/>
          <a:lstStyle/>
          <a:p>
            <a:pPr indent="0" marL="0">
              <a:lnSpc>
                <a:spcPct val="110000"/>
              </a:lnSpc>
              <a:buNone/>
            </a:pPr>
            <a:r>
              <a:rPr lang="en-US" sz="1180" dirty="0">
                <a:solidFill>
                  <a:srgbClr val="CFE0F0"/>
                </a:solidFill>
                <a:latin typeface="Calibri" pitchFamily="34" charset="0"/>
                <a:ea typeface="Calibri" pitchFamily="34" charset="-122"/>
                <a:cs typeface="Calibri" pitchFamily="34" charset="-120"/>
              </a:rPr>
              <a:t>add_label / update_field / add_comment stay unbound until explicit client sign-off.</a:t>
            </a:r>
            <a:endParaRPr lang="en-US" sz="1180" dirty="0"/>
          </a:p>
        </p:txBody>
      </p:sp>
      <p:sp>
        <p:nvSpPr>
          <p:cNvPr id="32" name="Text 23"/>
          <p:cNvSpPr/>
          <p:nvPr/>
        </p:nvSpPr>
        <p:spPr>
          <a:xfrm>
            <a:off x="548640" y="5532120"/>
            <a:ext cx="11064240" cy="457200"/>
          </a:xfrm>
          <a:prstGeom prst="rect">
            <a:avLst/>
          </a:prstGeom>
          <a:noFill/>
          <a:ln/>
        </p:spPr>
        <p:txBody>
          <a:bodyPr wrap="square" lIns="0" tIns="0" rIns="0" bIns="0" rtlCol="0" anchor="ctr"/>
          <a:lstStyle/>
          <a:p>
            <a:pPr indent="0" marL="0">
              <a:buNone/>
            </a:pPr>
            <a:r>
              <a:rPr lang="en-US" sz="1250" b="1" dirty="0">
                <a:solidFill>
                  <a:srgbClr val="5EEAD4"/>
                </a:solidFill>
                <a:latin typeface="Calibri" pitchFamily="34" charset="0"/>
                <a:ea typeface="Calibri" pitchFamily="34" charset="-122"/>
                <a:cs typeface="Calibri" pitchFamily="34" charset="-120"/>
              </a:rPr>
              <a:t>11 components across 4 layers  ·  </a:t>
            </a:r>
            <a:pPr indent="0" marL="0">
              <a:buNone/>
            </a:pPr>
            <a:r>
              <a:rPr lang="en-US" sz="1250" dirty="0">
                <a:solidFill>
                  <a:srgbClr val="CFE0F0"/>
                </a:solidFill>
                <a:latin typeface="Calibri" pitchFamily="34" charset="0"/>
                <a:ea typeface="Calibri" pitchFamily="34" charset="-122"/>
                <a:cs typeface="Calibri" pitchFamily="34" charset="-120"/>
              </a:rPr>
              <a:t>Claude (in-boundary, HIPAA-eligible) · built with Claude Code · pydantic validation · async pool scores a 14-story sprint in seconds.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ARCHITECTURE · FIGURE 1</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Component &amp; data-flow — 11 components across 4 layers</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indent="0" marL="0">
              <a:buNone/>
            </a:pPr>
            <a:r>
              <a:rPr lang="en-US" sz="1300" i="1" dirty="0">
                <a:solidFill>
                  <a:srgbClr val="5B6B80"/>
                </a:solidFill>
                <a:latin typeface="Calibri" pitchFamily="34" charset="0"/>
                <a:ea typeface="Calibri" pitchFamily="34" charset="-122"/>
                <a:cs typeface="Calibri" pitchFamily="34" charset="-120"/>
              </a:rPr>
              <a:t>Read path is solid; the gated write-back is dashed. Claude inference stays inside the client tenant.</a:t>
            </a:r>
            <a:endParaRPr lang="en-US" sz="1300" dirty="0"/>
          </a:p>
        </p:txBody>
      </p:sp>
      <p:sp>
        <p:nvSpPr>
          <p:cNvPr id="5" name="Shape 3"/>
          <p:cNvSpPr/>
          <p:nvPr/>
        </p:nvSpPr>
        <p:spPr>
          <a:xfrm>
            <a:off x="502920" y="3200400"/>
            <a:ext cx="1417320" cy="1234440"/>
          </a:xfrm>
          <a:prstGeom prst="roundRect">
            <a:avLst>
              <a:gd name="adj" fmla="val 4444"/>
            </a:avLst>
          </a:prstGeom>
          <a:solidFill>
            <a:srgbClr val="0E1A2B"/>
          </a:solidFill>
          <a:ln/>
          <a:effectLst>
            <a:outerShdw sx="100000" sy="100000" kx="0" ky="0" algn="bl" rotWithShape="0" blurRad="114300" dist="38100" dir="54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1042416" y="3401568"/>
            <a:ext cx="329184" cy="329184"/>
          </a:xfrm>
          <a:prstGeom prst="rect">
            <a:avLst/>
          </a:prstGeom>
        </p:spPr>
      </p:pic>
      <p:sp>
        <p:nvSpPr>
          <p:cNvPr id="7" name="Text 4"/>
          <p:cNvSpPr/>
          <p:nvPr/>
        </p:nvSpPr>
        <p:spPr>
          <a:xfrm>
            <a:off x="502920" y="3767328"/>
            <a:ext cx="1417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Jira</a:t>
            </a:r>
            <a:endParaRPr lang="en-US" sz="1300" dirty="0"/>
          </a:p>
        </p:txBody>
      </p:sp>
      <p:sp>
        <p:nvSpPr>
          <p:cNvPr id="8" name="Text 5"/>
          <p:cNvSpPr/>
          <p:nvPr/>
        </p:nvSpPr>
        <p:spPr>
          <a:xfrm>
            <a:off x="548640" y="4041648"/>
            <a:ext cx="1325880" cy="320040"/>
          </a:xfrm>
          <a:prstGeom prst="rect">
            <a:avLst/>
          </a:prstGeom>
          <a:noFill/>
          <a:ln/>
        </p:spPr>
        <p:txBody>
          <a:bodyPr wrap="square" lIns="0" tIns="0" rIns="0" bIns="0" rtlCol="0" anchor="ctr"/>
          <a:lstStyle/>
          <a:p>
            <a:pPr algn="ctr" indent="0" marL="0">
              <a:lnSpc>
                <a:spcPct val="100000"/>
              </a:lnSpc>
              <a:buNone/>
            </a:pPr>
            <a:r>
              <a:rPr lang="en-US" sz="850" dirty="0">
                <a:solidFill>
                  <a:srgbClr val="CFE0F0"/>
                </a:solidFill>
                <a:latin typeface="Calibri" pitchFamily="34" charset="0"/>
                <a:ea typeface="Calibri" pitchFamily="34" charset="-122"/>
                <a:cs typeface="Calibri" pitchFamily="34" charset="-120"/>
              </a:rPr>
              <a:t>client backlog · MCP read</a:t>
            </a:r>
            <a:endParaRPr lang="en-US" sz="850" dirty="0"/>
          </a:p>
        </p:txBody>
      </p:sp>
      <p:sp>
        <p:nvSpPr>
          <p:cNvPr id="9" name="Shape 6"/>
          <p:cNvSpPr/>
          <p:nvPr/>
        </p:nvSpPr>
        <p:spPr>
          <a:xfrm>
            <a:off x="2148840" y="1828800"/>
            <a:ext cx="2194560" cy="4343400"/>
          </a:xfrm>
          <a:prstGeom prst="roundRect">
            <a:avLst>
              <a:gd name="adj" fmla="val 2500"/>
            </a:avLst>
          </a:prstGeom>
          <a:solidFill>
            <a:srgbClr val="F4F7FA"/>
          </a:solidFill>
          <a:ln w="9525">
            <a:solidFill>
              <a:srgbClr val="E7ECF2"/>
            </a:solidFill>
            <a:prstDash val="solid"/>
          </a:ln>
        </p:spPr>
      </p:sp>
      <p:sp>
        <p:nvSpPr>
          <p:cNvPr id="10" name="Shape 7"/>
          <p:cNvSpPr/>
          <p:nvPr/>
        </p:nvSpPr>
        <p:spPr>
          <a:xfrm>
            <a:off x="2258568" y="1920240"/>
            <a:ext cx="1975104" cy="329184"/>
          </a:xfrm>
          <a:prstGeom prst="roundRect">
            <a:avLst>
              <a:gd name="adj" fmla="val 13889"/>
            </a:avLst>
          </a:prstGeom>
          <a:solidFill>
            <a:srgbClr val="16B8A6"/>
          </a:solidFill>
          <a:ln/>
        </p:spPr>
      </p:sp>
      <p:sp>
        <p:nvSpPr>
          <p:cNvPr id="11" name="Text 8"/>
          <p:cNvSpPr/>
          <p:nvPr/>
        </p:nvSpPr>
        <p:spPr>
          <a:xfrm>
            <a:off x="2258568" y="1920240"/>
            <a:ext cx="197510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INGEST · pull</a:t>
            </a:r>
            <a:endParaRPr lang="en-US" sz="1050" dirty="0"/>
          </a:p>
        </p:txBody>
      </p:sp>
      <p:sp>
        <p:nvSpPr>
          <p:cNvPr id="12" name="Shape 9"/>
          <p:cNvSpPr/>
          <p:nvPr/>
        </p:nvSpPr>
        <p:spPr>
          <a:xfrm>
            <a:off x="4526280" y="1828800"/>
            <a:ext cx="2194560" cy="4343400"/>
          </a:xfrm>
          <a:prstGeom prst="roundRect">
            <a:avLst>
              <a:gd name="adj" fmla="val 2500"/>
            </a:avLst>
          </a:prstGeom>
          <a:solidFill>
            <a:srgbClr val="F4F7FA"/>
          </a:solidFill>
          <a:ln w="9525">
            <a:solidFill>
              <a:srgbClr val="E7ECF2"/>
            </a:solidFill>
            <a:prstDash val="solid"/>
          </a:ln>
        </p:spPr>
      </p:sp>
      <p:sp>
        <p:nvSpPr>
          <p:cNvPr id="13" name="Shape 10"/>
          <p:cNvSpPr/>
          <p:nvPr/>
        </p:nvSpPr>
        <p:spPr>
          <a:xfrm>
            <a:off x="4636008" y="1920240"/>
            <a:ext cx="1975104" cy="329184"/>
          </a:xfrm>
          <a:prstGeom prst="roundRect">
            <a:avLst>
              <a:gd name="adj" fmla="val 13889"/>
            </a:avLst>
          </a:prstGeom>
          <a:solidFill>
            <a:srgbClr val="0E8A7D"/>
          </a:solidFill>
          <a:ln/>
        </p:spPr>
      </p:sp>
      <p:sp>
        <p:nvSpPr>
          <p:cNvPr id="14" name="Text 11"/>
          <p:cNvSpPr/>
          <p:nvPr/>
        </p:nvSpPr>
        <p:spPr>
          <a:xfrm>
            <a:off x="4636008" y="1920240"/>
            <a:ext cx="197510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REASON · score</a:t>
            </a:r>
            <a:endParaRPr lang="en-US" sz="1050" dirty="0"/>
          </a:p>
        </p:txBody>
      </p:sp>
      <p:sp>
        <p:nvSpPr>
          <p:cNvPr id="15" name="Shape 12"/>
          <p:cNvSpPr/>
          <p:nvPr/>
        </p:nvSpPr>
        <p:spPr>
          <a:xfrm>
            <a:off x="6903720" y="1828800"/>
            <a:ext cx="2194560" cy="4343400"/>
          </a:xfrm>
          <a:prstGeom prst="roundRect">
            <a:avLst>
              <a:gd name="adj" fmla="val 2500"/>
            </a:avLst>
          </a:prstGeom>
          <a:solidFill>
            <a:srgbClr val="F4F7FA"/>
          </a:solidFill>
          <a:ln w="9525">
            <a:solidFill>
              <a:srgbClr val="E7ECF2"/>
            </a:solidFill>
            <a:prstDash val="solid"/>
          </a:ln>
        </p:spPr>
      </p:sp>
      <p:sp>
        <p:nvSpPr>
          <p:cNvPr id="16" name="Shape 13"/>
          <p:cNvSpPr/>
          <p:nvPr/>
        </p:nvSpPr>
        <p:spPr>
          <a:xfrm>
            <a:off x="7013448" y="1920240"/>
            <a:ext cx="1975104" cy="329184"/>
          </a:xfrm>
          <a:prstGeom prst="roundRect">
            <a:avLst>
              <a:gd name="adj" fmla="val 13889"/>
            </a:avLst>
          </a:prstGeom>
          <a:solidFill>
            <a:srgbClr val="3789C9"/>
          </a:solidFill>
          <a:ln/>
        </p:spPr>
      </p:sp>
      <p:sp>
        <p:nvSpPr>
          <p:cNvPr id="17" name="Text 14"/>
          <p:cNvSpPr/>
          <p:nvPr/>
        </p:nvSpPr>
        <p:spPr>
          <a:xfrm>
            <a:off x="7013448" y="1920240"/>
            <a:ext cx="197510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SERVE · render</a:t>
            </a:r>
            <a:endParaRPr lang="en-US" sz="1050" dirty="0"/>
          </a:p>
        </p:txBody>
      </p:sp>
      <p:sp>
        <p:nvSpPr>
          <p:cNvPr id="18" name="Shape 15"/>
          <p:cNvSpPr/>
          <p:nvPr/>
        </p:nvSpPr>
        <p:spPr>
          <a:xfrm>
            <a:off x="9281160" y="1828800"/>
            <a:ext cx="2331720" cy="4343400"/>
          </a:xfrm>
          <a:prstGeom prst="roundRect">
            <a:avLst>
              <a:gd name="adj" fmla="val 2353"/>
            </a:avLst>
          </a:prstGeom>
          <a:solidFill>
            <a:srgbClr val="F4F7FA"/>
          </a:solidFill>
          <a:ln w="9525">
            <a:solidFill>
              <a:srgbClr val="E7ECF2"/>
            </a:solidFill>
            <a:prstDash val="solid"/>
          </a:ln>
        </p:spPr>
      </p:sp>
      <p:sp>
        <p:nvSpPr>
          <p:cNvPr id="19" name="Shape 16"/>
          <p:cNvSpPr/>
          <p:nvPr/>
        </p:nvSpPr>
        <p:spPr>
          <a:xfrm>
            <a:off x="9390888" y="1920240"/>
            <a:ext cx="2112264" cy="329184"/>
          </a:xfrm>
          <a:prstGeom prst="roundRect">
            <a:avLst>
              <a:gd name="adj" fmla="val 13889"/>
            </a:avLst>
          </a:prstGeom>
          <a:solidFill>
            <a:srgbClr val="F4B740"/>
          </a:solidFill>
          <a:ln/>
        </p:spPr>
      </p:sp>
      <p:sp>
        <p:nvSpPr>
          <p:cNvPr id="20" name="Text 17"/>
          <p:cNvSpPr/>
          <p:nvPr/>
        </p:nvSpPr>
        <p:spPr>
          <a:xfrm>
            <a:off x="9390888" y="1920240"/>
            <a:ext cx="2112264" cy="329184"/>
          </a:xfrm>
          <a:prstGeom prst="rect">
            <a:avLst/>
          </a:prstGeom>
          <a:noFill/>
          <a:ln/>
        </p:spPr>
        <p:txBody>
          <a:bodyPr wrap="square" lIns="0" tIns="0" rIns="0" bIns="0" rtlCol="0" anchor="ctr"/>
          <a:lstStyle/>
          <a:p>
            <a:pPr algn="ctr" indent="0" marL="0">
              <a:buNone/>
            </a:pPr>
            <a:r>
              <a:rPr lang="en-US" sz="1050" b="1" dirty="0">
                <a:solidFill>
                  <a:srgbClr val="5A3B00"/>
                </a:solidFill>
                <a:latin typeface="Calibri" pitchFamily="34" charset="0"/>
                <a:ea typeface="Calibri" pitchFamily="34" charset="-122"/>
                <a:cs typeface="Calibri" pitchFamily="34" charset="-120"/>
              </a:rPr>
              <a:t>WRITE-BACK · gated</a:t>
            </a:r>
            <a:endParaRPr lang="en-US" sz="1050" dirty="0"/>
          </a:p>
        </p:txBody>
      </p:sp>
      <p:sp>
        <p:nvSpPr>
          <p:cNvPr id="21" name="Shape 18"/>
          <p:cNvSpPr/>
          <p:nvPr/>
        </p:nvSpPr>
        <p:spPr>
          <a:xfrm>
            <a:off x="2258568" y="2423160"/>
            <a:ext cx="1975104" cy="749808"/>
          </a:xfrm>
          <a:prstGeom prst="roundRect">
            <a:avLst>
              <a:gd name="adj" fmla="val 6098"/>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22" name="Shape 19"/>
          <p:cNvSpPr/>
          <p:nvPr/>
        </p:nvSpPr>
        <p:spPr>
          <a:xfrm>
            <a:off x="2368296" y="2560320"/>
            <a:ext cx="310896" cy="310896"/>
          </a:xfrm>
          <a:prstGeom prst="ellipse">
            <a:avLst/>
          </a:prstGeom>
          <a:solidFill>
            <a:srgbClr val="16B8A6"/>
          </a:solidFill>
          <a:ln/>
        </p:spPr>
      </p:sp>
      <p:sp>
        <p:nvSpPr>
          <p:cNvPr id="23" name="Text 20"/>
          <p:cNvSpPr/>
          <p:nvPr/>
        </p:nvSpPr>
        <p:spPr>
          <a:xfrm>
            <a:off x="2368296" y="2560320"/>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1</a:t>
            </a:r>
            <a:endParaRPr lang="en-US" sz="1100" dirty="0"/>
          </a:p>
        </p:txBody>
      </p:sp>
      <p:sp>
        <p:nvSpPr>
          <p:cNvPr id="24" name="Text 21"/>
          <p:cNvSpPr/>
          <p:nvPr/>
        </p:nvSpPr>
        <p:spPr>
          <a:xfrm>
            <a:off x="2752344" y="2532888"/>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Trigger / Scheduler</a:t>
            </a:r>
            <a:endParaRPr lang="en-US" sz="1050" dirty="0"/>
          </a:p>
        </p:txBody>
      </p:sp>
      <p:sp>
        <p:nvSpPr>
          <p:cNvPr id="25" name="Text 22"/>
          <p:cNvSpPr/>
          <p:nvPr/>
        </p:nvSpPr>
        <p:spPr>
          <a:xfrm>
            <a:off x="2752344" y="2807208"/>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Python CLI / cron</a:t>
            </a:r>
            <a:endParaRPr lang="en-US" sz="850" dirty="0"/>
          </a:p>
        </p:txBody>
      </p:sp>
      <p:sp>
        <p:nvSpPr>
          <p:cNvPr id="26" name="Shape 23"/>
          <p:cNvSpPr/>
          <p:nvPr/>
        </p:nvSpPr>
        <p:spPr>
          <a:xfrm>
            <a:off x="2258568" y="3383280"/>
            <a:ext cx="1975104" cy="749808"/>
          </a:xfrm>
          <a:prstGeom prst="roundRect">
            <a:avLst>
              <a:gd name="adj" fmla="val 6098"/>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27" name="Shape 24"/>
          <p:cNvSpPr/>
          <p:nvPr/>
        </p:nvSpPr>
        <p:spPr>
          <a:xfrm>
            <a:off x="2368296" y="3520440"/>
            <a:ext cx="310896" cy="310896"/>
          </a:xfrm>
          <a:prstGeom prst="ellipse">
            <a:avLst/>
          </a:prstGeom>
          <a:solidFill>
            <a:srgbClr val="16B8A6"/>
          </a:solidFill>
          <a:ln/>
        </p:spPr>
      </p:sp>
      <p:sp>
        <p:nvSpPr>
          <p:cNvPr id="28" name="Text 25"/>
          <p:cNvSpPr/>
          <p:nvPr/>
        </p:nvSpPr>
        <p:spPr>
          <a:xfrm>
            <a:off x="2368296" y="3520440"/>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2</a:t>
            </a:r>
            <a:endParaRPr lang="en-US" sz="1100" dirty="0"/>
          </a:p>
        </p:txBody>
      </p:sp>
      <p:sp>
        <p:nvSpPr>
          <p:cNvPr id="29" name="Text 26"/>
          <p:cNvSpPr/>
          <p:nvPr/>
        </p:nvSpPr>
        <p:spPr>
          <a:xfrm>
            <a:off x="2752344" y="3493008"/>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Jira MCP Client</a:t>
            </a:r>
            <a:endParaRPr lang="en-US" sz="1050" dirty="0"/>
          </a:p>
        </p:txBody>
      </p:sp>
      <p:sp>
        <p:nvSpPr>
          <p:cNvPr id="30" name="Text 27"/>
          <p:cNvSpPr/>
          <p:nvPr/>
        </p:nvSpPr>
        <p:spPr>
          <a:xfrm>
            <a:off x="2752344" y="3767328"/>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MCP SDK · read scopes</a:t>
            </a:r>
            <a:endParaRPr lang="en-US" sz="850" dirty="0"/>
          </a:p>
        </p:txBody>
      </p:sp>
      <p:sp>
        <p:nvSpPr>
          <p:cNvPr id="31" name="Shape 28"/>
          <p:cNvSpPr/>
          <p:nvPr/>
        </p:nvSpPr>
        <p:spPr>
          <a:xfrm>
            <a:off x="2258568" y="4343400"/>
            <a:ext cx="1975104" cy="749808"/>
          </a:xfrm>
          <a:prstGeom prst="roundRect">
            <a:avLst>
              <a:gd name="adj" fmla="val 6098"/>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32" name="Shape 29"/>
          <p:cNvSpPr/>
          <p:nvPr/>
        </p:nvSpPr>
        <p:spPr>
          <a:xfrm>
            <a:off x="2368296" y="4480560"/>
            <a:ext cx="310896" cy="310896"/>
          </a:xfrm>
          <a:prstGeom prst="ellipse">
            <a:avLst/>
          </a:prstGeom>
          <a:solidFill>
            <a:srgbClr val="16B8A6"/>
          </a:solidFill>
          <a:ln/>
        </p:spPr>
      </p:sp>
      <p:sp>
        <p:nvSpPr>
          <p:cNvPr id="33" name="Text 30"/>
          <p:cNvSpPr/>
          <p:nvPr/>
        </p:nvSpPr>
        <p:spPr>
          <a:xfrm>
            <a:off x="2368296" y="4480560"/>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3</a:t>
            </a:r>
            <a:endParaRPr lang="en-US" sz="1100" dirty="0"/>
          </a:p>
        </p:txBody>
      </p:sp>
      <p:sp>
        <p:nvSpPr>
          <p:cNvPr id="34" name="Text 31"/>
          <p:cNvSpPr/>
          <p:nvPr/>
        </p:nvSpPr>
        <p:spPr>
          <a:xfrm>
            <a:off x="2752344" y="4453128"/>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Story Bundler</a:t>
            </a:r>
            <a:endParaRPr lang="en-US" sz="1050" dirty="0"/>
          </a:p>
        </p:txBody>
      </p:sp>
      <p:sp>
        <p:nvSpPr>
          <p:cNvPr id="35" name="Text 32"/>
          <p:cNvSpPr/>
          <p:nvPr/>
        </p:nvSpPr>
        <p:spPr>
          <a:xfrm>
            <a:off x="2752344" y="4727448"/>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Python · StoryBundle</a:t>
            </a:r>
            <a:endParaRPr lang="en-US" sz="850" dirty="0"/>
          </a:p>
        </p:txBody>
      </p:sp>
      <p:sp>
        <p:nvSpPr>
          <p:cNvPr id="36" name="Shape 33"/>
          <p:cNvSpPr/>
          <p:nvPr/>
        </p:nvSpPr>
        <p:spPr>
          <a:xfrm>
            <a:off x="4636008" y="2395728"/>
            <a:ext cx="1975104" cy="713232"/>
          </a:xfrm>
          <a:prstGeom prst="roundRect">
            <a:avLst>
              <a:gd name="adj" fmla="val 6410"/>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37" name="Shape 34"/>
          <p:cNvSpPr/>
          <p:nvPr/>
        </p:nvSpPr>
        <p:spPr>
          <a:xfrm>
            <a:off x="4745736" y="2532888"/>
            <a:ext cx="310896" cy="310896"/>
          </a:xfrm>
          <a:prstGeom prst="ellipse">
            <a:avLst/>
          </a:prstGeom>
          <a:solidFill>
            <a:srgbClr val="16B8A6"/>
          </a:solidFill>
          <a:ln/>
        </p:spPr>
      </p:sp>
      <p:sp>
        <p:nvSpPr>
          <p:cNvPr id="38" name="Text 35"/>
          <p:cNvSpPr/>
          <p:nvPr/>
        </p:nvSpPr>
        <p:spPr>
          <a:xfrm>
            <a:off x="4745736" y="2532888"/>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4</a:t>
            </a:r>
            <a:endParaRPr lang="en-US" sz="1100" dirty="0"/>
          </a:p>
        </p:txBody>
      </p:sp>
      <p:sp>
        <p:nvSpPr>
          <p:cNvPr id="39" name="Text 36"/>
          <p:cNvSpPr/>
          <p:nvPr/>
        </p:nvSpPr>
        <p:spPr>
          <a:xfrm>
            <a:off x="5129784" y="2505456"/>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Rubric &amp; Few-Shot</a:t>
            </a:r>
            <a:endParaRPr lang="en-US" sz="1050" dirty="0"/>
          </a:p>
        </p:txBody>
      </p:sp>
      <p:sp>
        <p:nvSpPr>
          <p:cNvPr id="40" name="Text 37"/>
          <p:cNvSpPr/>
          <p:nvPr/>
        </p:nvSpPr>
        <p:spPr>
          <a:xfrm>
            <a:off x="5129784" y="2779776"/>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YAML · DoR + examples</a:t>
            </a:r>
            <a:endParaRPr lang="en-US" sz="850" dirty="0"/>
          </a:p>
        </p:txBody>
      </p:sp>
      <p:sp>
        <p:nvSpPr>
          <p:cNvPr id="41" name="Shape 38"/>
          <p:cNvSpPr/>
          <p:nvPr/>
        </p:nvSpPr>
        <p:spPr>
          <a:xfrm>
            <a:off x="4636008" y="3246120"/>
            <a:ext cx="1975104" cy="713232"/>
          </a:xfrm>
          <a:prstGeom prst="roundRect">
            <a:avLst>
              <a:gd name="adj" fmla="val 6410"/>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42" name="Shape 39"/>
          <p:cNvSpPr/>
          <p:nvPr/>
        </p:nvSpPr>
        <p:spPr>
          <a:xfrm>
            <a:off x="4745736" y="3383280"/>
            <a:ext cx="310896" cy="310896"/>
          </a:xfrm>
          <a:prstGeom prst="ellipse">
            <a:avLst/>
          </a:prstGeom>
          <a:solidFill>
            <a:srgbClr val="16B8A6"/>
          </a:solidFill>
          <a:ln/>
        </p:spPr>
      </p:sp>
      <p:sp>
        <p:nvSpPr>
          <p:cNvPr id="43" name="Text 40"/>
          <p:cNvSpPr/>
          <p:nvPr/>
        </p:nvSpPr>
        <p:spPr>
          <a:xfrm>
            <a:off x="4745736" y="3383280"/>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5</a:t>
            </a:r>
            <a:endParaRPr lang="en-US" sz="1100" dirty="0"/>
          </a:p>
        </p:txBody>
      </p:sp>
      <p:sp>
        <p:nvSpPr>
          <p:cNvPr id="44" name="Text 41"/>
          <p:cNvSpPr/>
          <p:nvPr/>
        </p:nvSpPr>
        <p:spPr>
          <a:xfrm>
            <a:off x="5129784" y="3355848"/>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Prompt Assembler</a:t>
            </a:r>
            <a:endParaRPr lang="en-US" sz="1050" dirty="0"/>
          </a:p>
        </p:txBody>
      </p:sp>
      <p:sp>
        <p:nvSpPr>
          <p:cNvPr id="45" name="Text 42"/>
          <p:cNvSpPr/>
          <p:nvPr/>
        </p:nvSpPr>
        <p:spPr>
          <a:xfrm>
            <a:off x="5129784" y="3630168"/>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Jinja · JSON-only</a:t>
            </a:r>
            <a:endParaRPr lang="en-US" sz="850" dirty="0"/>
          </a:p>
        </p:txBody>
      </p:sp>
      <p:sp>
        <p:nvSpPr>
          <p:cNvPr id="46" name="Shape 43"/>
          <p:cNvSpPr/>
          <p:nvPr/>
        </p:nvSpPr>
        <p:spPr>
          <a:xfrm>
            <a:off x="4636008" y="4096512"/>
            <a:ext cx="1975104" cy="713232"/>
          </a:xfrm>
          <a:prstGeom prst="roundRect">
            <a:avLst>
              <a:gd name="adj" fmla="val 6410"/>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47" name="Shape 44"/>
          <p:cNvSpPr/>
          <p:nvPr/>
        </p:nvSpPr>
        <p:spPr>
          <a:xfrm>
            <a:off x="4745736" y="4233672"/>
            <a:ext cx="310896" cy="310896"/>
          </a:xfrm>
          <a:prstGeom prst="ellipse">
            <a:avLst/>
          </a:prstGeom>
          <a:solidFill>
            <a:srgbClr val="16B8A6"/>
          </a:solidFill>
          <a:ln/>
        </p:spPr>
      </p:sp>
      <p:sp>
        <p:nvSpPr>
          <p:cNvPr id="48" name="Text 45"/>
          <p:cNvSpPr/>
          <p:nvPr/>
        </p:nvSpPr>
        <p:spPr>
          <a:xfrm>
            <a:off x="4745736" y="4233672"/>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6</a:t>
            </a:r>
            <a:endParaRPr lang="en-US" sz="1100" dirty="0"/>
          </a:p>
        </p:txBody>
      </p:sp>
      <p:sp>
        <p:nvSpPr>
          <p:cNvPr id="49" name="Text 46"/>
          <p:cNvSpPr/>
          <p:nvPr/>
        </p:nvSpPr>
        <p:spPr>
          <a:xfrm>
            <a:off x="5129784" y="4206240"/>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Scoring Engine</a:t>
            </a:r>
            <a:endParaRPr lang="en-US" sz="1050" dirty="0"/>
          </a:p>
        </p:txBody>
      </p:sp>
      <p:sp>
        <p:nvSpPr>
          <p:cNvPr id="50" name="Text 47"/>
          <p:cNvSpPr/>
          <p:nvPr/>
        </p:nvSpPr>
        <p:spPr>
          <a:xfrm>
            <a:off x="5129784" y="4480560"/>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Claude · in-boundary</a:t>
            </a:r>
            <a:endParaRPr lang="en-US" sz="850" dirty="0"/>
          </a:p>
        </p:txBody>
      </p:sp>
      <p:sp>
        <p:nvSpPr>
          <p:cNvPr id="51" name="Shape 48"/>
          <p:cNvSpPr/>
          <p:nvPr/>
        </p:nvSpPr>
        <p:spPr>
          <a:xfrm>
            <a:off x="4636008" y="4946904"/>
            <a:ext cx="1975104" cy="713232"/>
          </a:xfrm>
          <a:prstGeom prst="roundRect">
            <a:avLst>
              <a:gd name="adj" fmla="val 6410"/>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52" name="Shape 49"/>
          <p:cNvSpPr/>
          <p:nvPr/>
        </p:nvSpPr>
        <p:spPr>
          <a:xfrm>
            <a:off x="4745736" y="5084064"/>
            <a:ext cx="310896" cy="310896"/>
          </a:xfrm>
          <a:prstGeom prst="ellipse">
            <a:avLst/>
          </a:prstGeom>
          <a:solidFill>
            <a:srgbClr val="16B8A6"/>
          </a:solidFill>
          <a:ln/>
        </p:spPr>
      </p:sp>
      <p:sp>
        <p:nvSpPr>
          <p:cNvPr id="53" name="Text 50"/>
          <p:cNvSpPr/>
          <p:nvPr/>
        </p:nvSpPr>
        <p:spPr>
          <a:xfrm>
            <a:off x="4745736" y="5084064"/>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7</a:t>
            </a:r>
            <a:endParaRPr lang="en-US" sz="1100" dirty="0"/>
          </a:p>
        </p:txBody>
      </p:sp>
      <p:sp>
        <p:nvSpPr>
          <p:cNvPr id="54" name="Text 51"/>
          <p:cNvSpPr/>
          <p:nvPr/>
        </p:nvSpPr>
        <p:spPr>
          <a:xfrm>
            <a:off x="5129784" y="5056632"/>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Verdict Validator</a:t>
            </a:r>
            <a:endParaRPr lang="en-US" sz="1050" dirty="0"/>
          </a:p>
        </p:txBody>
      </p:sp>
      <p:sp>
        <p:nvSpPr>
          <p:cNvPr id="55" name="Text 52"/>
          <p:cNvSpPr/>
          <p:nvPr/>
        </p:nvSpPr>
        <p:spPr>
          <a:xfrm>
            <a:off x="5129784" y="5330952"/>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pydantic · RAG</a:t>
            </a:r>
            <a:endParaRPr lang="en-US" sz="850" dirty="0"/>
          </a:p>
        </p:txBody>
      </p:sp>
      <p:pic>
        <p:nvPicPr>
          <p:cNvPr id="56" name="Image 1" descr="preencoded.png">    </p:cNvPr>
          <p:cNvPicPr>
            <a:picLocks noChangeAspect="1"/>
          </p:cNvPicPr>
          <p:nvPr/>
        </p:nvPicPr>
        <p:blipFill>
          <a:blip r:embed="rId2"/>
          <a:stretch>
            <a:fillRect/>
          </a:stretch>
        </p:blipFill>
        <p:spPr>
          <a:xfrm>
            <a:off x="4754880" y="5815584"/>
            <a:ext cx="182880" cy="182880"/>
          </a:xfrm>
          <a:prstGeom prst="rect">
            <a:avLst/>
          </a:prstGeom>
        </p:spPr>
      </p:pic>
      <p:sp>
        <p:nvSpPr>
          <p:cNvPr id="57" name="Text 53"/>
          <p:cNvSpPr/>
          <p:nvPr/>
        </p:nvSpPr>
        <p:spPr>
          <a:xfrm>
            <a:off x="4983480" y="5797296"/>
            <a:ext cx="1691640" cy="219456"/>
          </a:xfrm>
          <a:prstGeom prst="rect">
            <a:avLst/>
          </a:prstGeom>
          <a:noFill/>
          <a:ln/>
        </p:spPr>
        <p:txBody>
          <a:bodyPr wrap="square" lIns="0" tIns="0" rIns="0" bIns="0" rtlCol="0" anchor="ctr"/>
          <a:lstStyle/>
          <a:p>
            <a:pPr indent="0" marL="0">
              <a:buNone/>
            </a:pPr>
            <a:r>
              <a:rPr lang="en-US" sz="850" i="1" dirty="0">
                <a:solidFill>
                  <a:srgbClr val="0E6E56"/>
                </a:solidFill>
                <a:latin typeface="Calibri" pitchFamily="34" charset="0"/>
                <a:ea typeface="Calibri" pitchFamily="34" charset="-122"/>
                <a:cs typeface="Calibri" pitchFamily="34" charset="-120"/>
              </a:rPr>
              <a:t>inference stays in tenant</a:t>
            </a:r>
            <a:endParaRPr lang="en-US" sz="850" dirty="0"/>
          </a:p>
        </p:txBody>
      </p:sp>
      <p:sp>
        <p:nvSpPr>
          <p:cNvPr id="58" name="Shape 54"/>
          <p:cNvSpPr/>
          <p:nvPr/>
        </p:nvSpPr>
        <p:spPr>
          <a:xfrm>
            <a:off x="7013448" y="2423160"/>
            <a:ext cx="1975104" cy="749808"/>
          </a:xfrm>
          <a:prstGeom prst="roundRect">
            <a:avLst>
              <a:gd name="adj" fmla="val 6098"/>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59" name="Shape 55"/>
          <p:cNvSpPr/>
          <p:nvPr/>
        </p:nvSpPr>
        <p:spPr>
          <a:xfrm>
            <a:off x="7123176" y="2560320"/>
            <a:ext cx="310896" cy="310896"/>
          </a:xfrm>
          <a:prstGeom prst="ellipse">
            <a:avLst/>
          </a:prstGeom>
          <a:solidFill>
            <a:srgbClr val="16B8A6"/>
          </a:solidFill>
          <a:ln/>
        </p:spPr>
      </p:sp>
      <p:sp>
        <p:nvSpPr>
          <p:cNvPr id="60" name="Text 56"/>
          <p:cNvSpPr/>
          <p:nvPr/>
        </p:nvSpPr>
        <p:spPr>
          <a:xfrm>
            <a:off x="7123176" y="2560320"/>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8</a:t>
            </a:r>
            <a:endParaRPr lang="en-US" sz="1100" dirty="0"/>
          </a:p>
        </p:txBody>
      </p:sp>
      <p:sp>
        <p:nvSpPr>
          <p:cNvPr id="61" name="Text 57"/>
          <p:cNvSpPr/>
          <p:nvPr/>
        </p:nvSpPr>
        <p:spPr>
          <a:xfrm>
            <a:off x="7507224" y="2532888"/>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Aggregator</a:t>
            </a:r>
            <a:endParaRPr lang="en-US" sz="1050" dirty="0"/>
          </a:p>
        </p:txBody>
      </p:sp>
      <p:sp>
        <p:nvSpPr>
          <p:cNvPr id="62" name="Text 58"/>
          <p:cNvSpPr/>
          <p:nvPr/>
        </p:nvSpPr>
        <p:spPr>
          <a:xfrm>
            <a:off x="7507224" y="2807208"/>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sprint rollup</a:t>
            </a:r>
            <a:endParaRPr lang="en-US" sz="850" dirty="0"/>
          </a:p>
        </p:txBody>
      </p:sp>
      <p:sp>
        <p:nvSpPr>
          <p:cNvPr id="63" name="Shape 59"/>
          <p:cNvSpPr/>
          <p:nvPr/>
        </p:nvSpPr>
        <p:spPr>
          <a:xfrm>
            <a:off x="7013448" y="3383280"/>
            <a:ext cx="1975104" cy="749808"/>
          </a:xfrm>
          <a:prstGeom prst="roundRect">
            <a:avLst>
              <a:gd name="adj" fmla="val 6098"/>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64" name="Shape 60"/>
          <p:cNvSpPr/>
          <p:nvPr/>
        </p:nvSpPr>
        <p:spPr>
          <a:xfrm>
            <a:off x="7123176" y="3520440"/>
            <a:ext cx="310896" cy="310896"/>
          </a:xfrm>
          <a:prstGeom prst="ellipse">
            <a:avLst/>
          </a:prstGeom>
          <a:solidFill>
            <a:srgbClr val="16B8A6"/>
          </a:solidFill>
          <a:ln/>
        </p:spPr>
      </p:sp>
      <p:sp>
        <p:nvSpPr>
          <p:cNvPr id="65" name="Text 61"/>
          <p:cNvSpPr/>
          <p:nvPr/>
        </p:nvSpPr>
        <p:spPr>
          <a:xfrm>
            <a:off x="7123176" y="3520440"/>
            <a:ext cx="310896" cy="310896"/>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9</a:t>
            </a:r>
            <a:endParaRPr lang="en-US" sz="1100" dirty="0"/>
          </a:p>
        </p:txBody>
      </p:sp>
      <p:sp>
        <p:nvSpPr>
          <p:cNvPr id="66" name="Text 62"/>
          <p:cNvSpPr/>
          <p:nvPr/>
        </p:nvSpPr>
        <p:spPr>
          <a:xfrm>
            <a:off x="7507224" y="3493008"/>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Output Renderer</a:t>
            </a:r>
            <a:endParaRPr lang="en-US" sz="1050" dirty="0"/>
          </a:p>
        </p:txBody>
      </p:sp>
      <p:sp>
        <p:nvSpPr>
          <p:cNvPr id="67" name="Text 63"/>
          <p:cNvSpPr/>
          <p:nvPr/>
        </p:nvSpPr>
        <p:spPr>
          <a:xfrm>
            <a:off x="7507224" y="3767328"/>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Teams / Streamlit</a:t>
            </a:r>
            <a:endParaRPr lang="en-US" sz="850" dirty="0"/>
          </a:p>
        </p:txBody>
      </p:sp>
      <p:sp>
        <p:nvSpPr>
          <p:cNvPr id="68" name="Shape 64"/>
          <p:cNvSpPr/>
          <p:nvPr/>
        </p:nvSpPr>
        <p:spPr>
          <a:xfrm>
            <a:off x="7013448" y="4343400"/>
            <a:ext cx="1975104" cy="749808"/>
          </a:xfrm>
          <a:prstGeom prst="roundRect">
            <a:avLst>
              <a:gd name="adj" fmla="val 6098"/>
            </a:avLst>
          </a:prstGeom>
          <a:solidFill>
            <a:srgbClr val="FFFFFF"/>
          </a:solidFill>
          <a:ln w="12700">
            <a:solidFill>
              <a:srgbClr val="F4B740"/>
            </a:solidFill>
            <a:prstDash val="dash"/>
          </a:ln>
          <a:effectLst>
            <a:outerShdw sx="100000" sy="100000" kx="0" ky="0" algn="bl" rotWithShape="0" blurRad="114300" dist="38100" dir="5400000">
              <a:srgbClr val="000000">
                <a:alpha val="18000"/>
              </a:srgbClr>
            </a:outerShdw>
          </a:effectLst>
        </p:spPr>
      </p:sp>
      <p:sp>
        <p:nvSpPr>
          <p:cNvPr id="69" name="Shape 65"/>
          <p:cNvSpPr/>
          <p:nvPr/>
        </p:nvSpPr>
        <p:spPr>
          <a:xfrm>
            <a:off x="7123176" y="4480560"/>
            <a:ext cx="310896" cy="310896"/>
          </a:xfrm>
          <a:prstGeom prst="ellipse">
            <a:avLst/>
          </a:prstGeom>
          <a:solidFill>
            <a:srgbClr val="F4B740"/>
          </a:solidFill>
          <a:ln/>
        </p:spPr>
      </p:sp>
      <p:sp>
        <p:nvSpPr>
          <p:cNvPr id="70" name="Text 66"/>
          <p:cNvSpPr/>
          <p:nvPr/>
        </p:nvSpPr>
        <p:spPr>
          <a:xfrm>
            <a:off x="7123176" y="4480560"/>
            <a:ext cx="310896" cy="310896"/>
          </a:xfrm>
          <a:prstGeom prst="rect">
            <a:avLst/>
          </a:prstGeom>
          <a:noFill/>
          <a:ln/>
        </p:spPr>
        <p:txBody>
          <a:bodyPr wrap="square" lIns="0" tIns="0" rIns="0" bIns="0" rtlCol="0" anchor="ctr"/>
          <a:lstStyle/>
          <a:p>
            <a:pPr algn="ctr" indent="0" marL="0">
              <a:buNone/>
            </a:pPr>
            <a:r>
              <a:rPr lang="en-US" sz="1100" b="1" dirty="0">
                <a:solidFill>
                  <a:srgbClr val="5A3B00"/>
                </a:solidFill>
                <a:latin typeface="Calibri" pitchFamily="34" charset="0"/>
                <a:ea typeface="Calibri" pitchFamily="34" charset="-122"/>
                <a:cs typeface="Calibri" pitchFamily="34" charset="-120"/>
              </a:rPr>
              <a:t>11</a:t>
            </a:r>
            <a:endParaRPr lang="en-US" sz="1100" dirty="0"/>
          </a:p>
        </p:txBody>
      </p:sp>
      <p:sp>
        <p:nvSpPr>
          <p:cNvPr id="71" name="Text 67"/>
          <p:cNvSpPr/>
          <p:nvPr/>
        </p:nvSpPr>
        <p:spPr>
          <a:xfrm>
            <a:off x="7507224" y="4453128"/>
            <a:ext cx="1371600"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Feedback Store</a:t>
            </a:r>
            <a:endParaRPr lang="en-US" sz="1050" dirty="0"/>
          </a:p>
        </p:txBody>
      </p:sp>
      <p:sp>
        <p:nvSpPr>
          <p:cNvPr id="72" name="Text 68"/>
          <p:cNvSpPr/>
          <p:nvPr/>
        </p:nvSpPr>
        <p:spPr>
          <a:xfrm>
            <a:off x="7507224" y="4727448"/>
            <a:ext cx="1371600"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SQLite · v2</a:t>
            </a:r>
            <a:endParaRPr lang="en-US" sz="850" dirty="0"/>
          </a:p>
        </p:txBody>
      </p:sp>
      <p:sp>
        <p:nvSpPr>
          <p:cNvPr id="73" name="Shape 69"/>
          <p:cNvSpPr/>
          <p:nvPr/>
        </p:nvSpPr>
        <p:spPr>
          <a:xfrm>
            <a:off x="9390888" y="3246120"/>
            <a:ext cx="2103120" cy="914400"/>
          </a:xfrm>
          <a:prstGeom prst="roundRect">
            <a:avLst>
              <a:gd name="adj" fmla="val 5000"/>
            </a:avLst>
          </a:prstGeom>
          <a:solidFill>
            <a:srgbClr val="FFFFFF"/>
          </a:solidFill>
          <a:ln w="12700">
            <a:solidFill>
              <a:srgbClr val="F4B740"/>
            </a:solidFill>
            <a:prstDash val="dash"/>
          </a:ln>
          <a:effectLst>
            <a:outerShdw sx="100000" sy="100000" kx="0" ky="0" algn="bl" rotWithShape="0" blurRad="114300" dist="38100" dir="5400000">
              <a:srgbClr val="000000">
                <a:alpha val="18000"/>
              </a:srgbClr>
            </a:outerShdw>
          </a:effectLst>
        </p:spPr>
      </p:sp>
      <p:sp>
        <p:nvSpPr>
          <p:cNvPr id="74" name="Shape 70"/>
          <p:cNvSpPr/>
          <p:nvPr/>
        </p:nvSpPr>
        <p:spPr>
          <a:xfrm>
            <a:off x="9500616" y="3383280"/>
            <a:ext cx="310896" cy="310896"/>
          </a:xfrm>
          <a:prstGeom prst="ellipse">
            <a:avLst/>
          </a:prstGeom>
          <a:solidFill>
            <a:srgbClr val="F4B740"/>
          </a:solidFill>
          <a:ln/>
        </p:spPr>
      </p:sp>
      <p:sp>
        <p:nvSpPr>
          <p:cNvPr id="75" name="Text 71"/>
          <p:cNvSpPr/>
          <p:nvPr/>
        </p:nvSpPr>
        <p:spPr>
          <a:xfrm>
            <a:off x="9500616" y="3383280"/>
            <a:ext cx="310896" cy="310896"/>
          </a:xfrm>
          <a:prstGeom prst="rect">
            <a:avLst/>
          </a:prstGeom>
          <a:noFill/>
          <a:ln/>
        </p:spPr>
        <p:txBody>
          <a:bodyPr wrap="square" lIns="0" tIns="0" rIns="0" bIns="0" rtlCol="0" anchor="ctr"/>
          <a:lstStyle/>
          <a:p>
            <a:pPr algn="ctr" indent="0" marL="0">
              <a:buNone/>
            </a:pPr>
            <a:r>
              <a:rPr lang="en-US" sz="1100" b="1" dirty="0">
                <a:solidFill>
                  <a:srgbClr val="5A3B00"/>
                </a:solidFill>
                <a:latin typeface="Calibri" pitchFamily="34" charset="0"/>
                <a:ea typeface="Calibri" pitchFamily="34" charset="-122"/>
                <a:cs typeface="Calibri" pitchFamily="34" charset="-120"/>
              </a:rPr>
              <a:t>10</a:t>
            </a:r>
            <a:endParaRPr lang="en-US" sz="1100" dirty="0"/>
          </a:p>
        </p:txBody>
      </p:sp>
      <p:sp>
        <p:nvSpPr>
          <p:cNvPr id="76" name="Text 72"/>
          <p:cNvSpPr/>
          <p:nvPr/>
        </p:nvSpPr>
        <p:spPr>
          <a:xfrm>
            <a:off x="9884664" y="3355848"/>
            <a:ext cx="1499616" cy="274320"/>
          </a:xfrm>
          <a:prstGeom prst="rect">
            <a:avLst/>
          </a:prstGeom>
          <a:noFill/>
          <a:ln/>
        </p:spPr>
        <p:txBody>
          <a:bodyPr wrap="square" lIns="0" tIns="0" rIns="0" bIns="0" rtlCol="0" anchor="ctr"/>
          <a:lstStyle/>
          <a:p>
            <a:pPr indent="0" marL="0">
              <a:buNone/>
            </a:pPr>
            <a:r>
              <a:rPr lang="en-US" sz="1050" b="1" dirty="0">
                <a:solidFill>
                  <a:srgbClr val="1E2E45"/>
                </a:solidFill>
                <a:latin typeface="Calibri" pitchFamily="34" charset="0"/>
                <a:ea typeface="Calibri" pitchFamily="34" charset="-122"/>
                <a:cs typeface="Calibri" pitchFamily="34" charset="-120"/>
              </a:rPr>
              <a:t>Write-Back Adapter</a:t>
            </a:r>
            <a:endParaRPr lang="en-US" sz="1050" dirty="0"/>
          </a:p>
        </p:txBody>
      </p:sp>
      <p:sp>
        <p:nvSpPr>
          <p:cNvPr id="77" name="Text 73"/>
          <p:cNvSpPr/>
          <p:nvPr/>
        </p:nvSpPr>
        <p:spPr>
          <a:xfrm>
            <a:off x="9884664" y="3630168"/>
            <a:ext cx="1499616" cy="237744"/>
          </a:xfrm>
          <a:prstGeom prst="rect">
            <a:avLst/>
          </a:prstGeom>
          <a:noFill/>
          <a:ln/>
        </p:spPr>
        <p:txBody>
          <a:bodyPr wrap="square" lIns="0" tIns="0" rIns="0" bIns="0" rtlCol="0" anchor="t"/>
          <a:lstStyle/>
          <a:p>
            <a:pPr indent="0" marL="0">
              <a:buNone/>
            </a:pPr>
            <a:r>
              <a:rPr lang="en-US" sz="850" dirty="0">
                <a:solidFill>
                  <a:srgbClr val="5B6B80"/>
                </a:solidFill>
                <a:latin typeface="Calibri" pitchFamily="34" charset="0"/>
                <a:ea typeface="Calibri" pitchFamily="34" charset="-122"/>
                <a:cs typeface="Calibri" pitchFamily="34" charset="-120"/>
              </a:rPr>
              <a:t>MCP write · add_label / field / comment</a:t>
            </a:r>
            <a:endParaRPr lang="en-US" sz="850" dirty="0"/>
          </a:p>
        </p:txBody>
      </p:sp>
      <p:sp>
        <p:nvSpPr>
          <p:cNvPr id="78" name="Text 74"/>
          <p:cNvSpPr/>
          <p:nvPr/>
        </p:nvSpPr>
        <p:spPr>
          <a:xfrm>
            <a:off x="9390888" y="4224528"/>
            <a:ext cx="2103120" cy="274320"/>
          </a:xfrm>
          <a:prstGeom prst="rect">
            <a:avLst/>
          </a:prstGeom>
          <a:noFill/>
          <a:ln/>
        </p:spPr>
        <p:txBody>
          <a:bodyPr wrap="square" lIns="0" tIns="0" rIns="0" bIns="0" rtlCol="0" anchor="ctr"/>
          <a:lstStyle/>
          <a:p>
            <a:pPr algn="ctr" indent="0" marL="0">
              <a:buNone/>
            </a:pPr>
            <a:r>
              <a:rPr lang="en-US" sz="850" i="1" dirty="0">
                <a:solidFill>
                  <a:srgbClr val="8A5A00"/>
                </a:solidFill>
                <a:latin typeface="Calibri" pitchFamily="34" charset="0"/>
                <a:ea typeface="Calibri" pitchFamily="34" charset="-122"/>
                <a:cs typeface="Calibri" pitchFamily="34" charset="-120"/>
              </a:rPr>
              <a:t>off by default · client sign-off gated</a:t>
            </a:r>
            <a:endParaRPr lang="en-US" sz="850" dirty="0"/>
          </a:p>
        </p:txBody>
      </p:sp>
      <p:pic>
        <p:nvPicPr>
          <p:cNvPr id="79" name="Image 2" descr="preencoded.png">    </p:cNvPr>
          <p:cNvPicPr>
            <a:picLocks noChangeAspect="1"/>
          </p:cNvPicPr>
          <p:nvPr/>
        </p:nvPicPr>
        <p:blipFill>
          <a:blip r:embed="rId3"/>
          <a:stretch>
            <a:fillRect/>
          </a:stretch>
        </p:blipFill>
        <p:spPr>
          <a:xfrm>
            <a:off x="1947672" y="3703320"/>
            <a:ext cx="219456" cy="219456"/>
          </a:xfrm>
          <a:prstGeom prst="rect">
            <a:avLst/>
          </a:prstGeom>
        </p:spPr>
      </p:pic>
      <p:pic>
        <p:nvPicPr>
          <p:cNvPr id="80" name="Image 3" descr="preencoded.png">    </p:cNvPr>
          <p:cNvPicPr>
            <a:picLocks noChangeAspect="1"/>
          </p:cNvPicPr>
          <p:nvPr/>
        </p:nvPicPr>
        <p:blipFill>
          <a:blip r:embed="rId4"/>
          <a:stretch>
            <a:fillRect/>
          </a:stretch>
        </p:blipFill>
        <p:spPr>
          <a:xfrm>
            <a:off x="4325112" y="3703320"/>
            <a:ext cx="219456" cy="219456"/>
          </a:xfrm>
          <a:prstGeom prst="rect">
            <a:avLst/>
          </a:prstGeom>
        </p:spPr>
      </p:pic>
      <p:pic>
        <p:nvPicPr>
          <p:cNvPr id="81" name="Image 4" descr="preencoded.png">    </p:cNvPr>
          <p:cNvPicPr>
            <a:picLocks noChangeAspect="1"/>
          </p:cNvPicPr>
          <p:nvPr/>
        </p:nvPicPr>
        <p:blipFill>
          <a:blip r:embed="rId5"/>
          <a:stretch>
            <a:fillRect/>
          </a:stretch>
        </p:blipFill>
        <p:spPr>
          <a:xfrm>
            <a:off x="6702552" y="3703320"/>
            <a:ext cx="219456" cy="219456"/>
          </a:xfrm>
          <a:prstGeom prst="rect">
            <a:avLst/>
          </a:prstGeom>
        </p:spPr>
      </p:pic>
      <p:pic>
        <p:nvPicPr>
          <p:cNvPr id="82" name="Image 5" descr="preencoded.png">    </p:cNvPr>
          <p:cNvPicPr>
            <a:picLocks noChangeAspect="1"/>
          </p:cNvPicPr>
          <p:nvPr/>
        </p:nvPicPr>
        <p:blipFill>
          <a:blip r:embed="rId6"/>
          <a:stretch>
            <a:fillRect/>
          </a:stretch>
        </p:blipFill>
        <p:spPr>
          <a:xfrm>
            <a:off x="9079992" y="3703320"/>
            <a:ext cx="219456" cy="219456"/>
          </a:xfrm>
          <a:prstGeom prst="rect">
            <a:avLst/>
          </a:prstGeom>
        </p:spPr>
      </p:pic>
      <p:sp>
        <p:nvSpPr>
          <p:cNvPr id="83" name="Shape 75"/>
          <p:cNvSpPr/>
          <p:nvPr/>
        </p:nvSpPr>
        <p:spPr>
          <a:xfrm>
            <a:off x="10442448" y="6172200"/>
            <a:ext cx="0" cy="320040"/>
          </a:xfrm>
          <a:prstGeom prst="line">
            <a:avLst/>
          </a:prstGeom>
          <a:noFill/>
          <a:ln w="15875">
            <a:solidFill>
              <a:srgbClr val="F4B740"/>
            </a:solidFill>
            <a:prstDash val="dash"/>
          </a:ln>
        </p:spPr>
      </p:sp>
      <p:sp>
        <p:nvSpPr>
          <p:cNvPr id="84" name="Shape 76"/>
          <p:cNvSpPr/>
          <p:nvPr/>
        </p:nvSpPr>
        <p:spPr>
          <a:xfrm>
            <a:off x="1234440" y="6492240"/>
            <a:ext cx="9208008" cy="0"/>
          </a:xfrm>
          <a:prstGeom prst="line">
            <a:avLst/>
          </a:prstGeom>
          <a:noFill/>
          <a:ln w="15875">
            <a:solidFill>
              <a:srgbClr val="F4B740"/>
            </a:solidFill>
            <a:prstDash val="dash"/>
          </a:ln>
        </p:spPr>
      </p:sp>
      <p:sp>
        <p:nvSpPr>
          <p:cNvPr id="85" name="Shape 77"/>
          <p:cNvSpPr/>
          <p:nvPr/>
        </p:nvSpPr>
        <p:spPr>
          <a:xfrm>
            <a:off x="1234440" y="4480560"/>
            <a:ext cx="0" cy="2011680"/>
          </a:xfrm>
          <a:prstGeom prst="line">
            <a:avLst/>
          </a:prstGeom>
          <a:noFill/>
          <a:ln w="15875">
            <a:solidFill>
              <a:srgbClr val="F4B740"/>
            </a:solidFill>
            <a:prstDash val="dash"/>
          </a:ln>
        </p:spPr>
      </p:sp>
      <p:pic>
        <p:nvPicPr>
          <p:cNvPr id="86" name="Image 6" descr="preencoded.png">    </p:cNvPr>
          <p:cNvPicPr>
            <a:picLocks noChangeAspect="1"/>
          </p:cNvPicPr>
          <p:nvPr/>
        </p:nvPicPr>
        <p:blipFill>
          <a:blip r:embed="rId7"/>
          <a:stretch>
            <a:fillRect/>
          </a:stretch>
        </p:blipFill>
        <p:spPr>
          <a:xfrm>
            <a:off x="1124712" y="4370832"/>
            <a:ext cx="219456" cy="219456"/>
          </a:xfrm>
          <a:prstGeom prst="rect">
            <a:avLst/>
          </a:prstGeom>
        </p:spPr>
      </p:pic>
      <p:sp>
        <p:nvSpPr>
          <p:cNvPr id="87" name="Text 78"/>
          <p:cNvSpPr/>
          <p:nvPr/>
        </p:nvSpPr>
        <p:spPr>
          <a:xfrm>
            <a:off x="3840480" y="6272784"/>
            <a:ext cx="3657600" cy="219456"/>
          </a:xfrm>
          <a:prstGeom prst="rect">
            <a:avLst/>
          </a:prstGeom>
          <a:noFill/>
          <a:ln/>
        </p:spPr>
        <p:txBody>
          <a:bodyPr wrap="square" lIns="0" tIns="0" rIns="0" bIns="0" rtlCol="0" anchor="ctr"/>
          <a:lstStyle/>
          <a:p>
            <a:pPr algn="ctr" indent="0" marL="0">
              <a:buNone/>
            </a:pPr>
            <a:r>
              <a:rPr lang="en-US" sz="900" i="1" dirty="0">
                <a:solidFill>
                  <a:srgbClr val="8A5A00"/>
                </a:solidFill>
                <a:latin typeface="Calibri" pitchFamily="34" charset="0"/>
                <a:ea typeface="Calibri" pitchFamily="34" charset="-122"/>
                <a:cs typeface="Calibri" pitchFamily="34" charset="-120"/>
              </a:rPr>
              <a:t>gated write-back to Jira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ARCHITECTURE · FIGURE 2</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The agent loop — one run, end to end</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indent="0" marL="0">
              <a:buNone/>
            </a:pPr>
            <a:r>
              <a:rPr lang="en-US" sz="1300" i="1" dirty="0">
                <a:solidFill>
                  <a:srgbClr val="5B6B80"/>
                </a:solidFill>
                <a:latin typeface="Calibri" pitchFamily="34" charset="0"/>
                <a:ea typeface="Calibri" pitchFamily="34" charset="-122"/>
                <a:cs typeface="Calibri" pitchFamily="34" charset="-120"/>
              </a:rPr>
              <a:t>Steps 3–7 repeat per story; steps 8–10 run once per batch.</a:t>
            </a:r>
            <a:endParaRPr lang="en-US" sz="1300" dirty="0"/>
          </a:p>
        </p:txBody>
      </p:sp>
      <p:sp>
        <p:nvSpPr>
          <p:cNvPr id="5" name="Text 3"/>
          <p:cNvSpPr/>
          <p:nvPr/>
        </p:nvSpPr>
        <p:spPr>
          <a:xfrm>
            <a:off x="548640" y="1847088"/>
            <a:ext cx="2743200" cy="219456"/>
          </a:xfrm>
          <a:prstGeom prst="rect">
            <a:avLst/>
          </a:prstGeom>
          <a:noFill/>
          <a:ln/>
        </p:spPr>
        <p:txBody>
          <a:bodyPr wrap="square" lIns="0" tIns="0" rIns="0" bIns="0" rtlCol="0" anchor="ctr"/>
          <a:lstStyle/>
          <a:p>
            <a:pPr indent="0" marL="0">
              <a:buNone/>
            </a:pPr>
            <a:r>
              <a:rPr lang="en-US" sz="950" b="1" spc="100" kern="0" dirty="0">
                <a:solidFill>
                  <a:srgbClr val="5B6B80"/>
                </a:solidFill>
                <a:latin typeface="Calibri" pitchFamily="34" charset="0"/>
                <a:ea typeface="Calibri" pitchFamily="34" charset="-122"/>
                <a:cs typeface="Calibri" pitchFamily="34" charset="-120"/>
              </a:rPr>
              <a:t>BATCH START</a:t>
            </a:r>
            <a:endParaRPr lang="en-US" sz="950" dirty="0"/>
          </a:p>
        </p:txBody>
      </p:sp>
      <p:sp>
        <p:nvSpPr>
          <p:cNvPr id="6" name="Shape 4"/>
          <p:cNvSpPr/>
          <p:nvPr/>
        </p:nvSpPr>
        <p:spPr>
          <a:xfrm>
            <a:off x="548640" y="2103120"/>
            <a:ext cx="2880360" cy="1051560"/>
          </a:xfrm>
          <a:prstGeom prst="roundRect">
            <a:avLst>
              <a:gd name="adj" fmla="val 5217"/>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7" name="Shape 5"/>
          <p:cNvSpPr/>
          <p:nvPr/>
        </p:nvSpPr>
        <p:spPr>
          <a:xfrm>
            <a:off x="676656" y="2240280"/>
            <a:ext cx="329184" cy="329184"/>
          </a:xfrm>
          <a:prstGeom prst="ellipse">
            <a:avLst/>
          </a:prstGeom>
          <a:solidFill>
            <a:srgbClr val="16B8A6"/>
          </a:solidFill>
          <a:ln/>
        </p:spPr>
      </p:sp>
      <p:sp>
        <p:nvSpPr>
          <p:cNvPr id="8" name="Text 6"/>
          <p:cNvSpPr/>
          <p:nvPr/>
        </p:nvSpPr>
        <p:spPr>
          <a:xfrm>
            <a:off x="676656" y="2240280"/>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676656" y="2606040"/>
            <a:ext cx="262432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Trigger fires</a:t>
            </a:r>
            <a:endParaRPr lang="en-US" sz="1100" dirty="0"/>
          </a:p>
        </p:txBody>
      </p:sp>
      <p:sp>
        <p:nvSpPr>
          <p:cNvPr id="10" name="Text 8"/>
          <p:cNvSpPr/>
          <p:nvPr/>
        </p:nvSpPr>
        <p:spPr>
          <a:xfrm>
            <a:off x="676656" y="2852928"/>
            <a:ext cx="262432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manual (demo) / cron poll</a:t>
            </a:r>
            <a:endParaRPr lang="en-US" sz="880" dirty="0"/>
          </a:p>
        </p:txBody>
      </p:sp>
      <p:sp>
        <p:nvSpPr>
          <p:cNvPr id="11" name="Shape 9"/>
          <p:cNvSpPr/>
          <p:nvPr/>
        </p:nvSpPr>
        <p:spPr>
          <a:xfrm>
            <a:off x="4160520" y="2103120"/>
            <a:ext cx="2880360" cy="1051560"/>
          </a:xfrm>
          <a:prstGeom prst="roundRect">
            <a:avLst>
              <a:gd name="adj" fmla="val 5217"/>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12" name="Shape 10"/>
          <p:cNvSpPr/>
          <p:nvPr/>
        </p:nvSpPr>
        <p:spPr>
          <a:xfrm>
            <a:off x="4288536" y="2240280"/>
            <a:ext cx="329184" cy="329184"/>
          </a:xfrm>
          <a:prstGeom prst="ellipse">
            <a:avLst/>
          </a:prstGeom>
          <a:solidFill>
            <a:srgbClr val="16B8A6"/>
          </a:solidFill>
          <a:ln/>
        </p:spPr>
      </p:sp>
      <p:sp>
        <p:nvSpPr>
          <p:cNvPr id="13" name="Text 11"/>
          <p:cNvSpPr/>
          <p:nvPr/>
        </p:nvSpPr>
        <p:spPr>
          <a:xfrm>
            <a:off x="4288536" y="2240280"/>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4288536" y="2606040"/>
            <a:ext cx="262432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Select stories</a:t>
            </a:r>
            <a:endParaRPr lang="en-US" sz="1100" dirty="0"/>
          </a:p>
        </p:txBody>
      </p:sp>
      <p:sp>
        <p:nvSpPr>
          <p:cNvPr id="15" name="Text 13"/>
          <p:cNvSpPr/>
          <p:nvPr/>
        </p:nvSpPr>
        <p:spPr>
          <a:xfrm>
            <a:off x="4288536" y="2852928"/>
            <a:ext cx="262432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search_issues · JQL</a:t>
            </a:r>
            <a:endParaRPr lang="en-US" sz="880" dirty="0"/>
          </a:p>
        </p:txBody>
      </p:sp>
      <p:pic>
        <p:nvPicPr>
          <p:cNvPr id="16" name="Image 0" descr="preencoded.png">    </p:cNvPr>
          <p:cNvPicPr>
            <a:picLocks noChangeAspect="1"/>
          </p:cNvPicPr>
          <p:nvPr/>
        </p:nvPicPr>
        <p:blipFill>
          <a:blip r:embed="rId1"/>
          <a:stretch>
            <a:fillRect/>
          </a:stretch>
        </p:blipFill>
        <p:spPr>
          <a:xfrm>
            <a:off x="3520440" y="2542032"/>
            <a:ext cx="219456" cy="219456"/>
          </a:xfrm>
          <a:prstGeom prst="rect">
            <a:avLst/>
          </a:prstGeom>
        </p:spPr>
      </p:pic>
      <p:pic>
        <p:nvPicPr>
          <p:cNvPr id="17" name="Image 1" descr="preencoded.png">    </p:cNvPr>
          <p:cNvPicPr>
            <a:picLocks noChangeAspect="1"/>
          </p:cNvPicPr>
          <p:nvPr/>
        </p:nvPicPr>
        <p:blipFill>
          <a:blip r:embed="rId2"/>
          <a:stretch>
            <a:fillRect/>
          </a:stretch>
        </p:blipFill>
        <p:spPr>
          <a:xfrm>
            <a:off x="5486400" y="3200400"/>
            <a:ext cx="219456" cy="219456"/>
          </a:xfrm>
          <a:prstGeom prst="rect">
            <a:avLst/>
          </a:prstGeom>
        </p:spPr>
      </p:pic>
      <p:sp>
        <p:nvSpPr>
          <p:cNvPr id="18" name="Shape 14"/>
          <p:cNvSpPr/>
          <p:nvPr/>
        </p:nvSpPr>
        <p:spPr>
          <a:xfrm>
            <a:off x="548640" y="3520440"/>
            <a:ext cx="11064240" cy="1600200"/>
          </a:xfrm>
          <a:prstGeom prst="roundRect">
            <a:avLst>
              <a:gd name="adj" fmla="val 4000"/>
            </a:avLst>
          </a:prstGeom>
          <a:solidFill>
            <a:srgbClr val="F4F7FA"/>
          </a:solidFill>
          <a:ln w="12700">
            <a:solidFill>
              <a:srgbClr val="9FE1CB"/>
            </a:solidFill>
            <a:prstDash val="solid"/>
          </a:ln>
        </p:spPr>
      </p:sp>
      <p:sp>
        <p:nvSpPr>
          <p:cNvPr id="19" name="Text 15"/>
          <p:cNvSpPr/>
          <p:nvPr/>
        </p:nvSpPr>
        <p:spPr>
          <a:xfrm>
            <a:off x="731520" y="3611880"/>
            <a:ext cx="5486400" cy="237744"/>
          </a:xfrm>
          <a:prstGeom prst="rect">
            <a:avLst/>
          </a:prstGeom>
          <a:noFill/>
          <a:ln/>
        </p:spPr>
        <p:txBody>
          <a:bodyPr wrap="square" lIns="0" tIns="0" rIns="0" bIns="0" rtlCol="0" anchor="ctr"/>
          <a:lstStyle/>
          <a:p>
            <a:pPr indent="0" marL="0">
              <a:buNone/>
            </a:pPr>
            <a:r>
              <a:rPr lang="en-US" sz="950" b="1" spc="100" kern="0" dirty="0">
                <a:solidFill>
                  <a:srgbClr val="0E8A7D"/>
                </a:solidFill>
                <a:latin typeface="Calibri" pitchFamily="34" charset="0"/>
                <a:ea typeface="Calibri" pitchFamily="34" charset="-122"/>
                <a:cs typeface="Calibri" pitchFamily="34" charset="-120"/>
              </a:rPr>
              <a:t>PER STORY · repeat steps 3–7</a:t>
            </a:r>
            <a:endParaRPr lang="en-US" sz="950" dirty="0"/>
          </a:p>
        </p:txBody>
      </p:sp>
      <p:sp>
        <p:nvSpPr>
          <p:cNvPr id="20" name="Shape 16"/>
          <p:cNvSpPr/>
          <p:nvPr/>
        </p:nvSpPr>
        <p:spPr>
          <a:xfrm>
            <a:off x="731520" y="3913632"/>
            <a:ext cx="1920240" cy="1051560"/>
          </a:xfrm>
          <a:prstGeom prst="roundRect">
            <a:avLst>
              <a:gd name="adj" fmla="val 5217"/>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21" name="Shape 17"/>
          <p:cNvSpPr/>
          <p:nvPr/>
        </p:nvSpPr>
        <p:spPr>
          <a:xfrm>
            <a:off x="859536" y="4050792"/>
            <a:ext cx="329184" cy="329184"/>
          </a:xfrm>
          <a:prstGeom prst="ellipse">
            <a:avLst/>
          </a:prstGeom>
          <a:solidFill>
            <a:srgbClr val="16B8A6"/>
          </a:solidFill>
          <a:ln/>
        </p:spPr>
      </p:sp>
      <p:sp>
        <p:nvSpPr>
          <p:cNvPr id="22" name="Text 18"/>
          <p:cNvSpPr/>
          <p:nvPr/>
        </p:nvSpPr>
        <p:spPr>
          <a:xfrm>
            <a:off x="859536" y="4050792"/>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3</a:t>
            </a:r>
            <a:endParaRPr lang="en-US" sz="1200" dirty="0"/>
          </a:p>
        </p:txBody>
      </p:sp>
      <p:sp>
        <p:nvSpPr>
          <p:cNvPr id="23" name="Text 19"/>
          <p:cNvSpPr/>
          <p:nvPr/>
        </p:nvSpPr>
        <p:spPr>
          <a:xfrm>
            <a:off x="859536" y="4416552"/>
            <a:ext cx="166420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Fetch</a:t>
            </a:r>
            <a:endParaRPr lang="en-US" sz="1100" dirty="0"/>
          </a:p>
        </p:txBody>
      </p:sp>
      <p:sp>
        <p:nvSpPr>
          <p:cNvPr id="24" name="Text 20"/>
          <p:cNvSpPr/>
          <p:nvPr/>
        </p:nvSpPr>
        <p:spPr>
          <a:xfrm>
            <a:off x="859536" y="4663440"/>
            <a:ext cx="166420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get_issue · comments · links</a:t>
            </a:r>
            <a:endParaRPr lang="en-US" sz="880" dirty="0"/>
          </a:p>
        </p:txBody>
      </p:sp>
      <p:sp>
        <p:nvSpPr>
          <p:cNvPr id="25" name="Shape 21"/>
          <p:cNvSpPr/>
          <p:nvPr/>
        </p:nvSpPr>
        <p:spPr>
          <a:xfrm>
            <a:off x="2798064" y="3913632"/>
            <a:ext cx="1920240" cy="1051560"/>
          </a:xfrm>
          <a:prstGeom prst="roundRect">
            <a:avLst>
              <a:gd name="adj" fmla="val 5217"/>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26" name="Shape 22"/>
          <p:cNvSpPr/>
          <p:nvPr/>
        </p:nvSpPr>
        <p:spPr>
          <a:xfrm>
            <a:off x="2926080" y="4050792"/>
            <a:ext cx="329184" cy="329184"/>
          </a:xfrm>
          <a:prstGeom prst="ellipse">
            <a:avLst/>
          </a:prstGeom>
          <a:solidFill>
            <a:srgbClr val="16B8A6"/>
          </a:solidFill>
          <a:ln/>
        </p:spPr>
      </p:sp>
      <p:sp>
        <p:nvSpPr>
          <p:cNvPr id="27" name="Text 23"/>
          <p:cNvSpPr/>
          <p:nvPr/>
        </p:nvSpPr>
        <p:spPr>
          <a:xfrm>
            <a:off x="2926080" y="4050792"/>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4</a:t>
            </a:r>
            <a:endParaRPr lang="en-US" sz="1200" dirty="0"/>
          </a:p>
        </p:txBody>
      </p:sp>
      <p:sp>
        <p:nvSpPr>
          <p:cNvPr id="28" name="Text 24"/>
          <p:cNvSpPr/>
          <p:nvPr/>
        </p:nvSpPr>
        <p:spPr>
          <a:xfrm>
            <a:off x="2926080" y="4416552"/>
            <a:ext cx="166420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Bundle</a:t>
            </a:r>
            <a:endParaRPr lang="en-US" sz="1100" dirty="0"/>
          </a:p>
        </p:txBody>
      </p:sp>
      <p:sp>
        <p:nvSpPr>
          <p:cNvPr id="29" name="Text 25"/>
          <p:cNvSpPr/>
          <p:nvPr/>
        </p:nvSpPr>
        <p:spPr>
          <a:xfrm>
            <a:off x="2926080" y="4663440"/>
            <a:ext cx="166420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 StoryBundle</a:t>
            </a:r>
            <a:endParaRPr lang="en-US" sz="880" dirty="0"/>
          </a:p>
        </p:txBody>
      </p:sp>
      <p:sp>
        <p:nvSpPr>
          <p:cNvPr id="30" name="Shape 26"/>
          <p:cNvSpPr/>
          <p:nvPr/>
        </p:nvSpPr>
        <p:spPr>
          <a:xfrm>
            <a:off x="4864608" y="3913632"/>
            <a:ext cx="1920240" cy="1051560"/>
          </a:xfrm>
          <a:prstGeom prst="roundRect">
            <a:avLst>
              <a:gd name="adj" fmla="val 5217"/>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31" name="Shape 27"/>
          <p:cNvSpPr/>
          <p:nvPr/>
        </p:nvSpPr>
        <p:spPr>
          <a:xfrm>
            <a:off x="4992624" y="4050792"/>
            <a:ext cx="329184" cy="329184"/>
          </a:xfrm>
          <a:prstGeom prst="ellipse">
            <a:avLst/>
          </a:prstGeom>
          <a:solidFill>
            <a:srgbClr val="16B8A6"/>
          </a:solidFill>
          <a:ln/>
        </p:spPr>
      </p:sp>
      <p:sp>
        <p:nvSpPr>
          <p:cNvPr id="32" name="Text 28"/>
          <p:cNvSpPr/>
          <p:nvPr/>
        </p:nvSpPr>
        <p:spPr>
          <a:xfrm>
            <a:off x="4992624" y="4050792"/>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5</a:t>
            </a:r>
            <a:endParaRPr lang="en-US" sz="1200" dirty="0"/>
          </a:p>
        </p:txBody>
      </p:sp>
      <p:sp>
        <p:nvSpPr>
          <p:cNvPr id="33" name="Text 29"/>
          <p:cNvSpPr/>
          <p:nvPr/>
        </p:nvSpPr>
        <p:spPr>
          <a:xfrm>
            <a:off x="4992624" y="4416552"/>
            <a:ext cx="166420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Assemble</a:t>
            </a:r>
            <a:endParaRPr lang="en-US" sz="1100" dirty="0"/>
          </a:p>
        </p:txBody>
      </p:sp>
      <p:sp>
        <p:nvSpPr>
          <p:cNvPr id="34" name="Text 30"/>
          <p:cNvSpPr/>
          <p:nvPr/>
        </p:nvSpPr>
        <p:spPr>
          <a:xfrm>
            <a:off x="4992624" y="4663440"/>
            <a:ext cx="166420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rubric + few-shot</a:t>
            </a:r>
            <a:endParaRPr lang="en-US" sz="880" dirty="0"/>
          </a:p>
        </p:txBody>
      </p:sp>
      <p:sp>
        <p:nvSpPr>
          <p:cNvPr id="35" name="Shape 31"/>
          <p:cNvSpPr/>
          <p:nvPr/>
        </p:nvSpPr>
        <p:spPr>
          <a:xfrm>
            <a:off x="6931152" y="3913632"/>
            <a:ext cx="1920240" cy="1051560"/>
          </a:xfrm>
          <a:prstGeom prst="roundRect">
            <a:avLst>
              <a:gd name="adj" fmla="val 5217"/>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36" name="Shape 32"/>
          <p:cNvSpPr/>
          <p:nvPr/>
        </p:nvSpPr>
        <p:spPr>
          <a:xfrm>
            <a:off x="7059168" y="4050792"/>
            <a:ext cx="329184" cy="329184"/>
          </a:xfrm>
          <a:prstGeom prst="ellipse">
            <a:avLst/>
          </a:prstGeom>
          <a:solidFill>
            <a:srgbClr val="16B8A6"/>
          </a:solidFill>
          <a:ln/>
        </p:spPr>
      </p:sp>
      <p:sp>
        <p:nvSpPr>
          <p:cNvPr id="37" name="Text 33"/>
          <p:cNvSpPr/>
          <p:nvPr/>
        </p:nvSpPr>
        <p:spPr>
          <a:xfrm>
            <a:off x="7059168" y="4050792"/>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6</a:t>
            </a:r>
            <a:endParaRPr lang="en-US" sz="1200" dirty="0"/>
          </a:p>
        </p:txBody>
      </p:sp>
      <p:sp>
        <p:nvSpPr>
          <p:cNvPr id="38" name="Text 34"/>
          <p:cNvSpPr/>
          <p:nvPr/>
        </p:nvSpPr>
        <p:spPr>
          <a:xfrm>
            <a:off x="7059168" y="4416552"/>
            <a:ext cx="166420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Score</a:t>
            </a:r>
            <a:endParaRPr lang="en-US" sz="1100" dirty="0"/>
          </a:p>
        </p:txBody>
      </p:sp>
      <p:sp>
        <p:nvSpPr>
          <p:cNvPr id="39" name="Text 35"/>
          <p:cNvSpPr/>
          <p:nvPr/>
        </p:nvSpPr>
        <p:spPr>
          <a:xfrm>
            <a:off x="7059168" y="4663440"/>
            <a:ext cx="166420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Claude · temp 0.2 · JSON</a:t>
            </a:r>
            <a:endParaRPr lang="en-US" sz="880" dirty="0"/>
          </a:p>
        </p:txBody>
      </p:sp>
      <p:sp>
        <p:nvSpPr>
          <p:cNvPr id="40" name="Shape 36"/>
          <p:cNvSpPr/>
          <p:nvPr/>
        </p:nvSpPr>
        <p:spPr>
          <a:xfrm>
            <a:off x="8997696" y="3913632"/>
            <a:ext cx="1920240" cy="1051560"/>
          </a:xfrm>
          <a:prstGeom prst="roundRect">
            <a:avLst>
              <a:gd name="adj" fmla="val 5217"/>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41" name="Shape 37"/>
          <p:cNvSpPr/>
          <p:nvPr/>
        </p:nvSpPr>
        <p:spPr>
          <a:xfrm>
            <a:off x="9125712" y="4050792"/>
            <a:ext cx="329184" cy="329184"/>
          </a:xfrm>
          <a:prstGeom prst="ellipse">
            <a:avLst/>
          </a:prstGeom>
          <a:solidFill>
            <a:srgbClr val="16B8A6"/>
          </a:solidFill>
          <a:ln/>
        </p:spPr>
      </p:sp>
      <p:sp>
        <p:nvSpPr>
          <p:cNvPr id="42" name="Text 38"/>
          <p:cNvSpPr/>
          <p:nvPr/>
        </p:nvSpPr>
        <p:spPr>
          <a:xfrm>
            <a:off x="9125712" y="4050792"/>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7</a:t>
            </a:r>
            <a:endParaRPr lang="en-US" sz="1200" dirty="0"/>
          </a:p>
        </p:txBody>
      </p:sp>
      <p:sp>
        <p:nvSpPr>
          <p:cNvPr id="43" name="Text 39"/>
          <p:cNvSpPr/>
          <p:nvPr/>
        </p:nvSpPr>
        <p:spPr>
          <a:xfrm>
            <a:off x="9125712" y="4416552"/>
            <a:ext cx="166420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Validate</a:t>
            </a:r>
            <a:endParaRPr lang="en-US" sz="1100" dirty="0"/>
          </a:p>
        </p:txBody>
      </p:sp>
      <p:sp>
        <p:nvSpPr>
          <p:cNvPr id="44" name="Text 40"/>
          <p:cNvSpPr/>
          <p:nvPr/>
        </p:nvSpPr>
        <p:spPr>
          <a:xfrm>
            <a:off x="9125712" y="4663440"/>
            <a:ext cx="166420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schema · repair · RAG</a:t>
            </a:r>
            <a:endParaRPr lang="en-US" sz="880" dirty="0"/>
          </a:p>
        </p:txBody>
      </p:sp>
      <p:pic>
        <p:nvPicPr>
          <p:cNvPr id="45" name="Image 2" descr="preencoded.png">    </p:cNvPr>
          <p:cNvPicPr>
            <a:picLocks noChangeAspect="1"/>
          </p:cNvPicPr>
          <p:nvPr/>
        </p:nvPicPr>
        <p:blipFill>
          <a:blip r:embed="rId3"/>
          <a:stretch>
            <a:fillRect/>
          </a:stretch>
        </p:blipFill>
        <p:spPr>
          <a:xfrm>
            <a:off x="2670048" y="4334256"/>
            <a:ext cx="219456" cy="219456"/>
          </a:xfrm>
          <a:prstGeom prst="rect">
            <a:avLst/>
          </a:prstGeom>
        </p:spPr>
      </p:pic>
      <p:pic>
        <p:nvPicPr>
          <p:cNvPr id="46" name="Image 3" descr="preencoded.png">    </p:cNvPr>
          <p:cNvPicPr>
            <a:picLocks noChangeAspect="1"/>
          </p:cNvPicPr>
          <p:nvPr/>
        </p:nvPicPr>
        <p:blipFill>
          <a:blip r:embed="rId4"/>
          <a:stretch>
            <a:fillRect/>
          </a:stretch>
        </p:blipFill>
        <p:spPr>
          <a:xfrm>
            <a:off x="4736592" y="4334256"/>
            <a:ext cx="219456" cy="219456"/>
          </a:xfrm>
          <a:prstGeom prst="rect">
            <a:avLst/>
          </a:prstGeom>
        </p:spPr>
      </p:pic>
      <p:pic>
        <p:nvPicPr>
          <p:cNvPr id="47" name="Image 4" descr="preencoded.png">    </p:cNvPr>
          <p:cNvPicPr>
            <a:picLocks noChangeAspect="1"/>
          </p:cNvPicPr>
          <p:nvPr/>
        </p:nvPicPr>
        <p:blipFill>
          <a:blip r:embed="rId5"/>
          <a:stretch>
            <a:fillRect/>
          </a:stretch>
        </p:blipFill>
        <p:spPr>
          <a:xfrm>
            <a:off x="6803136" y="4334256"/>
            <a:ext cx="219456" cy="219456"/>
          </a:xfrm>
          <a:prstGeom prst="rect">
            <a:avLst/>
          </a:prstGeom>
        </p:spPr>
      </p:pic>
      <p:pic>
        <p:nvPicPr>
          <p:cNvPr id="48" name="Image 5" descr="preencoded.png">    </p:cNvPr>
          <p:cNvPicPr>
            <a:picLocks noChangeAspect="1"/>
          </p:cNvPicPr>
          <p:nvPr/>
        </p:nvPicPr>
        <p:blipFill>
          <a:blip r:embed="rId6"/>
          <a:stretch>
            <a:fillRect/>
          </a:stretch>
        </p:blipFill>
        <p:spPr>
          <a:xfrm>
            <a:off x="8869680" y="4334256"/>
            <a:ext cx="219456" cy="219456"/>
          </a:xfrm>
          <a:prstGeom prst="rect">
            <a:avLst/>
          </a:prstGeom>
        </p:spPr>
      </p:pic>
      <p:pic>
        <p:nvPicPr>
          <p:cNvPr id="49" name="Image 6" descr="preencoded.png">    </p:cNvPr>
          <p:cNvPicPr>
            <a:picLocks noChangeAspect="1"/>
          </p:cNvPicPr>
          <p:nvPr/>
        </p:nvPicPr>
        <p:blipFill>
          <a:blip r:embed="rId7"/>
          <a:stretch>
            <a:fillRect/>
          </a:stretch>
        </p:blipFill>
        <p:spPr>
          <a:xfrm>
            <a:off x="5577840" y="4791456"/>
            <a:ext cx="182880" cy="182880"/>
          </a:xfrm>
          <a:prstGeom prst="rect">
            <a:avLst/>
          </a:prstGeom>
        </p:spPr>
      </p:pic>
      <p:sp>
        <p:nvSpPr>
          <p:cNvPr id="50" name="Text 41"/>
          <p:cNvSpPr/>
          <p:nvPr/>
        </p:nvSpPr>
        <p:spPr>
          <a:xfrm>
            <a:off x="5806440" y="4773168"/>
            <a:ext cx="2743200" cy="219456"/>
          </a:xfrm>
          <a:prstGeom prst="rect">
            <a:avLst/>
          </a:prstGeom>
          <a:noFill/>
          <a:ln/>
        </p:spPr>
        <p:txBody>
          <a:bodyPr wrap="square" lIns="0" tIns="0" rIns="0" bIns="0" rtlCol="0" anchor="ctr"/>
          <a:lstStyle/>
          <a:p>
            <a:pPr indent="0" marL="0">
              <a:buNone/>
            </a:pPr>
            <a:r>
              <a:rPr lang="en-US" sz="900" i="1" dirty="0">
                <a:solidFill>
                  <a:srgbClr val="0E8A7D"/>
                </a:solidFill>
                <a:latin typeface="Calibri" pitchFamily="34" charset="0"/>
                <a:ea typeface="Calibri" pitchFamily="34" charset="-122"/>
                <a:cs typeface="Calibri" pitchFamily="34" charset="-120"/>
              </a:rPr>
              <a:t>loop to the next story</a:t>
            </a:r>
            <a:endParaRPr lang="en-US" sz="900" dirty="0"/>
          </a:p>
        </p:txBody>
      </p:sp>
      <p:pic>
        <p:nvPicPr>
          <p:cNvPr id="51" name="Image 7" descr="preencoded.png">    </p:cNvPr>
          <p:cNvPicPr>
            <a:picLocks noChangeAspect="1"/>
          </p:cNvPicPr>
          <p:nvPr/>
        </p:nvPicPr>
        <p:blipFill>
          <a:blip r:embed="rId8"/>
          <a:stretch>
            <a:fillRect/>
          </a:stretch>
        </p:blipFill>
        <p:spPr>
          <a:xfrm>
            <a:off x="5486400" y="5193792"/>
            <a:ext cx="219456" cy="219456"/>
          </a:xfrm>
          <a:prstGeom prst="rect">
            <a:avLst/>
          </a:prstGeom>
        </p:spPr>
      </p:pic>
      <p:sp>
        <p:nvSpPr>
          <p:cNvPr id="52" name="Shape 42"/>
          <p:cNvSpPr/>
          <p:nvPr/>
        </p:nvSpPr>
        <p:spPr>
          <a:xfrm>
            <a:off x="548640" y="5504688"/>
            <a:ext cx="11064240" cy="1170432"/>
          </a:xfrm>
          <a:prstGeom prst="roundRect">
            <a:avLst>
              <a:gd name="adj" fmla="val 5469"/>
            </a:avLst>
          </a:prstGeom>
          <a:solidFill>
            <a:srgbClr val="F4F7FA"/>
          </a:solidFill>
          <a:ln w="12700">
            <a:solidFill>
              <a:srgbClr val="E7ECF2"/>
            </a:solidFill>
            <a:prstDash val="solid"/>
          </a:ln>
        </p:spPr>
      </p:sp>
      <p:sp>
        <p:nvSpPr>
          <p:cNvPr id="53" name="Text 43"/>
          <p:cNvSpPr/>
          <p:nvPr/>
        </p:nvSpPr>
        <p:spPr>
          <a:xfrm>
            <a:off x="731520" y="5596128"/>
            <a:ext cx="5486400" cy="237744"/>
          </a:xfrm>
          <a:prstGeom prst="rect">
            <a:avLst/>
          </a:prstGeom>
          <a:noFill/>
          <a:ln/>
        </p:spPr>
        <p:txBody>
          <a:bodyPr wrap="square" lIns="0" tIns="0" rIns="0" bIns="0" rtlCol="0" anchor="ctr"/>
          <a:lstStyle/>
          <a:p>
            <a:pPr indent="0" marL="0">
              <a:buNone/>
            </a:pPr>
            <a:r>
              <a:rPr lang="en-US" sz="950" b="1" spc="100" kern="0" dirty="0">
                <a:solidFill>
                  <a:srgbClr val="5B6B80"/>
                </a:solidFill>
                <a:latin typeface="Calibri" pitchFamily="34" charset="0"/>
                <a:ea typeface="Calibri" pitchFamily="34" charset="-122"/>
                <a:cs typeface="Calibri" pitchFamily="34" charset="-120"/>
              </a:rPr>
              <a:t>ONCE PER BATCH · steps 8–10</a:t>
            </a:r>
            <a:endParaRPr lang="en-US" sz="950" dirty="0"/>
          </a:p>
        </p:txBody>
      </p:sp>
      <p:sp>
        <p:nvSpPr>
          <p:cNvPr id="54" name="Shape 44"/>
          <p:cNvSpPr/>
          <p:nvPr/>
        </p:nvSpPr>
        <p:spPr>
          <a:xfrm>
            <a:off x="777240" y="5870448"/>
            <a:ext cx="3017520" cy="731520"/>
          </a:xfrm>
          <a:prstGeom prst="roundRect">
            <a:avLst>
              <a:gd name="adj" fmla="val 7500"/>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55" name="Shape 45"/>
          <p:cNvSpPr/>
          <p:nvPr/>
        </p:nvSpPr>
        <p:spPr>
          <a:xfrm>
            <a:off x="905256" y="6007608"/>
            <a:ext cx="329184" cy="329184"/>
          </a:xfrm>
          <a:prstGeom prst="ellipse">
            <a:avLst/>
          </a:prstGeom>
          <a:solidFill>
            <a:srgbClr val="16B8A6"/>
          </a:solidFill>
          <a:ln/>
        </p:spPr>
      </p:sp>
      <p:sp>
        <p:nvSpPr>
          <p:cNvPr id="56" name="Text 46"/>
          <p:cNvSpPr/>
          <p:nvPr/>
        </p:nvSpPr>
        <p:spPr>
          <a:xfrm>
            <a:off x="905256" y="6007608"/>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8</a:t>
            </a:r>
            <a:endParaRPr lang="en-US" sz="1200" dirty="0"/>
          </a:p>
        </p:txBody>
      </p:sp>
      <p:sp>
        <p:nvSpPr>
          <p:cNvPr id="57" name="Text 47"/>
          <p:cNvSpPr/>
          <p:nvPr/>
        </p:nvSpPr>
        <p:spPr>
          <a:xfrm>
            <a:off x="905256" y="6373368"/>
            <a:ext cx="276148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Aggregate</a:t>
            </a:r>
            <a:endParaRPr lang="en-US" sz="1100" dirty="0"/>
          </a:p>
        </p:txBody>
      </p:sp>
      <p:sp>
        <p:nvSpPr>
          <p:cNvPr id="58" name="Text 48"/>
          <p:cNvSpPr/>
          <p:nvPr/>
        </p:nvSpPr>
        <p:spPr>
          <a:xfrm>
            <a:off x="905256" y="6620256"/>
            <a:ext cx="276148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RAG spread · counts</a:t>
            </a:r>
            <a:endParaRPr lang="en-US" sz="880" dirty="0"/>
          </a:p>
        </p:txBody>
      </p:sp>
      <p:sp>
        <p:nvSpPr>
          <p:cNvPr id="59" name="Shape 49"/>
          <p:cNvSpPr/>
          <p:nvPr/>
        </p:nvSpPr>
        <p:spPr>
          <a:xfrm>
            <a:off x="4480560" y="5870448"/>
            <a:ext cx="3017520" cy="731520"/>
          </a:xfrm>
          <a:prstGeom prst="roundRect">
            <a:avLst>
              <a:gd name="adj" fmla="val 7500"/>
            </a:avLst>
          </a:prstGeom>
          <a:solidFill>
            <a:srgbClr val="FFFFFF"/>
          </a:solidFill>
          <a:ln w="9525">
            <a:solidFill>
              <a:srgbClr val="E2E8F0"/>
            </a:solidFill>
            <a:prstDash val="solid"/>
          </a:ln>
          <a:effectLst>
            <a:outerShdw sx="100000" sy="100000" kx="0" ky="0" algn="bl" rotWithShape="0" blurRad="114300" dist="38100" dir="5400000">
              <a:srgbClr val="000000">
                <a:alpha val="18000"/>
              </a:srgbClr>
            </a:outerShdw>
          </a:effectLst>
        </p:spPr>
      </p:sp>
      <p:sp>
        <p:nvSpPr>
          <p:cNvPr id="60" name="Shape 50"/>
          <p:cNvSpPr/>
          <p:nvPr/>
        </p:nvSpPr>
        <p:spPr>
          <a:xfrm>
            <a:off x="4608576" y="6007608"/>
            <a:ext cx="329184" cy="329184"/>
          </a:xfrm>
          <a:prstGeom prst="ellipse">
            <a:avLst/>
          </a:prstGeom>
          <a:solidFill>
            <a:srgbClr val="16B8A6"/>
          </a:solidFill>
          <a:ln/>
        </p:spPr>
      </p:sp>
      <p:sp>
        <p:nvSpPr>
          <p:cNvPr id="61" name="Text 51"/>
          <p:cNvSpPr/>
          <p:nvPr/>
        </p:nvSpPr>
        <p:spPr>
          <a:xfrm>
            <a:off x="4608576" y="6007608"/>
            <a:ext cx="329184" cy="329184"/>
          </a:xfrm>
          <a:prstGeom prst="rect">
            <a:avLst/>
          </a:prstGeom>
          <a:noFill/>
          <a:ln/>
        </p:spPr>
        <p:txBody>
          <a:bodyPr wrap="square" lIns="0" tIns="0" rIns="0" bIns="0" rtlCol="0" anchor="ctr"/>
          <a:lstStyle/>
          <a:p>
            <a:pPr algn="ctr" indent="0" marL="0">
              <a:buNone/>
            </a:pPr>
            <a:r>
              <a:rPr lang="en-US" sz="1200" b="1" dirty="0">
                <a:solidFill>
                  <a:srgbClr val="0E1A2B"/>
                </a:solidFill>
                <a:latin typeface="Calibri" pitchFamily="34" charset="0"/>
                <a:ea typeface="Calibri" pitchFamily="34" charset="-122"/>
                <a:cs typeface="Calibri" pitchFamily="34" charset="-120"/>
              </a:rPr>
              <a:t>9</a:t>
            </a:r>
            <a:endParaRPr lang="en-US" sz="1200" dirty="0"/>
          </a:p>
        </p:txBody>
      </p:sp>
      <p:sp>
        <p:nvSpPr>
          <p:cNvPr id="62" name="Text 52"/>
          <p:cNvSpPr/>
          <p:nvPr/>
        </p:nvSpPr>
        <p:spPr>
          <a:xfrm>
            <a:off x="4608576" y="6373368"/>
            <a:ext cx="276148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Render</a:t>
            </a:r>
            <a:endParaRPr lang="en-US" sz="1100" dirty="0"/>
          </a:p>
        </p:txBody>
      </p:sp>
      <p:sp>
        <p:nvSpPr>
          <p:cNvPr id="63" name="Text 53"/>
          <p:cNvSpPr/>
          <p:nvPr/>
        </p:nvSpPr>
        <p:spPr>
          <a:xfrm>
            <a:off x="4608576" y="6620256"/>
            <a:ext cx="276148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Teams / Streamlit</a:t>
            </a:r>
            <a:endParaRPr lang="en-US" sz="880" dirty="0"/>
          </a:p>
        </p:txBody>
      </p:sp>
      <p:sp>
        <p:nvSpPr>
          <p:cNvPr id="64" name="Shape 54"/>
          <p:cNvSpPr/>
          <p:nvPr/>
        </p:nvSpPr>
        <p:spPr>
          <a:xfrm>
            <a:off x="8183880" y="5870448"/>
            <a:ext cx="3246120" cy="731520"/>
          </a:xfrm>
          <a:prstGeom prst="roundRect">
            <a:avLst>
              <a:gd name="adj" fmla="val 7500"/>
            </a:avLst>
          </a:prstGeom>
          <a:solidFill>
            <a:srgbClr val="FFFFFF"/>
          </a:solidFill>
          <a:ln w="12700">
            <a:solidFill>
              <a:srgbClr val="F4B740"/>
            </a:solidFill>
            <a:prstDash val="dash"/>
          </a:ln>
          <a:effectLst>
            <a:outerShdw sx="100000" sy="100000" kx="0" ky="0" algn="bl" rotWithShape="0" blurRad="114300" dist="38100" dir="5400000">
              <a:srgbClr val="000000">
                <a:alpha val="18000"/>
              </a:srgbClr>
            </a:outerShdw>
          </a:effectLst>
        </p:spPr>
      </p:sp>
      <p:sp>
        <p:nvSpPr>
          <p:cNvPr id="65" name="Shape 55"/>
          <p:cNvSpPr/>
          <p:nvPr/>
        </p:nvSpPr>
        <p:spPr>
          <a:xfrm>
            <a:off x="8311896" y="6007608"/>
            <a:ext cx="329184" cy="329184"/>
          </a:xfrm>
          <a:prstGeom prst="ellipse">
            <a:avLst/>
          </a:prstGeom>
          <a:solidFill>
            <a:srgbClr val="F4B740"/>
          </a:solidFill>
          <a:ln/>
        </p:spPr>
      </p:sp>
      <p:sp>
        <p:nvSpPr>
          <p:cNvPr id="66" name="Text 56"/>
          <p:cNvSpPr/>
          <p:nvPr/>
        </p:nvSpPr>
        <p:spPr>
          <a:xfrm>
            <a:off x="8311896" y="6007608"/>
            <a:ext cx="329184" cy="329184"/>
          </a:xfrm>
          <a:prstGeom prst="rect">
            <a:avLst/>
          </a:prstGeom>
          <a:noFill/>
          <a:ln/>
        </p:spPr>
        <p:txBody>
          <a:bodyPr wrap="square" lIns="0" tIns="0" rIns="0" bIns="0" rtlCol="0" anchor="ctr"/>
          <a:lstStyle/>
          <a:p>
            <a:pPr algn="ctr" indent="0" marL="0">
              <a:buNone/>
            </a:pPr>
            <a:r>
              <a:rPr lang="en-US" sz="1200" b="1" dirty="0">
                <a:solidFill>
                  <a:srgbClr val="5A3B00"/>
                </a:solidFill>
                <a:latin typeface="Calibri" pitchFamily="34" charset="0"/>
                <a:ea typeface="Calibri" pitchFamily="34" charset="-122"/>
                <a:cs typeface="Calibri" pitchFamily="34" charset="-120"/>
              </a:rPr>
              <a:t>10</a:t>
            </a:r>
            <a:endParaRPr lang="en-US" sz="1200" dirty="0"/>
          </a:p>
        </p:txBody>
      </p:sp>
      <p:sp>
        <p:nvSpPr>
          <p:cNvPr id="67" name="Text 57"/>
          <p:cNvSpPr/>
          <p:nvPr/>
        </p:nvSpPr>
        <p:spPr>
          <a:xfrm>
            <a:off x="8311896" y="6373368"/>
            <a:ext cx="2990088" cy="256032"/>
          </a:xfrm>
          <a:prstGeom prst="rect">
            <a:avLst/>
          </a:prstGeom>
          <a:noFill/>
          <a:ln/>
        </p:spPr>
        <p:txBody>
          <a:bodyPr wrap="square" lIns="0" tIns="0" rIns="0" bIns="0" rtlCol="0" anchor="ctr"/>
          <a:lstStyle/>
          <a:p>
            <a:pPr indent="0" marL="0">
              <a:buNone/>
            </a:pPr>
            <a:r>
              <a:rPr lang="en-US" sz="1100" b="1" dirty="0">
                <a:solidFill>
                  <a:srgbClr val="1E2E45"/>
                </a:solidFill>
                <a:latin typeface="Calibri" pitchFamily="34" charset="0"/>
                <a:ea typeface="Calibri" pitchFamily="34" charset="-122"/>
                <a:cs typeface="Calibri" pitchFamily="34" charset="-120"/>
              </a:rPr>
              <a:t>Write-back</a:t>
            </a:r>
            <a:endParaRPr lang="en-US" sz="1100" dirty="0"/>
          </a:p>
        </p:txBody>
      </p:sp>
      <p:sp>
        <p:nvSpPr>
          <p:cNvPr id="68" name="Text 58"/>
          <p:cNvSpPr/>
          <p:nvPr/>
        </p:nvSpPr>
        <p:spPr>
          <a:xfrm>
            <a:off x="8311896" y="6620256"/>
            <a:ext cx="2990088" cy="274320"/>
          </a:xfrm>
          <a:prstGeom prst="rect">
            <a:avLst/>
          </a:prstGeom>
          <a:noFill/>
          <a:ln/>
        </p:spPr>
        <p:txBody>
          <a:bodyPr wrap="square" lIns="0" tIns="0" rIns="0" bIns="0" rtlCol="0" anchor="t"/>
          <a:lstStyle/>
          <a:p>
            <a:pPr indent="0" marL="0">
              <a:lnSpc>
                <a:spcPct val="100000"/>
              </a:lnSpc>
              <a:buNone/>
            </a:pPr>
            <a:r>
              <a:rPr lang="en-US" sz="880" dirty="0">
                <a:solidFill>
                  <a:srgbClr val="5B6B80"/>
                </a:solidFill>
                <a:latin typeface="Calibri" pitchFamily="34" charset="0"/>
                <a:ea typeface="Calibri" pitchFamily="34" charset="-122"/>
                <a:cs typeface="Calibri" pitchFamily="34" charset="-120"/>
              </a:rPr>
              <a:t>gated · off by default</a:t>
            </a:r>
            <a:endParaRPr lang="en-US" sz="880" dirty="0"/>
          </a:p>
        </p:txBody>
      </p:sp>
      <p:pic>
        <p:nvPicPr>
          <p:cNvPr id="69" name="Image 8" descr="preencoded.png">    </p:cNvPr>
          <p:cNvPicPr>
            <a:picLocks noChangeAspect="1"/>
          </p:cNvPicPr>
          <p:nvPr/>
        </p:nvPicPr>
        <p:blipFill>
          <a:blip r:embed="rId9"/>
          <a:stretch>
            <a:fillRect/>
          </a:stretch>
        </p:blipFill>
        <p:spPr>
          <a:xfrm>
            <a:off x="3840480" y="6163056"/>
            <a:ext cx="219456" cy="219456"/>
          </a:xfrm>
          <a:prstGeom prst="rect">
            <a:avLst/>
          </a:prstGeom>
        </p:spPr>
      </p:pic>
      <p:pic>
        <p:nvPicPr>
          <p:cNvPr id="70" name="Image 9" descr="preencoded.png">    </p:cNvPr>
          <p:cNvPicPr>
            <a:picLocks noChangeAspect="1"/>
          </p:cNvPicPr>
          <p:nvPr/>
        </p:nvPicPr>
        <p:blipFill>
          <a:blip r:embed="rId10"/>
          <a:stretch>
            <a:fillRect/>
          </a:stretch>
        </p:blipFill>
        <p:spPr>
          <a:xfrm>
            <a:off x="7543800" y="6163056"/>
            <a:ext cx="219456" cy="2194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DEMO</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The money-shot — a whole sprint scored live</a:t>
            </a:r>
            <a:endParaRPr lang="en-US" sz="3000" dirty="0"/>
          </a:p>
        </p:txBody>
      </p:sp>
      <p:sp>
        <p:nvSpPr>
          <p:cNvPr id="4" name="Shape 2"/>
          <p:cNvSpPr/>
          <p:nvPr/>
        </p:nvSpPr>
        <p:spPr>
          <a:xfrm>
            <a:off x="548640" y="1600200"/>
            <a:ext cx="11064240" cy="914400"/>
          </a:xfrm>
          <a:prstGeom prst="roundRect">
            <a:avLst>
              <a:gd name="adj" fmla="val 8000"/>
            </a:avLst>
          </a:prstGeom>
          <a:solidFill>
            <a:srgbClr val="0E1A2B"/>
          </a:solidFill>
          <a:ln/>
          <a:effectLst>
            <a:outerShdw sx="100000" sy="100000" kx="0" ky="0" algn="bl" rotWithShape="0" blurRad="114300" dist="38100" dir="5400000">
              <a:srgbClr val="000000">
                <a:alpha val="18000"/>
              </a:srgbClr>
            </a:outerShdw>
          </a:effectLst>
        </p:spPr>
      </p:sp>
      <p:sp>
        <p:nvSpPr>
          <p:cNvPr id="5" name="Text 3"/>
          <p:cNvSpPr/>
          <p:nvPr/>
        </p:nvSpPr>
        <p:spPr>
          <a:xfrm>
            <a:off x="868680" y="1600200"/>
            <a:ext cx="10424160" cy="914400"/>
          </a:xfrm>
          <a:prstGeom prst="rect">
            <a:avLst/>
          </a:prstGeom>
          <a:noFill/>
          <a:ln/>
        </p:spPr>
        <p:txBody>
          <a:bodyPr wrap="square" lIns="0" tIns="0" rIns="0" bIns="0" rtlCol="0" anchor="ctr"/>
          <a:lstStyle/>
          <a:p>
            <a:pPr indent="0" marL="0">
              <a:lnSpc>
                <a:spcPct val="110000"/>
              </a:lnSpc>
              <a:buNone/>
            </a:pPr>
            <a:r>
              <a:rPr lang="en-US" sz="1700" b="1" i="1" dirty="0">
                <a:solidFill>
                  <a:srgbClr val="FFFFFF"/>
                </a:solidFill>
                <a:latin typeface="Calibri" pitchFamily="34" charset="0"/>
                <a:ea typeface="Calibri" pitchFamily="34" charset="-122"/>
                <a:cs typeface="Calibri" pitchFamily="34" charset="-120"/>
              </a:rPr>
              <a:t>“Here is the whole next sprint — 14 stories — scored in 20 seconds. </a:t>
            </a:r>
            <a:pPr indent="0" marL="0">
              <a:lnSpc>
                <a:spcPct val="110000"/>
              </a:lnSpc>
              <a:buNone/>
            </a:pPr>
            <a:r>
              <a:rPr lang="en-US" sz="1700" b="1" i="1" dirty="0">
                <a:solidFill>
                  <a:srgbClr val="5EEAD4"/>
                </a:solidFill>
                <a:latin typeface="Calibri" pitchFamily="34" charset="0"/>
                <a:ea typeface="Calibri" pitchFamily="34" charset="-122"/>
                <a:cs typeface="Calibri" pitchFamily="34" charset="-120"/>
              </a:rPr>
              <a:t>Three are red; here is exactly why, and here are the questions to ask in tomorrow's refinement.”</a:t>
            </a:r>
            <a:endParaRPr lang="en-US" sz="1700" dirty="0"/>
          </a:p>
        </p:txBody>
      </p:sp>
      <p:sp>
        <p:nvSpPr>
          <p:cNvPr id="6" name="Text 4"/>
          <p:cNvSpPr/>
          <p:nvPr/>
        </p:nvSpPr>
        <p:spPr>
          <a:xfrm>
            <a:off x="548640" y="2743200"/>
            <a:ext cx="10972800" cy="274320"/>
          </a:xfrm>
          <a:prstGeom prst="rect">
            <a:avLst/>
          </a:prstGeom>
          <a:noFill/>
          <a:ln/>
        </p:spPr>
        <p:txBody>
          <a:bodyPr wrap="square" lIns="0" tIns="0" rIns="0" bIns="0" rtlCol="0" anchor="ctr"/>
          <a:lstStyle/>
          <a:p>
            <a:pPr indent="0" marL="0">
              <a:buNone/>
            </a:pPr>
            <a:r>
              <a:rPr lang="en-US" sz="1200" b="1" spc="150" kern="0" dirty="0">
                <a:solidFill>
                  <a:srgbClr val="5B6B80"/>
                </a:solidFill>
                <a:latin typeface="Calibri" pitchFamily="34" charset="0"/>
                <a:ea typeface="Calibri" pitchFamily="34" charset="-122"/>
                <a:cs typeface="Calibri" pitchFamily="34" charset="-120"/>
              </a:rPr>
              <a:t>THE RAG SPREAD — VISIBLE DISCRIMINATION ACROSS THE SPRINT</a:t>
            </a:r>
            <a:endParaRPr lang="en-US" sz="1200" dirty="0"/>
          </a:p>
        </p:txBody>
      </p:sp>
      <p:sp>
        <p:nvSpPr>
          <p:cNvPr id="7" name="Shape 5"/>
          <p:cNvSpPr/>
          <p:nvPr/>
        </p:nvSpPr>
        <p:spPr>
          <a:xfrm>
            <a:off x="548640" y="3108960"/>
            <a:ext cx="713232" cy="713232"/>
          </a:xfrm>
          <a:prstGeom prst="roundRect">
            <a:avLst>
              <a:gd name="adj" fmla="val 7692"/>
            </a:avLst>
          </a:prstGeom>
          <a:solidFill>
            <a:srgbClr val="3FB950"/>
          </a:solidFill>
          <a:ln/>
        </p:spPr>
      </p:sp>
      <p:sp>
        <p:nvSpPr>
          <p:cNvPr id="8" name="Text 6"/>
          <p:cNvSpPr/>
          <p:nvPr/>
        </p:nvSpPr>
        <p:spPr>
          <a:xfrm>
            <a:off x="548640"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9" name="Shape 7"/>
          <p:cNvSpPr/>
          <p:nvPr/>
        </p:nvSpPr>
        <p:spPr>
          <a:xfrm>
            <a:off x="1335024" y="3108960"/>
            <a:ext cx="713232" cy="713232"/>
          </a:xfrm>
          <a:prstGeom prst="roundRect">
            <a:avLst>
              <a:gd name="adj" fmla="val 7692"/>
            </a:avLst>
          </a:prstGeom>
          <a:solidFill>
            <a:srgbClr val="3FB950"/>
          </a:solidFill>
          <a:ln/>
        </p:spPr>
      </p:sp>
      <p:sp>
        <p:nvSpPr>
          <p:cNvPr id="10" name="Text 8"/>
          <p:cNvSpPr/>
          <p:nvPr/>
        </p:nvSpPr>
        <p:spPr>
          <a:xfrm>
            <a:off x="1335024"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11" name="Shape 9"/>
          <p:cNvSpPr/>
          <p:nvPr/>
        </p:nvSpPr>
        <p:spPr>
          <a:xfrm>
            <a:off x="2121408" y="3108960"/>
            <a:ext cx="713232" cy="713232"/>
          </a:xfrm>
          <a:prstGeom prst="roundRect">
            <a:avLst>
              <a:gd name="adj" fmla="val 7692"/>
            </a:avLst>
          </a:prstGeom>
          <a:solidFill>
            <a:srgbClr val="3FB950"/>
          </a:solidFill>
          <a:ln/>
        </p:spPr>
      </p:sp>
      <p:sp>
        <p:nvSpPr>
          <p:cNvPr id="12" name="Text 10"/>
          <p:cNvSpPr/>
          <p:nvPr/>
        </p:nvSpPr>
        <p:spPr>
          <a:xfrm>
            <a:off x="2121408"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13" name="Shape 11"/>
          <p:cNvSpPr/>
          <p:nvPr/>
        </p:nvSpPr>
        <p:spPr>
          <a:xfrm>
            <a:off x="2907792" y="3108960"/>
            <a:ext cx="713232" cy="713232"/>
          </a:xfrm>
          <a:prstGeom prst="roundRect">
            <a:avLst>
              <a:gd name="adj" fmla="val 7692"/>
            </a:avLst>
          </a:prstGeom>
          <a:solidFill>
            <a:srgbClr val="3FB950"/>
          </a:solidFill>
          <a:ln/>
        </p:spPr>
      </p:sp>
      <p:sp>
        <p:nvSpPr>
          <p:cNvPr id="14" name="Text 12"/>
          <p:cNvSpPr/>
          <p:nvPr/>
        </p:nvSpPr>
        <p:spPr>
          <a:xfrm>
            <a:off x="2907792"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15" name="Shape 13"/>
          <p:cNvSpPr/>
          <p:nvPr/>
        </p:nvSpPr>
        <p:spPr>
          <a:xfrm>
            <a:off x="3694176" y="3108960"/>
            <a:ext cx="713232" cy="713232"/>
          </a:xfrm>
          <a:prstGeom prst="roundRect">
            <a:avLst>
              <a:gd name="adj" fmla="val 7692"/>
            </a:avLst>
          </a:prstGeom>
          <a:solidFill>
            <a:srgbClr val="3FB950"/>
          </a:solidFill>
          <a:ln/>
        </p:spPr>
      </p:sp>
      <p:sp>
        <p:nvSpPr>
          <p:cNvPr id="16" name="Text 14"/>
          <p:cNvSpPr/>
          <p:nvPr/>
        </p:nvSpPr>
        <p:spPr>
          <a:xfrm>
            <a:off x="3694176"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17" name="Shape 15"/>
          <p:cNvSpPr/>
          <p:nvPr/>
        </p:nvSpPr>
        <p:spPr>
          <a:xfrm>
            <a:off x="4480560" y="3108960"/>
            <a:ext cx="713232" cy="713232"/>
          </a:xfrm>
          <a:prstGeom prst="roundRect">
            <a:avLst>
              <a:gd name="adj" fmla="val 7692"/>
            </a:avLst>
          </a:prstGeom>
          <a:solidFill>
            <a:srgbClr val="3FB950"/>
          </a:solidFill>
          <a:ln/>
        </p:spPr>
      </p:sp>
      <p:sp>
        <p:nvSpPr>
          <p:cNvPr id="18" name="Text 16"/>
          <p:cNvSpPr/>
          <p:nvPr/>
        </p:nvSpPr>
        <p:spPr>
          <a:xfrm>
            <a:off x="4480560"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19" name="Shape 17"/>
          <p:cNvSpPr/>
          <p:nvPr/>
        </p:nvSpPr>
        <p:spPr>
          <a:xfrm>
            <a:off x="5266944" y="3108960"/>
            <a:ext cx="713232" cy="713232"/>
          </a:xfrm>
          <a:prstGeom prst="roundRect">
            <a:avLst>
              <a:gd name="adj" fmla="val 7692"/>
            </a:avLst>
          </a:prstGeom>
          <a:solidFill>
            <a:srgbClr val="F4B740"/>
          </a:solidFill>
          <a:ln/>
        </p:spPr>
      </p:sp>
      <p:sp>
        <p:nvSpPr>
          <p:cNvPr id="20" name="Text 18"/>
          <p:cNvSpPr/>
          <p:nvPr/>
        </p:nvSpPr>
        <p:spPr>
          <a:xfrm>
            <a:off x="5266944"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21" name="Shape 19"/>
          <p:cNvSpPr/>
          <p:nvPr/>
        </p:nvSpPr>
        <p:spPr>
          <a:xfrm>
            <a:off x="6053328" y="3108960"/>
            <a:ext cx="713232" cy="713232"/>
          </a:xfrm>
          <a:prstGeom prst="roundRect">
            <a:avLst>
              <a:gd name="adj" fmla="val 7692"/>
            </a:avLst>
          </a:prstGeom>
          <a:solidFill>
            <a:srgbClr val="F4B740"/>
          </a:solidFill>
          <a:ln/>
        </p:spPr>
      </p:sp>
      <p:sp>
        <p:nvSpPr>
          <p:cNvPr id="22" name="Text 20"/>
          <p:cNvSpPr/>
          <p:nvPr/>
        </p:nvSpPr>
        <p:spPr>
          <a:xfrm>
            <a:off x="6053328"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23" name="Shape 21"/>
          <p:cNvSpPr/>
          <p:nvPr/>
        </p:nvSpPr>
        <p:spPr>
          <a:xfrm>
            <a:off x="6839712" y="3108960"/>
            <a:ext cx="713232" cy="713232"/>
          </a:xfrm>
          <a:prstGeom prst="roundRect">
            <a:avLst>
              <a:gd name="adj" fmla="val 7692"/>
            </a:avLst>
          </a:prstGeom>
          <a:solidFill>
            <a:srgbClr val="F4B740"/>
          </a:solidFill>
          <a:ln/>
        </p:spPr>
      </p:sp>
      <p:sp>
        <p:nvSpPr>
          <p:cNvPr id="24" name="Text 22"/>
          <p:cNvSpPr/>
          <p:nvPr/>
        </p:nvSpPr>
        <p:spPr>
          <a:xfrm>
            <a:off x="6839712"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25" name="Shape 23"/>
          <p:cNvSpPr/>
          <p:nvPr/>
        </p:nvSpPr>
        <p:spPr>
          <a:xfrm>
            <a:off x="7626096" y="3108960"/>
            <a:ext cx="713232" cy="713232"/>
          </a:xfrm>
          <a:prstGeom prst="roundRect">
            <a:avLst>
              <a:gd name="adj" fmla="val 7692"/>
            </a:avLst>
          </a:prstGeom>
          <a:solidFill>
            <a:srgbClr val="F4B740"/>
          </a:solidFill>
          <a:ln/>
        </p:spPr>
      </p:sp>
      <p:sp>
        <p:nvSpPr>
          <p:cNvPr id="26" name="Text 24"/>
          <p:cNvSpPr/>
          <p:nvPr/>
        </p:nvSpPr>
        <p:spPr>
          <a:xfrm>
            <a:off x="7626096"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27" name="Shape 25"/>
          <p:cNvSpPr/>
          <p:nvPr/>
        </p:nvSpPr>
        <p:spPr>
          <a:xfrm>
            <a:off x="8412480" y="3108960"/>
            <a:ext cx="713232" cy="713232"/>
          </a:xfrm>
          <a:prstGeom prst="roundRect">
            <a:avLst>
              <a:gd name="adj" fmla="val 7692"/>
            </a:avLst>
          </a:prstGeom>
          <a:solidFill>
            <a:srgbClr val="F4B740"/>
          </a:solidFill>
          <a:ln/>
        </p:spPr>
      </p:sp>
      <p:sp>
        <p:nvSpPr>
          <p:cNvPr id="28" name="Text 26"/>
          <p:cNvSpPr/>
          <p:nvPr/>
        </p:nvSpPr>
        <p:spPr>
          <a:xfrm>
            <a:off x="8412480"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29" name="Shape 27"/>
          <p:cNvSpPr/>
          <p:nvPr/>
        </p:nvSpPr>
        <p:spPr>
          <a:xfrm>
            <a:off x="9198864" y="3108960"/>
            <a:ext cx="713232" cy="713232"/>
          </a:xfrm>
          <a:prstGeom prst="roundRect">
            <a:avLst>
              <a:gd name="adj" fmla="val 7692"/>
            </a:avLst>
          </a:prstGeom>
          <a:solidFill>
            <a:srgbClr val="E5484D"/>
          </a:solidFill>
          <a:ln/>
        </p:spPr>
      </p:sp>
      <p:sp>
        <p:nvSpPr>
          <p:cNvPr id="30" name="Text 28"/>
          <p:cNvSpPr/>
          <p:nvPr/>
        </p:nvSpPr>
        <p:spPr>
          <a:xfrm>
            <a:off x="9198864"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31" name="Shape 29"/>
          <p:cNvSpPr/>
          <p:nvPr/>
        </p:nvSpPr>
        <p:spPr>
          <a:xfrm>
            <a:off x="9985248" y="3108960"/>
            <a:ext cx="713232" cy="713232"/>
          </a:xfrm>
          <a:prstGeom prst="roundRect">
            <a:avLst>
              <a:gd name="adj" fmla="val 7692"/>
            </a:avLst>
          </a:prstGeom>
          <a:solidFill>
            <a:srgbClr val="E5484D"/>
          </a:solidFill>
          <a:ln/>
        </p:spPr>
      </p:sp>
      <p:sp>
        <p:nvSpPr>
          <p:cNvPr id="32" name="Text 30"/>
          <p:cNvSpPr/>
          <p:nvPr/>
        </p:nvSpPr>
        <p:spPr>
          <a:xfrm>
            <a:off x="9985248"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33" name="Shape 31"/>
          <p:cNvSpPr/>
          <p:nvPr/>
        </p:nvSpPr>
        <p:spPr>
          <a:xfrm>
            <a:off x="10771632" y="3108960"/>
            <a:ext cx="713232" cy="713232"/>
          </a:xfrm>
          <a:prstGeom prst="roundRect">
            <a:avLst>
              <a:gd name="adj" fmla="val 7692"/>
            </a:avLst>
          </a:prstGeom>
          <a:solidFill>
            <a:srgbClr val="E5484D"/>
          </a:solidFill>
          <a:ln/>
        </p:spPr>
      </p:sp>
      <p:sp>
        <p:nvSpPr>
          <p:cNvPr id="34" name="Text 32"/>
          <p:cNvSpPr/>
          <p:nvPr/>
        </p:nvSpPr>
        <p:spPr>
          <a:xfrm>
            <a:off x="10771632" y="310896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35" name="Shape 33"/>
          <p:cNvSpPr/>
          <p:nvPr/>
        </p:nvSpPr>
        <p:spPr>
          <a:xfrm>
            <a:off x="548640" y="4160520"/>
            <a:ext cx="2670048" cy="1965960"/>
          </a:xfrm>
          <a:prstGeom prst="roundRect">
            <a:avLst>
              <a:gd name="adj" fmla="val 3256"/>
            </a:avLst>
          </a:prstGeom>
          <a:solidFill>
            <a:srgbClr val="FFFFFF"/>
          </a:solidFill>
          <a:ln/>
          <a:effectLst>
            <a:outerShdw sx="100000" sy="100000" kx="0" ky="0" algn="bl" rotWithShape="0" blurRad="114300" dist="38100" dir="5400000">
              <a:srgbClr val="000000">
                <a:alpha val="18000"/>
              </a:srgbClr>
            </a:outerShdw>
          </a:effectLst>
        </p:spPr>
      </p:sp>
      <p:sp>
        <p:nvSpPr>
          <p:cNvPr id="36" name="Shape 34"/>
          <p:cNvSpPr/>
          <p:nvPr/>
        </p:nvSpPr>
        <p:spPr>
          <a:xfrm>
            <a:off x="804672" y="4434840"/>
            <a:ext cx="566928" cy="566928"/>
          </a:xfrm>
          <a:prstGeom prst="ellipse">
            <a:avLst/>
          </a:prstGeom>
          <a:solidFill>
            <a:srgbClr val="E7F8F5"/>
          </a:solidFill>
          <a:ln/>
        </p:spPr>
      </p:sp>
      <p:pic>
        <p:nvPicPr>
          <p:cNvPr id="37" name="Image 0" descr="preencoded.png">    </p:cNvPr>
          <p:cNvPicPr>
            <a:picLocks noChangeAspect="1"/>
          </p:cNvPicPr>
          <p:nvPr/>
        </p:nvPicPr>
        <p:blipFill>
          <a:blip r:embed="rId1"/>
          <a:stretch>
            <a:fillRect/>
          </a:stretch>
        </p:blipFill>
        <p:spPr>
          <a:xfrm>
            <a:off x="932688" y="4562856"/>
            <a:ext cx="310896" cy="310896"/>
          </a:xfrm>
          <a:prstGeom prst="rect">
            <a:avLst/>
          </a:prstGeom>
        </p:spPr>
      </p:pic>
      <p:sp>
        <p:nvSpPr>
          <p:cNvPr id="38" name="Text 35"/>
          <p:cNvSpPr/>
          <p:nvPr/>
        </p:nvSpPr>
        <p:spPr>
          <a:xfrm>
            <a:off x="804672" y="5074920"/>
            <a:ext cx="2212848" cy="365760"/>
          </a:xfrm>
          <a:prstGeom prst="rect">
            <a:avLst/>
          </a:prstGeom>
          <a:noFill/>
          <a:ln/>
        </p:spPr>
        <p:txBody>
          <a:bodyPr wrap="square" lIns="0" tIns="0" rIns="0" bIns="0" rtlCol="0" anchor="ctr"/>
          <a:lstStyle/>
          <a:p>
            <a:pPr indent="0" marL="0">
              <a:buNone/>
            </a:pPr>
            <a:r>
              <a:rPr lang="en-US" sz="1450" b="1" dirty="0">
                <a:solidFill>
                  <a:srgbClr val="1E2E45"/>
                </a:solidFill>
                <a:latin typeface="Calibri" pitchFamily="34" charset="0"/>
                <a:ea typeface="Calibri" pitchFamily="34" charset="-122"/>
                <a:cs typeface="Calibri" pitchFamily="34" charset="-120"/>
              </a:rPr>
              <a:t>Run it live</a:t>
            </a:r>
            <a:endParaRPr lang="en-US" sz="1450" dirty="0"/>
          </a:p>
        </p:txBody>
      </p:sp>
      <p:sp>
        <p:nvSpPr>
          <p:cNvPr id="39" name="Text 36"/>
          <p:cNvSpPr/>
          <p:nvPr/>
        </p:nvSpPr>
        <p:spPr>
          <a:xfrm>
            <a:off x="804672" y="5440680"/>
            <a:ext cx="2212848" cy="640080"/>
          </a:xfrm>
          <a:prstGeom prst="rect">
            <a:avLst/>
          </a:prstGeom>
          <a:noFill/>
          <a:ln/>
        </p:spPr>
        <p:txBody>
          <a:bodyPr wrap="square" lIns="0" tIns="0" rIns="0" bIns="0" rtlCol="0" anchor="t"/>
          <a:lstStyle/>
          <a:p>
            <a:pPr indent="0" marL="0">
              <a:lnSpc>
                <a:spcPct val="105000"/>
              </a:lnSpc>
              <a:buNone/>
            </a:pPr>
            <a:r>
              <a:rPr lang="en-US" sz="1150" dirty="0">
                <a:solidFill>
                  <a:srgbClr val="5B6B80"/>
                </a:solidFill>
                <a:latin typeface="Calibri" pitchFamily="34" charset="0"/>
                <a:ea typeface="Calibri" pitchFamily="34" charset="-122"/>
                <a:cs typeface="Calibri" pitchFamily="34" charset="-120"/>
              </a:rPr>
              <a:t>One command → the batch scores in seconds, the spread fills the screen.</a:t>
            </a:r>
            <a:endParaRPr lang="en-US" sz="1150" dirty="0"/>
          </a:p>
        </p:txBody>
      </p:sp>
      <p:sp>
        <p:nvSpPr>
          <p:cNvPr id="40" name="Shape 37"/>
          <p:cNvSpPr/>
          <p:nvPr/>
        </p:nvSpPr>
        <p:spPr>
          <a:xfrm>
            <a:off x="3419856" y="4160520"/>
            <a:ext cx="2670048" cy="1965960"/>
          </a:xfrm>
          <a:prstGeom prst="roundRect">
            <a:avLst>
              <a:gd name="adj" fmla="val 3256"/>
            </a:avLst>
          </a:prstGeom>
          <a:solidFill>
            <a:srgbClr val="FFFFFF"/>
          </a:solidFill>
          <a:ln/>
          <a:effectLst>
            <a:outerShdw sx="100000" sy="100000" kx="0" ky="0" algn="bl" rotWithShape="0" blurRad="114300" dist="38100" dir="5400000">
              <a:srgbClr val="000000">
                <a:alpha val="18000"/>
              </a:srgbClr>
            </a:outerShdw>
          </a:effectLst>
        </p:spPr>
      </p:sp>
      <p:sp>
        <p:nvSpPr>
          <p:cNvPr id="41" name="Shape 38"/>
          <p:cNvSpPr/>
          <p:nvPr/>
        </p:nvSpPr>
        <p:spPr>
          <a:xfrm>
            <a:off x="3675888" y="4434840"/>
            <a:ext cx="566928" cy="566928"/>
          </a:xfrm>
          <a:prstGeom prst="ellipse">
            <a:avLst/>
          </a:prstGeom>
          <a:solidFill>
            <a:srgbClr val="E7F8F5"/>
          </a:solidFill>
          <a:ln/>
        </p:spPr>
      </p:sp>
      <p:pic>
        <p:nvPicPr>
          <p:cNvPr id="42" name="Image 1" descr="preencoded.png">    </p:cNvPr>
          <p:cNvPicPr>
            <a:picLocks noChangeAspect="1"/>
          </p:cNvPicPr>
          <p:nvPr/>
        </p:nvPicPr>
        <p:blipFill>
          <a:blip r:embed="rId2"/>
          <a:stretch>
            <a:fillRect/>
          </a:stretch>
        </p:blipFill>
        <p:spPr>
          <a:xfrm>
            <a:off x="3803904" y="4562856"/>
            <a:ext cx="310896" cy="310896"/>
          </a:xfrm>
          <a:prstGeom prst="rect">
            <a:avLst/>
          </a:prstGeom>
        </p:spPr>
      </p:pic>
      <p:sp>
        <p:nvSpPr>
          <p:cNvPr id="43" name="Text 39"/>
          <p:cNvSpPr/>
          <p:nvPr/>
        </p:nvSpPr>
        <p:spPr>
          <a:xfrm>
            <a:off x="3675888" y="5074920"/>
            <a:ext cx="2212848" cy="365760"/>
          </a:xfrm>
          <a:prstGeom prst="rect">
            <a:avLst/>
          </a:prstGeom>
          <a:noFill/>
          <a:ln/>
        </p:spPr>
        <p:txBody>
          <a:bodyPr wrap="square" lIns="0" tIns="0" rIns="0" bIns="0" rtlCol="0" anchor="ctr"/>
          <a:lstStyle/>
          <a:p>
            <a:pPr indent="0" marL="0">
              <a:buNone/>
            </a:pPr>
            <a:r>
              <a:rPr lang="en-US" sz="1450" b="1" dirty="0">
                <a:solidFill>
                  <a:srgbClr val="1E2E45"/>
                </a:solidFill>
                <a:latin typeface="Calibri" pitchFamily="34" charset="0"/>
                <a:ea typeface="Calibri" pitchFamily="34" charset="-122"/>
                <a:cs typeface="Calibri" pitchFamily="34" charset="-120"/>
              </a:rPr>
              <a:t>Drill into a RED</a:t>
            </a:r>
            <a:endParaRPr lang="en-US" sz="1450" dirty="0"/>
          </a:p>
        </p:txBody>
      </p:sp>
      <p:sp>
        <p:nvSpPr>
          <p:cNvPr id="44" name="Text 40"/>
          <p:cNvSpPr/>
          <p:nvPr/>
        </p:nvSpPr>
        <p:spPr>
          <a:xfrm>
            <a:off x="3675888" y="5440680"/>
            <a:ext cx="2212848" cy="640080"/>
          </a:xfrm>
          <a:prstGeom prst="rect">
            <a:avLst/>
          </a:prstGeom>
          <a:noFill/>
          <a:ln/>
        </p:spPr>
        <p:txBody>
          <a:bodyPr wrap="square" lIns="0" tIns="0" rIns="0" bIns="0" rtlCol="0" anchor="t"/>
          <a:lstStyle/>
          <a:p>
            <a:pPr indent="0" marL="0">
              <a:lnSpc>
                <a:spcPct val="105000"/>
              </a:lnSpc>
              <a:buNone/>
            </a:pPr>
            <a:r>
              <a:rPr lang="en-US" sz="1150" dirty="0">
                <a:solidFill>
                  <a:srgbClr val="5B6B80"/>
                </a:solidFill>
                <a:latin typeface="Calibri" pitchFamily="34" charset="0"/>
                <a:ea typeface="Calibri" pitchFamily="34" charset="-122"/>
                <a:cs typeface="Calibri" pitchFamily="34" charset="-120"/>
              </a:rPr>
              <a:t>Show the specific gaps, pre-written questions, and draft Gherkin it generated.</a:t>
            </a:r>
            <a:endParaRPr lang="en-US" sz="1150" dirty="0"/>
          </a:p>
        </p:txBody>
      </p:sp>
      <p:sp>
        <p:nvSpPr>
          <p:cNvPr id="45" name="Shape 41"/>
          <p:cNvSpPr/>
          <p:nvPr/>
        </p:nvSpPr>
        <p:spPr>
          <a:xfrm>
            <a:off x="6291072" y="4160520"/>
            <a:ext cx="2670048" cy="1965960"/>
          </a:xfrm>
          <a:prstGeom prst="roundRect">
            <a:avLst>
              <a:gd name="adj" fmla="val 3256"/>
            </a:avLst>
          </a:prstGeom>
          <a:solidFill>
            <a:srgbClr val="FFFFFF"/>
          </a:solidFill>
          <a:ln/>
          <a:effectLst>
            <a:outerShdw sx="100000" sy="100000" kx="0" ky="0" algn="bl" rotWithShape="0" blurRad="114300" dist="38100" dir="5400000">
              <a:srgbClr val="000000">
                <a:alpha val="18000"/>
              </a:srgbClr>
            </a:outerShdw>
          </a:effectLst>
        </p:spPr>
      </p:sp>
      <p:sp>
        <p:nvSpPr>
          <p:cNvPr id="46" name="Shape 42"/>
          <p:cNvSpPr/>
          <p:nvPr/>
        </p:nvSpPr>
        <p:spPr>
          <a:xfrm>
            <a:off x="6547104" y="4434840"/>
            <a:ext cx="566928" cy="566928"/>
          </a:xfrm>
          <a:prstGeom prst="ellipse">
            <a:avLst/>
          </a:prstGeom>
          <a:solidFill>
            <a:srgbClr val="E7F8F5"/>
          </a:solidFill>
          <a:ln/>
        </p:spPr>
      </p:sp>
      <p:pic>
        <p:nvPicPr>
          <p:cNvPr id="47" name="Image 2" descr="preencoded.png">    </p:cNvPr>
          <p:cNvPicPr>
            <a:picLocks noChangeAspect="1"/>
          </p:cNvPicPr>
          <p:nvPr/>
        </p:nvPicPr>
        <p:blipFill>
          <a:blip r:embed="rId3"/>
          <a:stretch>
            <a:fillRect/>
          </a:stretch>
        </p:blipFill>
        <p:spPr>
          <a:xfrm>
            <a:off x="6675120" y="4562856"/>
            <a:ext cx="310896" cy="310896"/>
          </a:xfrm>
          <a:prstGeom prst="rect">
            <a:avLst/>
          </a:prstGeom>
        </p:spPr>
      </p:pic>
      <p:sp>
        <p:nvSpPr>
          <p:cNvPr id="48" name="Text 43"/>
          <p:cNvSpPr/>
          <p:nvPr/>
        </p:nvSpPr>
        <p:spPr>
          <a:xfrm>
            <a:off x="6547104" y="5074920"/>
            <a:ext cx="2212848" cy="365760"/>
          </a:xfrm>
          <a:prstGeom prst="rect">
            <a:avLst/>
          </a:prstGeom>
          <a:noFill/>
          <a:ln/>
        </p:spPr>
        <p:txBody>
          <a:bodyPr wrap="square" lIns="0" tIns="0" rIns="0" bIns="0" rtlCol="0" anchor="ctr"/>
          <a:lstStyle/>
          <a:p>
            <a:pPr indent="0" marL="0">
              <a:buNone/>
            </a:pPr>
            <a:r>
              <a:rPr lang="en-US" sz="1450" b="1" dirty="0">
                <a:solidFill>
                  <a:srgbClr val="1E2E45"/>
                </a:solidFill>
                <a:latin typeface="Calibri" pitchFamily="34" charset="0"/>
                <a:ea typeface="Calibri" pitchFamily="34" charset="-122"/>
                <a:cs typeface="Calibri" pitchFamily="34" charset="-120"/>
              </a:rPr>
              <a:t>Cross-story flag</a:t>
            </a:r>
            <a:endParaRPr lang="en-US" sz="1450" dirty="0"/>
          </a:p>
        </p:txBody>
      </p:sp>
      <p:sp>
        <p:nvSpPr>
          <p:cNvPr id="49" name="Text 44"/>
          <p:cNvSpPr/>
          <p:nvPr/>
        </p:nvSpPr>
        <p:spPr>
          <a:xfrm>
            <a:off x="6547104" y="5440680"/>
            <a:ext cx="2212848" cy="640080"/>
          </a:xfrm>
          <a:prstGeom prst="rect">
            <a:avLst/>
          </a:prstGeom>
          <a:noFill/>
          <a:ln/>
        </p:spPr>
        <p:txBody>
          <a:bodyPr wrap="square" lIns="0" tIns="0" rIns="0" bIns="0" rtlCol="0" anchor="t"/>
          <a:lstStyle/>
          <a:p>
            <a:pPr indent="0" marL="0">
              <a:lnSpc>
                <a:spcPct val="105000"/>
              </a:lnSpc>
              <a:buNone/>
            </a:pPr>
            <a:r>
              <a:rPr lang="en-US" sz="1150" dirty="0">
                <a:solidFill>
                  <a:srgbClr val="5B6B80"/>
                </a:solidFill>
                <a:latin typeface="Calibri" pitchFamily="34" charset="0"/>
                <a:ea typeface="Calibri" pitchFamily="34" charset="-122"/>
                <a:cs typeface="Calibri" pitchFamily="34" charset="-120"/>
              </a:rPr>
              <a:t>“Contradicts its linked parent” — the catch a human reviewer never has time for.</a:t>
            </a:r>
            <a:endParaRPr lang="en-US" sz="1150" dirty="0"/>
          </a:p>
        </p:txBody>
      </p:sp>
      <p:sp>
        <p:nvSpPr>
          <p:cNvPr id="50" name="Shape 45"/>
          <p:cNvSpPr/>
          <p:nvPr/>
        </p:nvSpPr>
        <p:spPr>
          <a:xfrm>
            <a:off x="9162288" y="4160520"/>
            <a:ext cx="2670048" cy="1965960"/>
          </a:xfrm>
          <a:prstGeom prst="roundRect">
            <a:avLst>
              <a:gd name="adj" fmla="val 3256"/>
            </a:avLst>
          </a:prstGeom>
          <a:solidFill>
            <a:srgbClr val="FFFFFF"/>
          </a:solidFill>
          <a:ln/>
          <a:effectLst>
            <a:outerShdw sx="100000" sy="100000" kx="0" ky="0" algn="bl" rotWithShape="0" blurRad="114300" dist="38100" dir="5400000">
              <a:srgbClr val="000000">
                <a:alpha val="18000"/>
              </a:srgbClr>
            </a:outerShdw>
          </a:effectLst>
        </p:spPr>
      </p:sp>
      <p:sp>
        <p:nvSpPr>
          <p:cNvPr id="51" name="Shape 46"/>
          <p:cNvSpPr/>
          <p:nvPr/>
        </p:nvSpPr>
        <p:spPr>
          <a:xfrm>
            <a:off x="9418320" y="4434840"/>
            <a:ext cx="566928" cy="566928"/>
          </a:xfrm>
          <a:prstGeom prst="ellipse">
            <a:avLst/>
          </a:prstGeom>
          <a:solidFill>
            <a:srgbClr val="E7F8F5"/>
          </a:solidFill>
          <a:ln/>
        </p:spPr>
      </p:sp>
      <p:pic>
        <p:nvPicPr>
          <p:cNvPr id="52" name="Image 3" descr="preencoded.png">    </p:cNvPr>
          <p:cNvPicPr>
            <a:picLocks noChangeAspect="1"/>
          </p:cNvPicPr>
          <p:nvPr/>
        </p:nvPicPr>
        <p:blipFill>
          <a:blip r:embed="rId4"/>
          <a:stretch>
            <a:fillRect/>
          </a:stretch>
        </p:blipFill>
        <p:spPr>
          <a:xfrm>
            <a:off x="9546336" y="4562856"/>
            <a:ext cx="310896" cy="310896"/>
          </a:xfrm>
          <a:prstGeom prst="rect">
            <a:avLst/>
          </a:prstGeom>
        </p:spPr>
      </p:pic>
      <p:sp>
        <p:nvSpPr>
          <p:cNvPr id="53" name="Text 47"/>
          <p:cNvSpPr/>
          <p:nvPr/>
        </p:nvSpPr>
        <p:spPr>
          <a:xfrm>
            <a:off x="9418320" y="5074920"/>
            <a:ext cx="2212848" cy="365760"/>
          </a:xfrm>
          <a:prstGeom prst="rect">
            <a:avLst/>
          </a:prstGeom>
          <a:noFill/>
          <a:ln/>
        </p:spPr>
        <p:txBody>
          <a:bodyPr wrap="square" lIns="0" tIns="0" rIns="0" bIns="0" rtlCol="0" anchor="ctr"/>
          <a:lstStyle/>
          <a:p>
            <a:pPr indent="0" marL="0">
              <a:buNone/>
            </a:pPr>
            <a:r>
              <a:rPr lang="en-US" sz="1450" b="1" dirty="0">
                <a:solidFill>
                  <a:srgbClr val="1E2E45"/>
                </a:solidFill>
                <a:latin typeface="Calibri" pitchFamily="34" charset="0"/>
                <a:ea typeface="Calibri" pitchFamily="34" charset="-122"/>
                <a:cs typeface="Calibri" pitchFamily="34" charset="-120"/>
              </a:rPr>
              <a:t>Close on governance</a:t>
            </a:r>
            <a:endParaRPr lang="en-US" sz="1450" dirty="0"/>
          </a:p>
        </p:txBody>
      </p:sp>
      <p:sp>
        <p:nvSpPr>
          <p:cNvPr id="54" name="Text 48"/>
          <p:cNvSpPr/>
          <p:nvPr/>
        </p:nvSpPr>
        <p:spPr>
          <a:xfrm>
            <a:off x="9418320" y="5440680"/>
            <a:ext cx="2212848" cy="640080"/>
          </a:xfrm>
          <a:prstGeom prst="rect">
            <a:avLst/>
          </a:prstGeom>
          <a:noFill/>
          <a:ln/>
        </p:spPr>
        <p:txBody>
          <a:bodyPr wrap="square" lIns="0" tIns="0" rIns="0" bIns="0" rtlCol="0" anchor="t"/>
          <a:lstStyle/>
          <a:p>
            <a:pPr indent="0" marL="0">
              <a:lnSpc>
                <a:spcPct val="105000"/>
              </a:lnSpc>
              <a:buNone/>
            </a:pPr>
            <a:r>
              <a:rPr lang="en-US" sz="1150" dirty="0">
                <a:solidFill>
                  <a:srgbClr val="5B6B80"/>
                </a:solidFill>
                <a:latin typeface="Calibri" pitchFamily="34" charset="0"/>
                <a:ea typeface="Calibri" pitchFamily="34" charset="-122"/>
                <a:cs typeface="Calibri" pitchFamily="34" charset="-120"/>
              </a:rPr>
              <a:t>Read-only today, write-back gated — the delivery-maturity beat that wins the room.</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THE SERVE LAYER</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The dashboard — what the reviewer sees</a:t>
            </a:r>
            <a:endParaRPr lang="en-US" sz="3000" dirty="0"/>
          </a:p>
        </p:txBody>
      </p:sp>
      <p:sp>
        <p:nvSpPr>
          <p:cNvPr id="4" name="Shape 2"/>
          <p:cNvSpPr/>
          <p:nvPr/>
        </p:nvSpPr>
        <p:spPr>
          <a:xfrm>
            <a:off x="548640" y="1481328"/>
            <a:ext cx="11064240" cy="4828032"/>
          </a:xfrm>
          <a:prstGeom prst="roundRect">
            <a:avLst>
              <a:gd name="adj" fmla="val 947"/>
            </a:avLst>
          </a:prstGeom>
          <a:solidFill>
            <a:srgbClr val="FFFFFF"/>
          </a:solidFill>
          <a:ln w="12700">
            <a:solidFill>
              <a:srgbClr val="E2E8F0"/>
            </a:solidFill>
            <a:prstDash val="solid"/>
          </a:ln>
          <a:effectLst>
            <a:outerShdw sx="100000" sy="100000" kx="0" ky="0" algn="bl" rotWithShape="0" blurRad="114300" dist="38100" dir="5400000">
              <a:srgbClr val="000000">
                <a:alpha val="18000"/>
              </a:srgbClr>
            </a:outerShdw>
          </a:effectLst>
        </p:spPr>
      </p:sp>
      <p:sp>
        <p:nvSpPr>
          <p:cNvPr id="5" name="Shape 3"/>
          <p:cNvSpPr/>
          <p:nvPr/>
        </p:nvSpPr>
        <p:spPr>
          <a:xfrm>
            <a:off x="777240" y="1737360"/>
            <a:ext cx="109728" cy="109728"/>
          </a:xfrm>
          <a:prstGeom prst="ellipse">
            <a:avLst/>
          </a:prstGeom>
          <a:solidFill>
            <a:srgbClr val="E5484D"/>
          </a:solidFill>
          <a:ln/>
        </p:spPr>
      </p:sp>
      <p:sp>
        <p:nvSpPr>
          <p:cNvPr id="6" name="Shape 4"/>
          <p:cNvSpPr/>
          <p:nvPr/>
        </p:nvSpPr>
        <p:spPr>
          <a:xfrm>
            <a:off x="932688" y="1737360"/>
            <a:ext cx="109728" cy="109728"/>
          </a:xfrm>
          <a:prstGeom prst="ellipse">
            <a:avLst/>
          </a:prstGeom>
          <a:solidFill>
            <a:srgbClr val="F4B740"/>
          </a:solidFill>
          <a:ln/>
        </p:spPr>
      </p:sp>
      <p:sp>
        <p:nvSpPr>
          <p:cNvPr id="7" name="Shape 5"/>
          <p:cNvSpPr/>
          <p:nvPr/>
        </p:nvSpPr>
        <p:spPr>
          <a:xfrm>
            <a:off x="1088136" y="1737360"/>
            <a:ext cx="109728" cy="109728"/>
          </a:xfrm>
          <a:prstGeom prst="ellipse">
            <a:avLst/>
          </a:prstGeom>
          <a:solidFill>
            <a:srgbClr val="3FB950"/>
          </a:solidFill>
          <a:ln/>
        </p:spPr>
      </p:sp>
      <p:sp>
        <p:nvSpPr>
          <p:cNvPr id="8" name="Text 6"/>
          <p:cNvSpPr/>
          <p:nvPr/>
        </p:nvSpPr>
        <p:spPr>
          <a:xfrm>
            <a:off x="1325880" y="1664208"/>
            <a:ext cx="7315200" cy="274320"/>
          </a:xfrm>
          <a:prstGeom prst="rect">
            <a:avLst/>
          </a:prstGeom>
          <a:noFill/>
          <a:ln/>
        </p:spPr>
        <p:txBody>
          <a:bodyPr wrap="square" lIns="0" tIns="0" rIns="0" bIns="0" rtlCol="0" anchor="ctr"/>
          <a:lstStyle/>
          <a:p>
            <a:pPr indent="0" marL="0">
              <a:buNone/>
            </a:pPr>
            <a:r>
              <a:rPr lang="en-US" sz="1400" b="1" dirty="0">
                <a:solidFill>
                  <a:srgbClr val="1E2E45"/>
                </a:solidFill>
                <a:latin typeface="Calibri" pitchFamily="34" charset="0"/>
                <a:ea typeface="Calibri" pitchFamily="34" charset="-122"/>
                <a:cs typeface="Calibri" pitchFamily="34" charset="-120"/>
              </a:rPr>
              <a:t>Requirement Linter — Sprint 24 readiness</a:t>
            </a:r>
            <a:endParaRPr lang="en-US" sz="1400" dirty="0"/>
          </a:p>
        </p:txBody>
      </p:sp>
      <p:sp>
        <p:nvSpPr>
          <p:cNvPr id="9" name="Shape 7"/>
          <p:cNvSpPr/>
          <p:nvPr/>
        </p:nvSpPr>
        <p:spPr>
          <a:xfrm>
            <a:off x="10104120" y="1673352"/>
            <a:ext cx="1325880" cy="292608"/>
          </a:xfrm>
          <a:prstGeom prst="roundRect">
            <a:avLst>
              <a:gd name="adj" fmla="val 37500"/>
            </a:avLst>
          </a:prstGeom>
          <a:solidFill>
            <a:srgbClr val="E7F8F5"/>
          </a:solidFill>
          <a:ln/>
        </p:spPr>
      </p:sp>
      <p:sp>
        <p:nvSpPr>
          <p:cNvPr id="10" name="Text 8"/>
          <p:cNvSpPr/>
          <p:nvPr/>
        </p:nvSpPr>
        <p:spPr>
          <a:xfrm>
            <a:off x="10104120" y="1673352"/>
            <a:ext cx="1325880" cy="292608"/>
          </a:xfrm>
          <a:prstGeom prst="rect">
            <a:avLst/>
          </a:prstGeom>
          <a:noFill/>
          <a:ln/>
        </p:spPr>
        <p:txBody>
          <a:bodyPr wrap="square" lIns="0" tIns="0" rIns="0" bIns="0" rtlCol="0" anchor="ctr"/>
          <a:lstStyle/>
          <a:p>
            <a:pPr algn="ctr" indent="0" marL="0">
              <a:buNone/>
            </a:pPr>
            <a:r>
              <a:rPr lang="en-US" sz="1000" b="1" dirty="0">
                <a:solidFill>
                  <a:srgbClr val="16B8A6"/>
                </a:solidFill>
                <a:latin typeface="Calibri" pitchFamily="34" charset="0"/>
                <a:ea typeface="Calibri" pitchFamily="34" charset="-122"/>
                <a:cs typeface="Calibri" pitchFamily="34" charset="-120"/>
              </a:rPr>
              <a:t>scored in 20s</a:t>
            </a:r>
            <a:endParaRPr lang="en-US" sz="1000" dirty="0"/>
          </a:p>
        </p:txBody>
      </p:sp>
      <p:sp>
        <p:nvSpPr>
          <p:cNvPr id="11" name="Shape 9"/>
          <p:cNvSpPr/>
          <p:nvPr/>
        </p:nvSpPr>
        <p:spPr>
          <a:xfrm>
            <a:off x="777240" y="2121408"/>
            <a:ext cx="2542032" cy="786384"/>
          </a:xfrm>
          <a:prstGeom prst="roundRect">
            <a:avLst>
              <a:gd name="adj" fmla="val 6977"/>
            </a:avLst>
          </a:prstGeom>
          <a:solidFill>
            <a:srgbClr val="F4F7FA"/>
          </a:solidFill>
          <a:ln/>
        </p:spPr>
      </p:sp>
      <p:sp>
        <p:nvSpPr>
          <p:cNvPr id="12" name="Text 10"/>
          <p:cNvSpPr/>
          <p:nvPr/>
        </p:nvSpPr>
        <p:spPr>
          <a:xfrm>
            <a:off x="978408" y="2231136"/>
            <a:ext cx="2176272" cy="237744"/>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Avg readiness</a:t>
            </a:r>
            <a:endParaRPr lang="en-US" sz="1100" dirty="0"/>
          </a:p>
        </p:txBody>
      </p:sp>
      <p:sp>
        <p:nvSpPr>
          <p:cNvPr id="13" name="Text 11"/>
          <p:cNvSpPr/>
          <p:nvPr/>
        </p:nvSpPr>
        <p:spPr>
          <a:xfrm>
            <a:off x="960120" y="2450592"/>
            <a:ext cx="2176272" cy="384048"/>
          </a:xfrm>
          <a:prstGeom prst="rect">
            <a:avLst/>
          </a:prstGeom>
          <a:noFill/>
          <a:ln/>
        </p:spPr>
        <p:txBody>
          <a:bodyPr wrap="square" lIns="0" tIns="0" rIns="0" bIns="0" rtlCol="0" anchor="ctr"/>
          <a:lstStyle/>
          <a:p>
            <a:pPr indent="0" marL="0">
              <a:buNone/>
            </a:pPr>
            <a:r>
              <a:rPr lang="en-US" sz="2300" b="1" dirty="0">
                <a:solidFill>
                  <a:srgbClr val="1E2E45"/>
                </a:solidFill>
                <a:latin typeface="Century Schoolbook" pitchFamily="34" charset="0"/>
                <a:ea typeface="Century Schoolbook" pitchFamily="34" charset="-122"/>
                <a:cs typeface="Century Schoolbook" pitchFamily="34" charset="-120"/>
              </a:rPr>
              <a:t>65</a:t>
            </a:r>
            <a:endParaRPr lang="en-US" sz="2300" dirty="0"/>
          </a:p>
        </p:txBody>
      </p:sp>
      <p:sp>
        <p:nvSpPr>
          <p:cNvPr id="14" name="Shape 12"/>
          <p:cNvSpPr/>
          <p:nvPr/>
        </p:nvSpPr>
        <p:spPr>
          <a:xfrm>
            <a:off x="3438144" y="2121408"/>
            <a:ext cx="2542032" cy="786384"/>
          </a:xfrm>
          <a:prstGeom prst="roundRect">
            <a:avLst>
              <a:gd name="adj" fmla="val 6977"/>
            </a:avLst>
          </a:prstGeom>
          <a:solidFill>
            <a:srgbClr val="F4F7FA"/>
          </a:solidFill>
          <a:ln/>
        </p:spPr>
      </p:sp>
      <p:sp>
        <p:nvSpPr>
          <p:cNvPr id="15" name="Text 13"/>
          <p:cNvSpPr/>
          <p:nvPr/>
        </p:nvSpPr>
        <p:spPr>
          <a:xfrm>
            <a:off x="3639312" y="2231136"/>
            <a:ext cx="2176272" cy="237744"/>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Ready</a:t>
            </a:r>
            <a:endParaRPr lang="en-US" sz="1100" dirty="0"/>
          </a:p>
        </p:txBody>
      </p:sp>
      <p:sp>
        <p:nvSpPr>
          <p:cNvPr id="16" name="Text 14"/>
          <p:cNvSpPr/>
          <p:nvPr/>
        </p:nvSpPr>
        <p:spPr>
          <a:xfrm>
            <a:off x="3621024" y="2450592"/>
            <a:ext cx="2176272" cy="384048"/>
          </a:xfrm>
          <a:prstGeom prst="rect">
            <a:avLst/>
          </a:prstGeom>
          <a:noFill/>
          <a:ln/>
        </p:spPr>
        <p:txBody>
          <a:bodyPr wrap="square" lIns="0" tIns="0" rIns="0" bIns="0" rtlCol="0" anchor="ctr"/>
          <a:lstStyle/>
          <a:p>
            <a:pPr indent="0" marL="0">
              <a:buNone/>
            </a:pPr>
            <a:r>
              <a:rPr lang="en-US" sz="2300" b="1" dirty="0">
                <a:solidFill>
                  <a:srgbClr val="2E9E4B"/>
                </a:solidFill>
                <a:latin typeface="Century Schoolbook" pitchFamily="34" charset="0"/>
                <a:ea typeface="Century Schoolbook" pitchFamily="34" charset="-122"/>
                <a:cs typeface="Century Schoolbook" pitchFamily="34" charset="-120"/>
              </a:rPr>
              <a:t>6</a:t>
            </a:r>
            <a:endParaRPr lang="en-US" sz="2300" dirty="0"/>
          </a:p>
        </p:txBody>
      </p:sp>
      <p:sp>
        <p:nvSpPr>
          <p:cNvPr id="17" name="Shape 15"/>
          <p:cNvSpPr/>
          <p:nvPr/>
        </p:nvSpPr>
        <p:spPr>
          <a:xfrm>
            <a:off x="6099048" y="2121408"/>
            <a:ext cx="2542032" cy="786384"/>
          </a:xfrm>
          <a:prstGeom prst="roundRect">
            <a:avLst>
              <a:gd name="adj" fmla="val 6977"/>
            </a:avLst>
          </a:prstGeom>
          <a:solidFill>
            <a:srgbClr val="F4F7FA"/>
          </a:solidFill>
          <a:ln/>
        </p:spPr>
      </p:sp>
      <p:sp>
        <p:nvSpPr>
          <p:cNvPr id="18" name="Text 16"/>
          <p:cNvSpPr/>
          <p:nvPr/>
        </p:nvSpPr>
        <p:spPr>
          <a:xfrm>
            <a:off x="6300216" y="2231136"/>
            <a:ext cx="2176272" cy="237744"/>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Needs work</a:t>
            </a:r>
            <a:endParaRPr lang="en-US" sz="1100" dirty="0"/>
          </a:p>
        </p:txBody>
      </p:sp>
      <p:sp>
        <p:nvSpPr>
          <p:cNvPr id="19" name="Text 17"/>
          <p:cNvSpPr/>
          <p:nvPr/>
        </p:nvSpPr>
        <p:spPr>
          <a:xfrm>
            <a:off x="6281928" y="2450592"/>
            <a:ext cx="2176272" cy="384048"/>
          </a:xfrm>
          <a:prstGeom prst="rect">
            <a:avLst/>
          </a:prstGeom>
          <a:noFill/>
          <a:ln/>
        </p:spPr>
        <p:txBody>
          <a:bodyPr wrap="square" lIns="0" tIns="0" rIns="0" bIns="0" rtlCol="0" anchor="ctr"/>
          <a:lstStyle/>
          <a:p>
            <a:pPr indent="0" marL="0">
              <a:buNone/>
            </a:pPr>
            <a:r>
              <a:rPr lang="en-US" sz="2300" b="1" dirty="0">
                <a:solidFill>
                  <a:srgbClr val="B07A00"/>
                </a:solidFill>
                <a:latin typeface="Century Schoolbook" pitchFamily="34" charset="0"/>
                <a:ea typeface="Century Schoolbook" pitchFamily="34" charset="-122"/>
                <a:cs typeface="Century Schoolbook" pitchFamily="34" charset="-120"/>
              </a:rPr>
              <a:t>5</a:t>
            </a:r>
            <a:endParaRPr lang="en-US" sz="2300" dirty="0"/>
          </a:p>
        </p:txBody>
      </p:sp>
      <p:sp>
        <p:nvSpPr>
          <p:cNvPr id="20" name="Shape 18"/>
          <p:cNvSpPr/>
          <p:nvPr/>
        </p:nvSpPr>
        <p:spPr>
          <a:xfrm>
            <a:off x="8759952" y="2121408"/>
            <a:ext cx="2542032" cy="786384"/>
          </a:xfrm>
          <a:prstGeom prst="roundRect">
            <a:avLst>
              <a:gd name="adj" fmla="val 6977"/>
            </a:avLst>
          </a:prstGeom>
          <a:solidFill>
            <a:srgbClr val="F4F7FA"/>
          </a:solidFill>
          <a:ln/>
        </p:spPr>
      </p:sp>
      <p:sp>
        <p:nvSpPr>
          <p:cNvPr id="21" name="Text 19"/>
          <p:cNvSpPr/>
          <p:nvPr/>
        </p:nvSpPr>
        <p:spPr>
          <a:xfrm>
            <a:off x="8961120" y="2231136"/>
            <a:ext cx="2176272" cy="237744"/>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Blocked</a:t>
            </a:r>
            <a:endParaRPr lang="en-US" sz="1100" dirty="0"/>
          </a:p>
        </p:txBody>
      </p:sp>
      <p:sp>
        <p:nvSpPr>
          <p:cNvPr id="22" name="Text 20"/>
          <p:cNvSpPr/>
          <p:nvPr/>
        </p:nvSpPr>
        <p:spPr>
          <a:xfrm>
            <a:off x="8942832" y="2450592"/>
            <a:ext cx="2176272" cy="384048"/>
          </a:xfrm>
          <a:prstGeom prst="rect">
            <a:avLst/>
          </a:prstGeom>
          <a:noFill/>
          <a:ln/>
        </p:spPr>
        <p:txBody>
          <a:bodyPr wrap="square" lIns="0" tIns="0" rIns="0" bIns="0" rtlCol="0" anchor="ctr"/>
          <a:lstStyle/>
          <a:p>
            <a:pPr indent="0" marL="0">
              <a:buNone/>
            </a:pPr>
            <a:r>
              <a:rPr lang="en-US" sz="2300" b="1" dirty="0">
                <a:solidFill>
                  <a:srgbClr val="C0392B"/>
                </a:solidFill>
                <a:latin typeface="Century Schoolbook" pitchFamily="34" charset="0"/>
                <a:ea typeface="Century Schoolbook" pitchFamily="34" charset="-122"/>
                <a:cs typeface="Century Schoolbook" pitchFamily="34" charset="-120"/>
              </a:rPr>
              <a:t>3</a:t>
            </a:r>
            <a:endParaRPr lang="en-US" sz="2300" dirty="0"/>
          </a:p>
        </p:txBody>
      </p:sp>
      <p:sp>
        <p:nvSpPr>
          <p:cNvPr id="23" name="Text 21"/>
          <p:cNvSpPr/>
          <p:nvPr/>
        </p:nvSpPr>
        <p:spPr>
          <a:xfrm>
            <a:off x="777240" y="3063240"/>
            <a:ext cx="5486400" cy="237744"/>
          </a:xfrm>
          <a:prstGeom prst="rect">
            <a:avLst/>
          </a:prstGeom>
          <a:noFill/>
          <a:ln/>
        </p:spPr>
        <p:txBody>
          <a:bodyPr wrap="square" lIns="0" tIns="0" rIns="0" bIns="0" rtlCol="0" anchor="ctr"/>
          <a:lstStyle/>
          <a:p>
            <a:pPr indent="0" marL="0">
              <a:buNone/>
            </a:pPr>
            <a:r>
              <a:rPr lang="en-US" sz="1050" b="1" spc="100" kern="0" dirty="0">
                <a:solidFill>
                  <a:srgbClr val="5B6B80"/>
                </a:solidFill>
                <a:latin typeface="Calibri" pitchFamily="34" charset="0"/>
                <a:ea typeface="Calibri" pitchFamily="34" charset="-122"/>
                <a:cs typeface="Calibri" pitchFamily="34" charset="-120"/>
              </a:rPr>
              <a:t>READINESS SPREAD</a:t>
            </a:r>
            <a:endParaRPr lang="en-US" sz="1050" dirty="0"/>
          </a:p>
        </p:txBody>
      </p:sp>
      <p:sp>
        <p:nvSpPr>
          <p:cNvPr id="24" name="Shape 22"/>
          <p:cNvSpPr/>
          <p:nvPr/>
        </p:nvSpPr>
        <p:spPr>
          <a:xfrm>
            <a:off x="777240" y="3319272"/>
            <a:ext cx="402336" cy="402336"/>
          </a:xfrm>
          <a:prstGeom prst="roundRect">
            <a:avLst>
              <a:gd name="adj" fmla="val 11364"/>
            </a:avLst>
          </a:prstGeom>
          <a:solidFill>
            <a:srgbClr val="3FB950"/>
          </a:solidFill>
          <a:ln/>
        </p:spPr>
      </p:sp>
      <p:sp>
        <p:nvSpPr>
          <p:cNvPr id="25" name="Text 23"/>
          <p:cNvSpPr/>
          <p:nvPr/>
        </p:nvSpPr>
        <p:spPr>
          <a:xfrm>
            <a:off x="777240"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26" name="Shape 24"/>
          <p:cNvSpPr/>
          <p:nvPr/>
        </p:nvSpPr>
        <p:spPr>
          <a:xfrm>
            <a:off x="1261872" y="3319272"/>
            <a:ext cx="402336" cy="402336"/>
          </a:xfrm>
          <a:prstGeom prst="roundRect">
            <a:avLst>
              <a:gd name="adj" fmla="val 11364"/>
            </a:avLst>
          </a:prstGeom>
          <a:solidFill>
            <a:srgbClr val="3FB950"/>
          </a:solidFill>
          <a:ln/>
        </p:spPr>
      </p:sp>
      <p:sp>
        <p:nvSpPr>
          <p:cNvPr id="27" name="Text 25"/>
          <p:cNvSpPr/>
          <p:nvPr/>
        </p:nvSpPr>
        <p:spPr>
          <a:xfrm>
            <a:off x="1261872"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28" name="Shape 26"/>
          <p:cNvSpPr/>
          <p:nvPr/>
        </p:nvSpPr>
        <p:spPr>
          <a:xfrm>
            <a:off x="1746504" y="3319272"/>
            <a:ext cx="402336" cy="402336"/>
          </a:xfrm>
          <a:prstGeom prst="roundRect">
            <a:avLst>
              <a:gd name="adj" fmla="val 11364"/>
            </a:avLst>
          </a:prstGeom>
          <a:solidFill>
            <a:srgbClr val="3FB950"/>
          </a:solidFill>
          <a:ln/>
        </p:spPr>
      </p:sp>
      <p:sp>
        <p:nvSpPr>
          <p:cNvPr id="29" name="Text 27"/>
          <p:cNvSpPr/>
          <p:nvPr/>
        </p:nvSpPr>
        <p:spPr>
          <a:xfrm>
            <a:off x="1746504"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30" name="Shape 28"/>
          <p:cNvSpPr/>
          <p:nvPr/>
        </p:nvSpPr>
        <p:spPr>
          <a:xfrm>
            <a:off x="2231136" y="3319272"/>
            <a:ext cx="402336" cy="402336"/>
          </a:xfrm>
          <a:prstGeom prst="roundRect">
            <a:avLst>
              <a:gd name="adj" fmla="val 11364"/>
            </a:avLst>
          </a:prstGeom>
          <a:solidFill>
            <a:srgbClr val="3FB950"/>
          </a:solidFill>
          <a:ln/>
        </p:spPr>
      </p:sp>
      <p:sp>
        <p:nvSpPr>
          <p:cNvPr id="31" name="Text 29"/>
          <p:cNvSpPr/>
          <p:nvPr/>
        </p:nvSpPr>
        <p:spPr>
          <a:xfrm>
            <a:off x="2231136"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32" name="Shape 30"/>
          <p:cNvSpPr/>
          <p:nvPr/>
        </p:nvSpPr>
        <p:spPr>
          <a:xfrm>
            <a:off x="2715768" y="3319272"/>
            <a:ext cx="402336" cy="402336"/>
          </a:xfrm>
          <a:prstGeom prst="roundRect">
            <a:avLst>
              <a:gd name="adj" fmla="val 11364"/>
            </a:avLst>
          </a:prstGeom>
          <a:solidFill>
            <a:srgbClr val="3FB950"/>
          </a:solidFill>
          <a:ln/>
        </p:spPr>
      </p:sp>
      <p:sp>
        <p:nvSpPr>
          <p:cNvPr id="33" name="Text 31"/>
          <p:cNvSpPr/>
          <p:nvPr/>
        </p:nvSpPr>
        <p:spPr>
          <a:xfrm>
            <a:off x="2715768"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34" name="Shape 32"/>
          <p:cNvSpPr/>
          <p:nvPr/>
        </p:nvSpPr>
        <p:spPr>
          <a:xfrm>
            <a:off x="3200400" y="3319272"/>
            <a:ext cx="402336" cy="402336"/>
          </a:xfrm>
          <a:prstGeom prst="roundRect">
            <a:avLst>
              <a:gd name="adj" fmla="val 11364"/>
            </a:avLst>
          </a:prstGeom>
          <a:solidFill>
            <a:srgbClr val="3FB950"/>
          </a:solidFill>
          <a:ln/>
        </p:spPr>
      </p:sp>
      <p:sp>
        <p:nvSpPr>
          <p:cNvPr id="35" name="Text 33"/>
          <p:cNvSpPr/>
          <p:nvPr/>
        </p:nvSpPr>
        <p:spPr>
          <a:xfrm>
            <a:off x="3200400"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36" name="Shape 34"/>
          <p:cNvSpPr/>
          <p:nvPr/>
        </p:nvSpPr>
        <p:spPr>
          <a:xfrm>
            <a:off x="3685032" y="3319272"/>
            <a:ext cx="402336" cy="402336"/>
          </a:xfrm>
          <a:prstGeom prst="roundRect">
            <a:avLst>
              <a:gd name="adj" fmla="val 11364"/>
            </a:avLst>
          </a:prstGeom>
          <a:solidFill>
            <a:srgbClr val="F4B740"/>
          </a:solidFill>
          <a:ln/>
        </p:spPr>
      </p:sp>
      <p:sp>
        <p:nvSpPr>
          <p:cNvPr id="37" name="Text 35"/>
          <p:cNvSpPr/>
          <p:nvPr/>
        </p:nvSpPr>
        <p:spPr>
          <a:xfrm>
            <a:off x="3685032"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8" name="Shape 36"/>
          <p:cNvSpPr/>
          <p:nvPr/>
        </p:nvSpPr>
        <p:spPr>
          <a:xfrm>
            <a:off x="4169664" y="3319272"/>
            <a:ext cx="402336" cy="402336"/>
          </a:xfrm>
          <a:prstGeom prst="roundRect">
            <a:avLst>
              <a:gd name="adj" fmla="val 11364"/>
            </a:avLst>
          </a:prstGeom>
          <a:solidFill>
            <a:srgbClr val="F4B740"/>
          </a:solidFill>
          <a:ln/>
        </p:spPr>
      </p:sp>
      <p:sp>
        <p:nvSpPr>
          <p:cNvPr id="39" name="Text 37"/>
          <p:cNvSpPr/>
          <p:nvPr/>
        </p:nvSpPr>
        <p:spPr>
          <a:xfrm>
            <a:off x="4169664"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40" name="Shape 38"/>
          <p:cNvSpPr/>
          <p:nvPr/>
        </p:nvSpPr>
        <p:spPr>
          <a:xfrm>
            <a:off x="4654296" y="3319272"/>
            <a:ext cx="402336" cy="402336"/>
          </a:xfrm>
          <a:prstGeom prst="roundRect">
            <a:avLst>
              <a:gd name="adj" fmla="val 11364"/>
            </a:avLst>
          </a:prstGeom>
          <a:solidFill>
            <a:srgbClr val="F4B740"/>
          </a:solidFill>
          <a:ln/>
        </p:spPr>
      </p:sp>
      <p:sp>
        <p:nvSpPr>
          <p:cNvPr id="41" name="Text 39"/>
          <p:cNvSpPr/>
          <p:nvPr/>
        </p:nvSpPr>
        <p:spPr>
          <a:xfrm>
            <a:off x="4654296"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42" name="Shape 40"/>
          <p:cNvSpPr/>
          <p:nvPr/>
        </p:nvSpPr>
        <p:spPr>
          <a:xfrm>
            <a:off x="5138928" y="3319272"/>
            <a:ext cx="402336" cy="402336"/>
          </a:xfrm>
          <a:prstGeom prst="roundRect">
            <a:avLst>
              <a:gd name="adj" fmla="val 11364"/>
            </a:avLst>
          </a:prstGeom>
          <a:solidFill>
            <a:srgbClr val="F4B740"/>
          </a:solidFill>
          <a:ln/>
        </p:spPr>
      </p:sp>
      <p:sp>
        <p:nvSpPr>
          <p:cNvPr id="43" name="Text 41"/>
          <p:cNvSpPr/>
          <p:nvPr/>
        </p:nvSpPr>
        <p:spPr>
          <a:xfrm>
            <a:off x="5138928"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44" name="Shape 42"/>
          <p:cNvSpPr/>
          <p:nvPr/>
        </p:nvSpPr>
        <p:spPr>
          <a:xfrm>
            <a:off x="5623560" y="3319272"/>
            <a:ext cx="402336" cy="402336"/>
          </a:xfrm>
          <a:prstGeom prst="roundRect">
            <a:avLst>
              <a:gd name="adj" fmla="val 11364"/>
            </a:avLst>
          </a:prstGeom>
          <a:solidFill>
            <a:srgbClr val="F4B740"/>
          </a:solidFill>
          <a:ln/>
        </p:spPr>
      </p:sp>
      <p:sp>
        <p:nvSpPr>
          <p:cNvPr id="45" name="Text 43"/>
          <p:cNvSpPr/>
          <p:nvPr/>
        </p:nvSpPr>
        <p:spPr>
          <a:xfrm>
            <a:off x="5623560"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46" name="Shape 44"/>
          <p:cNvSpPr/>
          <p:nvPr/>
        </p:nvSpPr>
        <p:spPr>
          <a:xfrm>
            <a:off x="6108192" y="3319272"/>
            <a:ext cx="402336" cy="402336"/>
          </a:xfrm>
          <a:prstGeom prst="roundRect">
            <a:avLst>
              <a:gd name="adj" fmla="val 11364"/>
            </a:avLst>
          </a:prstGeom>
          <a:solidFill>
            <a:srgbClr val="E5484D"/>
          </a:solidFill>
          <a:ln/>
        </p:spPr>
      </p:sp>
      <p:sp>
        <p:nvSpPr>
          <p:cNvPr id="47" name="Text 45"/>
          <p:cNvSpPr/>
          <p:nvPr/>
        </p:nvSpPr>
        <p:spPr>
          <a:xfrm>
            <a:off x="6108192"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48" name="Shape 46"/>
          <p:cNvSpPr/>
          <p:nvPr/>
        </p:nvSpPr>
        <p:spPr>
          <a:xfrm>
            <a:off x="6592824" y="3319272"/>
            <a:ext cx="402336" cy="402336"/>
          </a:xfrm>
          <a:prstGeom prst="roundRect">
            <a:avLst>
              <a:gd name="adj" fmla="val 11364"/>
            </a:avLst>
          </a:prstGeom>
          <a:solidFill>
            <a:srgbClr val="E5484D"/>
          </a:solidFill>
          <a:ln/>
        </p:spPr>
      </p:sp>
      <p:sp>
        <p:nvSpPr>
          <p:cNvPr id="49" name="Text 47"/>
          <p:cNvSpPr/>
          <p:nvPr/>
        </p:nvSpPr>
        <p:spPr>
          <a:xfrm>
            <a:off x="6592824"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50" name="Shape 48"/>
          <p:cNvSpPr/>
          <p:nvPr/>
        </p:nvSpPr>
        <p:spPr>
          <a:xfrm>
            <a:off x="7077456" y="3319272"/>
            <a:ext cx="402336" cy="402336"/>
          </a:xfrm>
          <a:prstGeom prst="roundRect">
            <a:avLst>
              <a:gd name="adj" fmla="val 11364"/>
            </a:avLst>
          </a:prstGeom>
          <a:solidFill>
            <a:srgbClr val="E5484D"/>
          </a:solidFill>
          <a:ln/>
        </p:spPr>
      </p:sp>
      <p:sp>
        <p:nvSpPr>
          <p:cNvPr id="51" name="Text 49"/>
          <p:cNvSpPr/>
          <p:nvPr/>
        </p:nvSpPr>
        <p:spPr>
          <a:xfrm>
            <a:off x="7077456" y="33192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52" name="Shape 50"/>
          <p:cNvSpPr/>
          <p:nvPr/>
        </p:nvSpPr>
        <p:spPr>
          <a:xfrm>
            <a:off x="777240" y="3913632"/>
            <a:ext cx="10652760" cy="10973"/>
          </a:xfrm>
          <a:prstGeom prst="rect">
            <a:avLst/>
          </a:prstGeom>
          <a:solidFill>
            <a:srgbClr val="E2E8F0"/>
          </a:solidFill>
          <a:ln/>
        </p:spPr>
      </p:sp>
      <p:sp>
        <p:nvSpPr>
          <p:cNvPr id="53" name="Text 51"/>
          <p:cNvSpPr/>
          <p:nvPr/>
        </p:nvSpPr>
        <p:spPr>
          <a:xfrm>
            <a:off x="777240" y="4023360"/>
            <a:ext cx="2743200" cy="219456"/>
          </a:xfrm>
          <a:prstGeom prst="rect">
            <a:avLst/>
          </a:prstGeom>
          <a:noFill/>
          <a:ln/>
        </p:spPr>
        <p:txBody>
          <a:bodyPr wrap="square" lIns="0" tIns="0" rIns="0" bIns="0" rtlCol="0" anchor="ctr"/>
          <a:lstStyle/>
          <a:p>
            <a:pPr indent="0" marL="0">
              <a:buNone/>
            </a:pPr>
            <a:r>
              <a:rPr lang="en-US" sz="1050" b="1" spc="100" kern="0" dirty="0">
                <a:solidFill>
                  <a:srgbClr val="5B6B80"/>
                </a:solidFill>
                <a:latin typeface="Calibri" pitchFamily="34" charset="0"/>
                <a:ea typeface="Calibri" pitchFamily="34" charset="-122"/>
                <a:cs typeface="Calibri" pitchFamily="34" charset="-120"/>
              </a:rPr>
              <a:t>STORIES</a:t>
            </a:r>
            <a:endParaRPr lang="en-US" sz="1050" dirty="0"/>
          </a:p>
        </p:txBody>
      </p:sp>
      <p:sp>
        <p:nvSpPr>
          <p:cNvPr id="54" name="Shape 52"/>
          <p:cNvSpPr/>
          <p:nvPr/>
        </p:nvSpPr>
        <p:spPr>
          <a:xfrm>
            <a:off x="777240" y="4242816"/>
            <a:ext cx="3246120" cy="283464"/>
          </a:xfrm>
          <a:prstGeom prst="roundRect">
            <a:avLst>
              <a:gd name="adj" fmla="val 12903"/>
            </a:avLst>
          </a:prstGeom>
          <a:solidFill>
            <a:srgbClr val="F4F7FA"/>
          </a:solidFill>
          <a:ln w="9525">
            <a:solidFill>
              <a:srgbClr val="CBD5E1"/>
            </a:solidFill>
            <a:prstDash val="solid"/>
          </a:ln>
        </p:spPr>
      </p:sp>
      <p:sp>
        <p:nvSpPr>
          <p:cNvPr id="55" name="Shape 53"/>
          <p:cNvSpPr/>
          <p:nvPr/>
        </p:nvSpPr>
        <p:spPr>
          <a:xfrm>
            <a:off x="914400" y="4343400"/>
            <a:ext cx="91440" cy="91440"/>
          </a:xfrm>
          <a:prstGeom prst="ellipse">
            <a:avLst/>
          </a:prstGeom>
          <a:solidFill>
            <a:srgbClr val="E5484D"/>
          </a:solidFill>
          <a:ln/>
        </p:spPr>
      </p:sp>
      <p:sp>
        <p:nvSpPr>
          <p:cNvPr id="56" name="Text 54"/>
          <p:cNvSpPr/>
          <p:nvPr/>
        </p:nvSpPr>
        <p:spPr>
          <a:xfrm>
            <a:off x="1097280" y="4270248"/>
            <a:ext cx="914400" cy="256032"/>
          </a:xfrm>
          <a:prstGeom prst="rect">
            <a:avLst/>
          </a:prstGeom>
          <a:noFill/>
          <a:ln/>
        </p:spPr>
        <p:txBody>
          <a:bodyPr wrap="square" lIns="0" tIns="0" rIns="0" bIns="0" rtlCol="0" anchor="ctr"/>
          <a:lstStyle/>
          <a:p>
            <a:pPr indent="0" marL="0">
              <a:buNone/>
            </a:pPr>
            <a:r>
              <a:rPr lang="en-US" sz="900" dirty="0">
                <a:solidFill>
                  <a:srgbClr val="5B6B80"/>
                </a:solidFill>
                <a:latin typeface="Courier New" pitchFamily="34" charset="0"/>
                <a:ea typeface="Courier New" pitchFamily="34" charset="-122"/>
                <a:cs typeface="Courier New" pitchFamily="34" charset="-120"/>
              </a:rPr>
              <a:t>BEN-1234</a:t>
            </a:r>
            <a:endParaRPr lang="en-US" sz="900" dirty="0"/>
          </a:p>
        </p:txBody>
      </p:sp>
      <p:sp>
        <p:nvSpPr>
          <p:cNvPr id="57" name="Text 55"/>
          <p:cNvSpPr/>
          <p:nvPr/>
        </p:nvSpPr>
        <p:spPr>
          <a:xfrm>
            <a:off x="1874520" y="4270248"/>
            <a:ext cx="1737360" cy="256032"/>
          </a:xfrm>
          <a:prstGeom prst="rect">
            <a:avLst/>
          </a:prstGeom>
          <a:noFill/>
          <a:ln/>
        </p:spPr>
        <p:txBody>
          <a:bodyPr wrap="square" lIns="0" tIns="0" rIns="0" bIns="0" rtlCol="0" anchor="ctr"/>
          <a:lstStyle/>
          <a:p>
            <a:pPr indent="0" marL="0">
              <a:buNone/>
            </a:pPr>
            <a:r>
              <a:rPr lang="en-US" sz="1050" dirty="0">
                <a:solidFill>
                  <a:srgbClr val="1E2E45"/>
                </a:solidFill>
                <a:latin typeface="Calibri" pitchFamily="34" charset="0"/>
                <a:ea typeface="Calibri" pitchFamily="34" charset="-122"/>
                <a:cs typeface="Calibri" pitchFamily="34" charset="-120"/>
              </a:rPr>
              <a:t>View claim status</a:t>
            </a:r>
            <a:endParaRPr lang="en-US" sz="1050" dirty="0"/>
          </a:p>
        </p:txBody>
      </p:sp>
      <p:sp>
        <p:nvSpPr>
          <p:cNvPr id="58" name="Text 56"/>
          <p:cNvSpPr/>
          <p:nvPr/>
        </p:nvSpPr>
        <p:spPr>
          <a:xfrm>
            <a:off x="3657600" y="4270248"/>
            <a:ext cx="292608" cy="256032"/>
          </a:xfrm>
          <a:prstGeom prst="rect">
            <a:avLst/>
          </a:prstGeom>
          <a:noFill/>
          <a:ln/>
        </p:spPr>
        <p:txBody>
          <a:bodyPr wrap="square" lIns="0" tIns="0" rIns="0" bIns="0" rtlCol="0" anchor="ctr"/>
          <a:lstStyle/>
          <a:p>
            <a:pPr algn="r" indent="0" marL="0">
              <a:buNone/>
            </a:pPr>
            <a:r>
              <a:rPr lang="en-US" sz="1100" b="1" dirty="0">
                <a:solidFill>
                  <a:srgbClr val="E5484D"/>
                </a:solidFill>
                <a:latin typeface="Calibri" pitchFamily="34" charset="0"/>
                <a:ea typeface="Calibri" pitchFamily="34" charset="-122"/>
                <a:cs typeface="Calibri" pitchFamily="34" charset="-120"/>
              </a:rPr>
              <a:t>42</a:t>
            </a:r>
            <a:endParaRPr lang="en-US" sz="1100" dirty="0"/>
          </a:p>
        </p:txBody>
      </p:sp>
      <p:sp>
        <p:nvSpPr>
          <p:cNvPr id="59" name="Shape 57"/>
          <p:cNvSpPr/>
          <p:nvPr/>
        </p:nvSpPr>
        <p:spPr>
          <a:xfrm>
            <a:off x="777240" y="4576572"/>
            <a:ext cx="3246120" cy="283464"/>
          </a:xfrm>
          <a:prstGeom prst="roundRect">
            <a:avLst>
              <a:gd name="adj" fmla="val 12903"/>
            </a:avLst>
          </a:prstGeom>
          <a:solidFill>
            <a:srgbClr val="FFFFFF"/>
          </a:solidFill>
          <a:ln w="9525">
            <a:solidFill>
              <a:srgbClr val="E2E8F0"/>
            </a:solidFill>
            <a:prstDash val="solid"/>
          </a:ln>
        </p:spPr>
      </p:sp>
      <p:sp>
        <p:nvSpPr>
          <p:cNvPr id="60" name="Shape 58"/>
          <p:cNvSpPr/>
          <p:nvPr/>
        </p:nvSpPr>
        <p:spPr>
          <a:xfrm>
            <a:off x="914400" y="4677156"/>
            <a:ext cx="91440" cy="91440"/>
          </a:xfrm>
          <a:prstGeom prst="ellipse">
            <a:avLst/>
          </a:prstGeom>
          <a:solidFill>
            <a:srgbClr val="E5484D"/>
          </a:solidFill>
          <a:ln/>
        </p:spPr>
      </p:sp>
      <p:sp>
        <p:nvSpPr>
          <p:cNvPr id="61" name="Text 59"/>
          <p:cNvSpPr/>
          <p:nvPr/>
        </p:nvSpPr>
        <p:spPr>
          <a:xfrm>
            <a:off x="1097280" y="4604004"/>
            <a:ext cx="914400" cy="256032"/>
          </a:xfrm>
          <a:prstGeom prst="rect">
            <a:avLst/>
          </a:prstGeom>
          <a:noFill/>
          <a:ln/>
        </p:spPr>
        <p:txBody>
          <a:bodyPr wrap="square" lIns="0" tIns="0" rIns="0" bIns="0" rtlCol="0" anchor="ctr"/>
          <a:lstStyle/>
          <a:p>
            <a:pPr indent="0" marL="0">
              <a:buNone/>
            </a:pPr>
            <a:r>
              <a:rPr lang="en-US" sz="900" dirty="0">
                <a:solidFill>
                  <a:srgbClr val="5B6B80"/>
                </a:solidFill>
                <a:latin typeface="Courier New" pitchFamily="34" charset="0"/>
                <a:ea typeface="Courier New" pitchFamily="34" charset="-122"/>
                <a:cs typeface="Courier New" pitchFamily="34" charset="-120"/>
              </a:rPr>
              <a:t>BEN-1221</a:t>
            </a:r>
            <a:endParaRPr lang="en-US" sz="900" dirty="0"/>
          </a:p>
        </p:txBody>
      </p:sp>
      <p:sp>
        <p:nvSpPr>
          <p:cNvPr id="62" name="Text 60"/>
          <p:cNvSpPr/>
          <p:nvPr/>
        </p:nvSpPr>
        <p:spPr>
          <a:xfrm>
            <a:off x="1874520" y="4604004"/>
            <a:ext cx="1737360" cy="256032"/>
          </a:xfrm>
          <a:prstGeom prst="rect">
            <a:avLst/>
          </a:prstGeom>
          <a:noFill/>
          <a:ln/>
        </p:spPr>
        <p:txBody>
          <a:bodyPr wrap="square" lIns="0" tIns="0" rIns="0" bIns="0" rtlCol="0" anchor="ctr"/>
          <a:lstStyle/>
          <a:p>
            <a:pPr indent="0" marL="0">
              <a:buNone/>
            </a:pPr>
            <a:r>
              <a:rPr lang="en-US" sz="1050" dirty="0">
                <a:solidFill>
                  <a:srgbClr val="1E2E45"/>
                </a:solidFill>
                <a:latin typeface="Calibri" pitchFamily="34" charset="0"/>
                <a:ea typeface="Calibri" pitchFamily="34" charset="-122"/>
                <a:cs typeface="Calibri" pitchFamily="34" charset="-120"/>
              </a:rPr>
              <a:t>Override a benefit</a:t>
            </a:r>
            <a:endParaRPr lang="en-US" sz="1050" dirty="0"/>
          </a:p>
        </p:txBody>
      </p:sp>
      <p:sp>
        <p:nvSpPr>
          <p:cNvPr id="63" name="Text 61"/>
          <p:cNvSpPr/>
          <p:nvPr/>
        </p:nvSpPr>
        <p:spPr>
          <a:xfrm>
            <a:off x="3657600" y="4604004"/>
            <a:ext cx="292608" cy="256032"/>
          </a:xfrm>
          <a:prstGeom prst="rect">
            <a:avLst/>
          </a:prstGeom>
          <a:noFill/>
          <a:ln/>
        </p:spPr>
        <p:txBody>
          <a:bodyPr wrap="square" lIns="0" tIns="0" rIns="0" bIns="0" rtlCol="0" anchor="ctr"/>
          <a:lstStyle/>
          <a:p>
            <a:pPr algn="r" indent="0" marL="0">
              <a:buNone/>
            </a:pPr>
            <a:r>
              <a:rPr lang="en-US" sz="1100" b="1" dirty="0">
                <a:solidFill>
                  <a:srgbClr val="E5484D"/>
                </a:solidFill>
                <a:latin typeface="Calibri" pitchFamily="34" charset="0"/>
                <a:ea typeface="Calibri" pitchFamily="34" charset="-122"/>
                <a:cs typeface="Calibri" pitchFamily="34" charset="-120"/>
              </a:rPr>
              <a:t>29</a:t>
            </a:r>
            <a:endParaRPr lang="en-US" sz="1100" dirty="0"/>
          </a:p>
        </p:txBody>
      </p:sp>
      <p:sp>
        <p:nvSpPr>
          <p:cNvPr id="64" name="Shape 62"/>
          <p:cNvSpPr/>
          <p:nvPr/>
        </p:nvSpPr>
        <p:spPr>
          <a:xfrm>
            <a:off x="777240" y="4910328"/>
            <a:ext cx="3246120" cy="283464"/>
          </a:xfrm>
          <a:prstGeom prst="roundRect">
            <a:avLst>
              <a:gd name="adj" fmla="val 12903"/>
            </a:avLst>
          </a:prstGeom>
          <a:solidFill>
            <a:srgbClr val="FFFFFF"/>
          </a:solidFill>
          <a:ln w="9525">
            <a:solidFill>
              <a:srgbClr val="E2E8F0"/>
            </a:solidFill>
            <a:prstDash val="solid"/>
          </a:ln>
        </p:spPr>
      </p:sp>
      <p:sp>
        <p:nvSpPr>
          <p:cNvPr id="65" name="Shape 63"/>
          <p:cNvSpPr/>
          <p:nvPr/>
        </p:nvSpPr>
        <p:spPr>
          <a:xfrm>
            <a:off x="914400" y="5010912"/>
            <a:ext cx="91440" cy="91440"/>
          </a:xfrm>
          <a:prstGeom prst="ellipse">
            <a:avLst/>
          </a:prstGeom>
          <a:solidFill>
            <a:srgbClr val="F4B740"/>
          </a:solidFill>
          <a:ln/>
        </p:spPr>
      </p:sp>
      <p:sp>
        <p:nvSpPr>
          <p:cNvPr id="66" name="Text 64"/>
          <p:cNvSpPr/>
          <p:nvPr/>
        </p:nvSpPr>
        <p:spPr>
          <a:xfrm>
            <a:off x="1097280" y="4937760"/>
            <a:ext cx="914400" cy="256032"/>
          </a:xfrm>
          <a:prstGeom prst="rect">
            <a:avLst/>
          </a:prstGeom>
          <a:noFill/>
          <a:ln/>
        </p:spPr>
        <p:txBody>
          <a:bodyPr wrap="square" lIns="0" tIns="0" rIns="0" bIns="0" rtlCol="0" anchor="ctr"/>
          <a:lstStyle/>
          <a:p>
            <a:pPr indent="0" marL="0">
              <a:buNone/>
            </a:pPr>
            <a:r>
              <a:rPr lang="en-US" sz="900" dirty="0">
                <a:solidFill>
                  <a:srgbClr val="5B6B80"/>
                </a:solidFill>
                <a:latin typeface="Courier New" pitchFamily="34" charset="0"/>
                <a:ea typeface="Courier New" pitchFamily="34" charset="-122"/>
                <a:cs typeface="Courier New" pitchFamily="34" charset="-120"/>
              </a:rPr>
              <a:t>BEN-1213</a:t>
            </a:r>
            <a:endParaRPr lang="en-US" sz="900" dirty="0"/>
          </a:p>
        </p:txBody>
      </p:sp>
      <p:sp>
        <p:nvSpPr>
          <p:cNvPr id="67" name="Text 65"/>
          <p:cNvSpPr/>
          <p:nvPr/>
        </p:nvSpPr>
        <p:spPr>
          <a:xfrm>
            <a:off x="1874520" y="4937760"/>
            <a:ext cx="1737360" cy="256032"/>
          </a:xfrm>
          <a:prstGeom prst="rect">
            <a:avLst/>
          </a:prstGeom>
          <a:noFill/>
          <a:ln/>
        </p:spPr>
        <p:txBody>
          <a:bodyPr wrap="square" lIns="0" tIns="0" rIns="0" bIns="0" rtlCol="0" anchor="ctr"/>
          <a:lstStyle/>
          <a:p>
            <a:pPr indent="0" marL="0">
              <a:buNone/>
            </a:pPr>
            <a:r>
              <a:rPr lang="en-US" sz="1050" dirty="0">
                <a:solidFill>
                  <a:srgbClr val="1E2E45"/>
                </a:solidFill>
                <a:latin typeface="Calibri" pitchFamily="34" charset="0"/>
                <a:ea typeface="Calibri" pitchFamily="34" charset="-122"/>
                <a:cs typeface="Calibri" pitchFamily="34" charset="-120"/>
              </a:rPr>
              <a:t>Flag prior-auth services</a:t>
            </a:r>
            <a:endParaRPr lang="en-US" sz="1050" dirty="0"/>
          </a:p>
        </p:txBody>
      </p:sp>
      <p:sp>
        <p:nvSpPr>
          <p:cNvPr id="68" name="Text 66"/>
          <p:cNvSpPr/>
          <p:nvPr/>
        </p:nvSpPr>
        <p:spPr>
          <a:xfrm>
            <a:off x="3657600" y="4937760"/>
            <a:ext cx="292608" cy="256032"/>
          </a:xfrm>
          <a:prstGeom prst="rect">
            <a:avLst/>
          </a:prstGeom>
          <a:noFill/>
          <a:ln/>
        </p:spPr>
        <p:txBody>
          <a:bodyPr wrap="square" lIns="0" tIns="0" rIns="0" bIns="0" rtlCol="0" anchor="ctr"/>
          <a:lstStyle/>
          <a:p>
            <a:pPr algn="r" indent="0" marL="0">
              <a:buNone/>
            </a:pPr>
            <a:r>
              <a:rPr lang="en-US" sz="1100" b="1" dirty="0">
                <a:solidFill>
                  <a:srgbClr val="F4B740"/>
                </a:solidFill>
                <a:latin typeface="Calibri" pitchFamily="34" charset="0"/>
                <a:ea typeface="Calibri" pitchFamily="34" charset="-122"/>
                <a:cs typeface="Calibri" pitchFamily="34" charset="-120"/>
              </a:rPr>
              <a:t>58</a:t>
            </a:r>
            <a:endParaRPr lang="en-US" sz="1100" dirty="0"/>
          </a:p>
        </p:txBody>
      </p:sp>
      <p:sp>
        <p:nvSpPr>
          <p:cNvPr id="69" name="Shape 67"/>
          <p:cNvSpPr/>
          <p:nvPr/>
        </p:nvSpPr>
        <p:spPr>
          <a:xfrm>
            <a:off x="777240" y="5244084"/>
            <a:ext cx="3246120" cy="283464"/>
          </a:xfrm>
          <a:prstGeom prst="roundRect">
            <a:avLst>
              <a:gd name="adj" fmla="val 12903"/>
            </a:avLst>
          </a:prstGeom>
          <a:solidFill>
            <a:srgbClr val="FFFFFF"/>
          </a:solidFill>
          <a:ln w="9525">
            <a:solidFill>
              <a:srgbClr val="E2E8F0"/>
            </a:solidFill>
            <a:prstDash val="solid"/>
          </a:ln>
        </p:spPr>
      </p:sp>
      <p:sp>
        <p:nvSpPr>
          <p:cNvPr id="70" name="Shape 68"/>
          <p:cNvSpPr/>
          <p:nvPr/>
        </p:nvSpPr>
        <p:spPr>
          <a:xfrm>
            <a:off x="914400" y="5344668"/>
            <a:ext cx="91440" cy="91440"/>
          </a:xfrm>
          <a:prstGeom prst="ellipse">
            <a:avLst/>
          </a:prstGeom>
          <a:solidFill>
            <a:srgbClr val="F4B740"/>
          </a:solidFill>
          <a:ln/>
        </p:spPr>
      </p:sp>
      <p:sp>
        <p:nvSpPr>
          <p:cNvPr id="71" name="Text 69"/>
          <p:cNvSpPr/>
          <p:nvPr/>
        </p:nvSpPr>
        <p:spPr>
          <a:xfrm>
            <a:off x="1097280" y="5271516"/>
            <a:ext cx="914400" cy="256032"/>
          </a:xfrm>
          <a:prstGeom prst="rect">
            <a:avLst/>
          </a:prstGeom>
          <a:noFill/>
          <a:ln/>
        </p:spPr>
        <p:txBody>
          <a:bodyPr wrap="square" lIns="0" tIns="0" rIns="0" bIns="0" rtlCol="0" anchor="ctr"/>
          <a:lstStyle/>
          <a:p>
            <a:pPr indent="0" marL="0">
              <a:buNone/>
            </a:pPr>
            <a:r>
              <a:rPr lang="en-US" sz="900" dirty="0">
                <a:solidFill>
                  <a:srgbClr val="5B6B80"/>
                </a:solidFill>
                <a:latin typeface="Courier New" pitchFamily="34" charset="0"/>
                <a:ea typeface="Courier New" pitchFamily="34" charset="-122"/>
                <a:cs typeface="Courier New" pitchFamily="34" charset="-120"/>
              </a:rPr>
              <a:t>BEN-1211</a:t>
            </a:r>
            <a:endParaRPr lang="en-US" sz="900" dirty="0"/>
          </a:p>
        </p:txBody>
      </p:sp>
      <p:sp>
        <p:nvSpPr>
          <p:cNvPr id="72" name="Text 70"/>
          <p:cNvSpPr/>
          <p:nvPr/>
        </p:nvSpPr>
        <p:spPr>
          <a:xfrm>
            <a:off x="1874520" y="5271516"/>
            <a:ext cx="1737360" cy="256032"/>
          </a:xfrm>
          <a:prstGeom prst="rect">
            <a:avLst/>
          </a:prstGeom>
          <a:noFill/>
          <a:ln/>
        </p:spPr>
        <p:txBody>
          <a:bodyPr wrap="square" lIns="0" tIns="0" rIns="0" bIns="0" rtlCol="0" anchor="ctr"/>
          <a:lstStyle/>
          <a:p>
            <a:pPr indent="0" marL="0">
              <a:buNone/>
            </a:pPr>
            <a:r>
              <a:rPr lang="en-US" sz="1050" dirty="0">
                <a:solidFill>
                  <a:srgbClr val="1E2E45"/>
                </a:solidFill>
                <a:latin typeface="Calibri" pitchFamily="34" charset="0"/>
                <a:ea typeface="Calibri" pitchFamily="34" charset="-122"/>
                <a:cs typeface="Calibri" pitchFamily="34" charset="-120"/>
              </a:rPr>
              <a:t>Show benefit accumulators</a:t>
            </a:r>
            <a:endParaRPr lang="en-US" sz="1050" dirty="0"/>
          </a:p>
        </p:txBody>
      </p:sp>
      <p:sp>
        <p:nvSpPr>
          <p:cNvPr id="73" name="Text 71"/>
          <p:cNvSpPr/>
          <p:nvPr/>
        </p:nvSpPr>
        <p:spPr>
          <a:xfrm>
            <a:off x="3657600" y="5271516"/>
            <a:ext cx="292608" cy="256032"/>
          </a:xfrm>
          <a:prstGeom prst="rect">
            <a:avLst/>
          </a:prstGeom>
          <a:noFill/>
          <a:ln/>
        </p:spPr>
        <p:txBody>
          <a:bodyPr wrap="square" lIns="0" tIns="0" rIns="0" bIns="0" rtlCol="0" anchor="ctr"/>
          <a:lstStyle/>
          <a:p>
            <a:pPr algn="r" indent="0" marL="0">
              <a:buNone/>
            </a:pPr>
            <a:r>
              <a:rPr lang="en-US" sz="1100" b="1" dirty="0">
                <a:solidFill>
                  <a:srgbClr val="F4B740"/>
                </a:solidFill>
                <a:latin typeface="Calibri" pitchFamily="34" charset="0"/>
                <a:ea typeface="Calibri" pitchFamily="34" charset="-122"/>
                <a:cs typeface="Calibri" pitchFamily="34" charset="-120"/>
              </a:rPr>
              <a:t>66</a:t>
            </a:r>
            <a:endParaRPr lang="en-US" sz="1100" dirty="0"/>
          </a:p>
        </p:txBody>
      </p:sp>
      <p:sp>
        <p:nvSpPr>
          <p:cNvPr id="74" name="Shape 72"/>
          <p:cNvSpPr/>
          <p:nvPr/>
        </p:nvSpPr>
        <p:spPr>
          <a:xfrm>
            <a:off x="777240" y="5577840"/>
            <a:ext cx="3246120" cy="283464"/>
          </a:xfrm>
          <a:prstGeom prst="roundRect">
            <a:avLst>
              <a:gd name="adj" fmla="val 12903"/>
            </a:avLst>
          </a:prstGeom>
          <a:solidFill>
            <a:srgbClr val="FFFFFF"/>
          </a:solidFill>
          <a:ln w="9525">
            <a:solidFill>
              <a:srgbClr val="E2E8F0"/>
            </a:solidFill>
            <a:prstDash val="solid"/>
          </a:ln>
        </p:spPr>
      </p:sp>
      <p:sp>
        <p:nvSpPr>
          <p:cNvPr id="75" name="Shape 73"/>
          <p:cNvSpPr/>
          <p:nvPr/>
        </p:nvSpPr>
        <p:spPr>
          <a:xfrm>
            <a:off x="914400" y="5678424"/>
            <a:ext cx="91440" cy="91440"/>
          </a:xfrm>
          <a:prstGeom prst="ellipse">
            <a:avLst/>
          </a:prstGeom>
          <a:solidFill>
            <a:srgbClr val="3FB950"/>
          </a:solidFill>
          <a:ln/>
        </p:spPr>
      </p:sp>
      <p:sp>
        <p:nvSpPr>
          <p:cNvPr id="76" name="Text 74"/>
          <p:cNvSpPr/>
          <p:nvPr/>
        </p:nvSpPr>
        <p:spPr>
          <a:xfrm>
            <a:off x="1097280" y="5605272"/>
            <a:ext cx="914400" cy="256032"/>
          </a:xfrm>
          <a:prstGeom prst="rect">
            <a:avLst/>
          </a:prstGeom>
          <a:noFill/>
          <a:ln/>
        </p:spPr>
        <p:txBody>
          <a:bodyPr wrap="square" lIns="0" tIns="0" rIns="0" bIns="0" rtlCol="0" anchor="ctr"/>
          <a:lstStyle/>
          <a:p>
            <a:pPr indent="0" marL="0">
              <a:buNone/>
            </a:pPr>
            <a:r>
              <a:rPr lang="en-US" sz="900" dirty="0">
                <a:solidFill>
                  <a:srgbClr val="5B6B80"/>
                </a:solidFill>
                <a:latin typeface="Courier New" pitchFamily="34" charset="0"/>
                <a:ea typeface="Courier New" pitchFamily="34" charset="-122"/>
                <a:cs typeface="Courier New" pitchFamily="34" charset="-120"/>
              </a:rPr>
              <a:t>BEN-1203</a:t>
            </a:r>
            <a:endParaRPr lang="en-US" sz="900" dirty="0"/>
          </a:p>
        </p:txBody>
      </p:sp>
      <p:sp>
        <p:nvSpPr>
          <p:cNvPr id="77" name="Text 75"/>
          <p:cNvSpPr/>
          <p:nvPr/>
        </p:nvSpPr>
        <p:spPr>
          <a:xfrm>
            <a:off x="1874520" y="5605272"/>
            <a:ext cx="1737360" cy="256032"/>
          </a:xfrm>
          <a:prstGeom prst="rect">
            <a:avLst/>
          </a:prstGeom>
          <a:noFill/>
          <a:ln/>
        </p:spPr>
        <p:txBody>
          <a:bodyPr wrap="square" lIns="0" tIns="0" rIns="0" bIns="0" rtlCol="0" anchor="ctr"/>
          <a:lstStyle/>
          <a:p>
            <a:pPr indent="0" marL="0">
              <a:buNone/>
            </a:pPr>
            <a:r>
              <a:rPr lang="en-US" sz="1050" dirty="0">
                <a:solidFill>
                  <a:srgbClr val="1E2E45"/>
                </a:solidFill>
                <a:latin typeface="Calibri" pitchFamily="34" charset="0"/>
                <a:ea typeface="Calibri" pitchFamily="34" charset="-122"/>
                <a:cs typeface="Calibri" pitchFamily="34" charset="-120"/>
              </a:rPr>
              <a:t>Download an EOB as PDF</a:t>
            </a:r>
            <a:endParaRPr lang="en-US" sz="1050" dirty="0"/>
          </a:p>
        </p:txBody>
      </p:sp>
      <p:sp>
        <p:nvSpPr>
          <p:cNvPr id="78" name="Text 76"/>
          <p:cNvSpPr/>
          <p:nvPr/>
        </p:nvSpPr>
        <p:spPr>
          <a:xfrm>
            <a:off x="3657600" y="5605272"/>
            <a:ext cx="292608" cy="256032"/>
          </a:xfrm>
          <a:prstGeom prst="rect">
            <a:avLst/>
          </a:prstGeom>
          <a:noFill/>
          <a:ln/>
        </p:spPr>
        <p:txBody>
          <a:bodyPr wrap="square" lIns="0" tIns="0" rIns="0" bIns="0" rtlCol="0" anchor="ctr"/>
          <a:lstStyle/>
          <a:p>
            <a:pPr algn="r" indent="0" marL="0">
              <a:buNone/>
            </a:pPr>
            <a:r>
              <a:rPr lang="en-US" sz="1100" b="1" dirty="0">
                <a:solidFill>
                  <a:srgbClr val="3FB950"/>
                </a:solidFill>
                <a:latin typeface="Calibri" pitchFamily="34" charset="0"/>
                <a:ea typeface="Calibri" pitchFamily="34" charset="-122"/>
                <a:cs typeface="Calibri" pitchFamily="34" charset="-120"/>
              </a:rPr>
              <a:t>82</a:t>
            </a:r>
            <a:endParaRPr lang="en-US" sz="1100" dirty="0"/>
          </a:p>
        </p:txBody>
      </p:sp>
      <p:sp>
        <p:nvSpPr>
          <p:cNvPr id="79" name="Shape 77"/>
          <p:cNvSpPr/>
          <p:nvPr/>
        </p:nvSpPr>
        <p:spPr>
          <a:xfrm>
            <a:off x="777240" y="5911596"/>
            <a:ext cx="3246120" cy="283464"/>
          </a:xfrm>
          <a:prstGeom prst="roundRect">
            <a:avLst>
              <a:gd name="adj" fmla="val 12903"/>
            </a:avLst>
          </a:prstGeom>
          <a:solidFill>
            <a:srgbClr val="FFFFFF"/>
          </a:solidFill>
          <a:ln w="9525">
            <a:solidFill>
              <a:srgbClr val="E2E8F0"/>
            </a:solidFill>
            <a:prstDash val="solid"/>
          </a:ln>
        </p:spPr>
      </p:sp>
      <p:sp>
        <p:nvSpPr>
          <p:cNvPr id="80" name="Shape 78"/>
          <p:cNvSpPr/>
          <p:nvPr/>
        </p:nvSpPr>
        <p:spPr>
          <a:xfrm>
            <a:off x="914400" y="6012180"/>
            <a:ext cx="91440" cy="91440"/>
          </a:xfrm>
          <a:prstGeom prst="ellipse">
            <a:avLst/>
          </a:prstGeom>
          <a:solidFill>
            <a:srgbClr val="3FB950"/>
          </a:solidFill>
          <a:ln/>
        </p:spPr>
      </p:sp>
      <p:sp>
        <p:nvSpPr>
          <p:cNvPr id="81" name="Text 79"/>
          <p:cNvSpPr/>
          <p:nvPr/>
        </p:nvSpPr>
        <p:spPr>
          <a:xfrm>
            <a:off x="1097280" y="5939028"/>
            <a:ext cx="914400" cy="256032"/>
          </a:xfrm>
          <a:prstGeom prst="rect">
            <a:avLst/>
          </a:prstGeom>
          <a:noFill/>
          <a:ln/>
        </p:spPr>
        <p:txBody>
          <a:bodyPr wrap="square" lIns="0" tIns="0" rIns="0" bIns="0" rtlCol="0" anchor="ctr"/>
          <a:lstStyle/>
          <a:p>
            <a:pPr indent="0" marL="0">
              <a:buNone/>
            </a:pPr>
            <a:r>
              <a:rPr lang="en-US" sz="900" dirty="0">
                <a:solidFill>
                  <a:srgbClr val="5B6B80"/>
                </a:solidFill>
                <a:latin typeface="Courier New" pitchFamily="34" charset="0"/>
                <a:ea typeface="Courier New" pitchFamily="34" charset="-122"/>
                <a:cs typeface="Courier New" pitchFamily="34" charset="-120"/>
              </a:rPr>
              <a:t>BEN-1201</a:t>
            </a:r>
            <a:endParaRPr lang="en-US" sz="900" dirty="0"/>
          </a:p>
        </p:txBody>
      </p:sp>
      <p:sp>
        <p:nvSpPr>
          <p:cNvPr id="82" name="Text 80"/>
          <p:cNvSpPr/>
          <p:nvPr/>
        </p:nvSpPr>
        <p:spPr>
          <a:xfrm>
            <a:off x="1874520" y="5939028"/>
            <a:ext cx="1737360" cy="256032"/>
          </a:xfrm>
          <a:prstGeom prst="rect">
            <a:avLst/>
          </a:prstGeom>
          <a:noFill/>
          <a:ln/>
        </p:spPr>
        <p:txBody>
          <a:bodyPr wrap="square" lIns="0" tIns="0" rIns="0" bIns="0" rtlCol="0" anchor="ctr"/>
          <a:lstStyle/>
          <a:p>
            <a:pPr indent="0" marL="0">
              <a:buNone/>
            </a:pPr>
            <a:r>
              <a:rPr lang="en-US" sz="1050" dirty="0">
                <a:solidFill>
                  <a:srgbClr val="1E2E45"/>
                </a:solidFill>
                <a:latin typeface="Calibri" pitchFamily="34" charset="0"/>
                <a:ea typeface="Calibri" pitchFamily="34" charset="-122"/>
                <a:cs typeface="Calibri" pitchFamily="34" charset="-120"/>
              </a:rPr>
              <a:t>Display member ID card</a:t>
            </a:r>
            <a:endParaRPr lang="en-US" sz="1050" dirty="0"/>
          </a:p>
        </p:txBody>
      </p:sp>
      <p:sp>
        <p:nvSpPr>
          <p:cNvPr id="83" name="Text 81"/>
          <p:cNvSpPr/>
          <p:nvPr/>
        </p:nvSpPr>
        <p:spPr>
          <a:xfrm>
            <a:off x="3657600" y="5939028"/>
            <a:ext cx="292608" cy="256032"/>
          </a:xfrm>
          <a:prstGeom prst="rect">
            <a:avLst/>
          </a:prstGeom>
          <a:noFill/>
          <a:ln/>
        </p:spPr>
        <p:txBody>
          <a:bodyPr wrap="square" lIns="0" tIns="0" rIns="0" bIns="0" rtlCol="0" anchor="ctr"/>
          <a:lstStyle/>
          <a:p>
            <a:pPr algn="r" indent="0" marL="0">
              <a:buNone/>
            </a:pPr>
            <a:r>
              <a:rPr lang="en-US" sz="1100" b="1" dirty="0">
                <a:solidFill>
                  <a:srgbClr val="3FB950"/>
                </a:solidFill>
                <a:latin typeface="Calibri" pitchFamily="34" charset="0"/>
                <a:ea typeface="Calibri" pitchFamily="34" charset="-122"/>
                <a:cs typeface="Calibri" pitchFamily="34" charset="-120"/>
              </a:rPr>
              <a:t>88</a:t>
            </a:r>
            <a:endParaRPr lang="en-US" sz="1100" dirty="0"/>
          </a:p>
        </p:txBody>
      </p:sp>
      <p:sp>
        <p:nvSpPr>
          <p:cNvPr id="84" name="Shape 82"/>
          <p:cNvSpPr/>
          <p:nvPr/>
        </p:nvSpPr>
        <p:spPr>
          <a:xfrm>
            <a:off x="4206240" y="4023360"/>
            <a:ext cx="7223760" cy="2148840"/>
          </a:xfrm>
          <a:prstGeom prst="roundRect">
            <a:avLst>
              <a:gd name="adj" fmla="val 2553"/>
            </a:avLst>
          </a:prstGeom>
          <a:solidFill>
            <a:srgbClr val="0E1A2B"/>
          </a:solidFill>
          <a:ln/>
        </p:spPr>
      </p:sp>
      <p:sp>
        <p:nvSpPr>
          <p:cNvPr id="85" name="Text 83"/>
          <p:cNvSpPr/>
          <p:nvPr/>
        </p:nvSpPr>
        <p:spPr>
          <a:xfrm>
            <a:off x="4434840" y="4160520"/>
            <a:ext cx="5303520" cy="274320"/>
          </a:xfrm>
          <a:prstGeom prst="rect">
            <a:avLst/>
          </a:prstGeom>
          <a:noFill/>
          <a:ln/>
        </p:spPr>
        <p:txBody>
          <a:bodyPr wrap="square" lIns="0" tIns="0" rIns="0" bIns="0" rtlCol="0" anchor="ctr"/>
          <a:lstStyle/>
          <a:p>
            <a:pPr indent="0" marL="0">
              <a:buNone/>
            </a:pPr>
            <a:r>
              <a:rPr lang="en-US" sz="1000" dirty="0">
                <a:solidFill>
                  <a:srgbClr val="CFE0F0"/>
                </a:solidFill>
                <a:latin typeface="Courier New" pitchFamily="34" charset="0"/>
                <a:ea typeface="Courier New" pitchFamily="34" charset="-122"/>
                <a:cs typeface="Courier New" pitchFamily="34" charset="-120"/>
              </a:rPr>
              <a:t>BEN-1234</a:t>
            </a:r>
            <a:pPr indent="0" marL="0">
              <a:buNone/>
            </a:pPr>
            <a:r>
              <a:rPr lang="en-US" sz="1350" b="1" dirty="0">
                <a:solidFill>
                  <a:srgbClr val="FFFFFF"/>
                </a:solidFill>
                <a:latin typeface="Calibri" pitchFamily="34" charset="0"/>
                <a:ea typeface="Calibri" pitchFamily="34" charset="-122"/>
                <a:cs typeface="Calibri" pitchFamily="34" charset="-120"/>
              </a:rPr>
              <a:t>   View claim status</a:t>
            </a:r>
            <a:endParaRPr lang="en-US" sz="1000" dirty="0"/>
          </a:p>
        </p:txBody>
      </p:sp>
      <p:sp>
        <p:nvSpPr>
          <p:cNvPr id="86" name="Shape 84"/>
          <p:cNvSpPr/>
          <p:nvPr/>
        </p:nvSpPr>
        <p:spPr>
          <a:xfrm>
            <a:off x="10195560" y="4169664"/>
            <a:ext cx="1051560" cy="292608"/>
          </a:xfrm>
          <a:prstGeom prst="roundRect">
            <a:avLst>
              <a:gd name="adj" fmla="val 37500"/>
            </a:avLst>
          </a:prstGeom>
          <a:solidFill>
            <a:srgbClr val="5A1F1C"/>
          </a:solidFill>
          <a:ln/>
        </p:spPr>
      </p:sp>
      <p:sp>
        <p:nvSpPr>
          <p:cNvPr id="87" name="Text 85"/>
          <p:cNvSpPr/>
          <p:nvPr/>
        </p:nvSpPr>
        <p:spPr>
          <a:xfrm>
            <a:off x="10195560" y="4169664"/>
            <a:ext cx="1051560" cy="292608"/>
          </a:xfrm>
          <a:prstGeom prst="rect">
            <a:avLst/>
          </a:prstGeom>
          <a:noFill/>
          <a:ln/>
        </p:spPr>
        <p:txBody>
          <a:bodyPr wrap="square" lIns="0" tIns="0" rIns="0" bIns="0" rtlCol="0" anchor="ctr"/>
          <a:lstStyle/>
          <a:p>
            <a:pPr algn="ctr" indent="0" marL="0">
              <a:buNone/>
            </a:pPr>
            <a:r>
              <a:rPr lang="en-US" sz="1050" b="1" dirty="0">
                <a:solidFill>
                  <a:srgbClr val="FF8A80"/>
                </a:solidFill>
                <a:latin typeface="Calibri" pitchFamily="34" charset="0"/>
                <a:ea typeface="Calibri" pitchFamily="34" charset="-122"/>
                <a:cs typeface="Calibri" pitchFamily="34" charset="-120"/>
              </a:rPr>
              <a:t>RED · 42</a:t>
            </a:r>
            <a:endParaRPr lang="en-US" sz="1050" dirty="0"/>
          </a:p>
        </p:txBody>
      </p:sp>
      <p:sp>
        <p:nvSpPr>
          <p:cNvPr id="88" name="Text 86"/>
          <p:cNvSpPr/>
          <p:nvPr/>
        </p:nvSpPr>
        <p:spPr>
          <a:xfrm>
            <a:off x="4434840" y="4553712"/>
            <a:ext cx="6400800" cy="219456"/>
          </a:xfrm>
          <a:prstGeom prst="rect">
            <a:avLst/>
          </a:prstGeom>
          <a:noFill/>
          <a:ln/>
        </p:spPr>
        <p:txBody>
          <a:bodyPr wrap="square" lIns="0" tIns="0" rIns="0" bIns="0" rtlCol="0" anchor="ctr"/>
          <a:lstStyle/>
          <a:p>
            <a:pPr indent="0" marL="0">
              <a:buNone/>
            </a:pPr>
            <a:r>
              <a:rPr lang="en-US" sz="1000" b="1" spc="50" kern="0" dirty="0">
                <a:solidFill>
                  <a:srgbClr val="5EEAD4"/>
                </a:solidFill>
                <a:latin typeface="Calibri" pitchFamily="34" charset="0"/>
                <a:ea typeface="Calibri" pitchFamily="34" charset="-122"/>
                <a:cs typeface="Calibri" pitchFamily="34" charset="-120"/>
              </a:rPr>
              <a:t>GAPS — each with a why</a:t>
            </a:r>
            <a:endParaRPr lang="en-US" sz="1000" dirty="0"/>
          </a:p>
        </p:txBody>
      </p:sp>
      <p:sp>
        <p:nvSpPr>
          <p:cNvPr id="89" name="Text 87"/>
          <p:cNvSpPr/>
          <p:nvPr/>
        </p:nvSpPr>
        <p:spPr>
          <a:xfrm>
            <a:off x="4434840" y="4791456"/>
            <a:ext cx="6858000" cy="219456"/>
          </a:xfrm>
          <a:prstGeom prst="rect">
            <a:avLst/>
          </a:prstGeom>
          <a:noFill/>
          <a:ln/>
        </p:spPr>
        <p:txBody>
          <a:bodyPr wrap="square" lIns="0" tIns="0" rIns="0" bIns="0" rtlCol="0" anchor="t"/>
          <a:lstStyle/>
          <a:p>
            <a:pPr indent="0" marL="0">
              <a:buNone/>
            </a:pPr>
            <a:r>
              <a:rPr lang="en-US" sz="1050" b="1" dirty="0">
                <a:solidFill>
                  <a:srgbClr val="5EEAD4"/>
                </a:solidFill>
                <a:latin typeface="Calibri" pitchFamily="34" charset="0"/>
                <a:ea typeface="Calibri" pitchFamily="34" charset="-122"/>
                <a:cs typeface="Calibri" pitchFamily="34" charset="-120"/>
              </a:rPr>
              <a:t>Negative paths — </a:t>
            </a:r>
            <a:pPr indent="0" marL="0">
              <a:buNone/>
            </a:pPr>
            <a:r>
              <a:rPr lang="en-US" sz="1050" dirty="0">
                <a:solidFill>
                  <a:srgbClr val="FFFFFF"/>
                </a:solidFill>
                <a:latin typeface="Calibri" pitchFamily="34" charset="0"/>
                <a:ea typeface="Calibri" pitchFamily="34" charset="-122"/>
                <a:cs typeface="Calibri" pitchFamily="34" charset="-120"/>
              </a:rPr>
              <a:t>No behaviour when the claim-status service times out</a:t>
            </a:r>
            <a:endParaRPr lang="en-US" sz="1050" dirty="0"/>
          </a:p>
        </p:txBody>
      </p:sp>
      <p:sp>
        <p:nvSpPr>
          <p:cNvPr id="90" name="Text 88"/>
          <p:cNvSpPr/>
          <p:nvPr/>
        </p:nvSpPr>
        <p:spPr>
          <a:xfrm>
            <a:off x="4434840" y="4983480"/>
            <a:ext cx="6858000" cy="201168"/>
          </a:xfrm>
          <a:prstGeom prst="rect">
            <a:avLst/>
          </a:prstGeom>
          <a:noFill/>
          <a:ln/>
        </p:spPr>
        <p:txBody>
          <a:bodyPr wrap="square" lIns="0" tIns="0" rIns="0" bIns="0" rtlCol="0" anchor="t"/>
          <a:lstStyle/>
          <a:p>
            <a:pPr indent="0" marL="0">
              <a:buNone/>
            </a:pPr>
            <a:r>
              <a:rPr lang="en-US" sz="950" i="1" dirty="0">
                <a:solidFill>
                  <a:srgbClr val="CFE0F0"/>
                </a:solidFill>
                <a:latin typeface="Calibri" pitchFamily="34" charset="0"/>
                <a:ea typeface="Calibri" pitchFamily="34" charset="-122"/>
                <a:cs typeface="Calibri" pitchFamily="34" charset="-120"/>
              </a:rPr>
              <a:t>why: member sees a blank screen and files a ticket</a:t>
            </a:r>
            <a:endParaRPr lang="en-US" sz="950" dirty="0"/>
          </a:p>
        </p:txBody>
      </p:sp>
      <p:sp>
        <p:nvSpPr>
          <p:cNvPr id="91" name="Text 89"/>
          <p:cNvSpPr/>
          <p:nvPr/>
        </p:nvSpPr>
        <p:spPr>
          <a:xfrm>
            <a:off x="4434840" y="5248656"/>
            <a:ext cx="6858000" cy="219456"/>
          </a:xfrm>
          <a:prstGeom prst="rect">
            <a:avLst/>
          </a:prstGeom>
          <a:noFill/>
          <a:ln/>
        </p:spPr>
        <p:txBody>
          <a:bodyPr wrap="square" lIns="0" tIns="0" rIns="0" bIns="0" rtlCol="0" anchor="t"/>
          <a:lstStyle/>
          <a:p>
            <a:pPr indent="0" marL="0">
              <a:buNone/>
            </a:pPr>
            <a:r>
              <a:rPr lang="en-US" sz="1050" b="1" dirty="0">
                <a:solidFill>
                  <a:srgbClr val="5EEAD4"/>
                </a:solidFill>
                <a:latin typeface="Calibri" pitchFamily="34" charset="0"/>
                <a:ea typeface="Calibri" pitchFamily="34" charset="-122"/>
                <a:cs typeface="Calibri" pitchFamily="34" charset="-120"/>
              </a:rPr>
              <a:t>Data &amp; field rules — </a:t>
            </a:r>
            <a:pPr indent="0" marL="0">
              <a:buNone/>
            </a:pPr>
            <a:r>
              <a:rPr lang="en-US" sz="1050" dirty="0">
                <a:solidFill>
                  <a:srgbClr val="FFFFFF"/>
                </a:solidFill>
                <a:latin typeface="Calibri" pitchFamily="34" charset="0"/>
                <a:ea typeface="Calibri" pitchFamily="34" charset="-122"/>
                <a:cs typeface="Calibri" pitchFamily="34" charset="-120"/>
              </a:rPr>
              <a:t>Status values are not enumerated</a:t>
            </a:r>
            <a:endParaRPr lang="en-US" sz="1050" dirty="0"/>
          </a:p>
        </p:txBody>
      </p:sp>
      <p:sp>
        <p:nvSpPr>
          <p:cNvPr id="92" name="Text 90"/>
          <p:cNvSpPr/>
          <p:nvPr/>
        </p:nvSpPr>
        <p:spPr>
          <a:xfrm>
            <a:off x="4434840" y="5440680"/>
            <a:ext cx="6858000" cy="201168"/>
          </a:xfrm>
          <a:prstGeom prst="rect">
            <a:avLst/>
          </a:prstGeom>
          <a:noFill/>
          <a:ln/>
        </p:spPr>
        <p:txBody>
          <a:bodyPr wrap="square" lIns="0" tIns="0" rIns="0" bIns="0" rtlCol="0" anchor="t"/>
          <a:lstStyle/>
          <a:p>
            <a:pPr indent="0" marL="0">
              <a:buNone/>
            </a:pPr>
            <a:r>
              <a:rPr lang="en-US" sz="950" i="1" dirty="0">
                <a:solidFill>
                  <a:srgbClr val="CFE0F0"/>
                </a:solidFill>
                <a:latin typeface="Calibri" pitchFamily="34" charset="0"/>
                <a:ea typeface="Calibri" pitchFamily="34" charset="-122"/>
                <a:cs typeface="Calibri" pitchFamily="34" charset="-120"/>
              </a:rPr>
              <a:t>why: QA cannot assert on undefined states</a:t>
            </a:r>
            <a:endParaRPr lang="en-US" sz="950" dirty="0"/>
          </a:p>
        </p:txBody>
      </p:sp>
      <p:sp>
        <p:nvSpPr>
          <p:cNvPr id="93" name="Text 91"/>
          <p:cNvSpPr/>
          <p:nvPr/>
        </p:nvSpPr>
        <p:spPr>
          <a:xfrm>
            <a:off x="4434840" y="5724144"/>
            <a:ext cx="6400800" cy="201168"/>
          </a:xfrm>
          <a:prstGeom prst="rect">
            <a:avLst/>
          </a:prstGeom>
          <a:noFill/>
          <a:ln/>
        </p:spPr>
        <p:txBody>
          <a:bodyPr wrap="square" lIns="0" tIns="0" rIns="0" bIns="0" rtlCol="0" anchor="ctr"/>
          <a:lstStyle/>
          <a:p>
            <a:pPr indent="0" marL="0">
              <a:buNone/>
            </a:pPr>
            <a:r>
              <a:rPr lang="en-US" sz="1000" b="1" spc="50" kern="0" dirty="0">
                <a:solidFill>
                  <a:srgbClr val="5EEAD4"/>
                </a:solidFill>
                <a:latin typeface="Calibri" pitchFamily="34" charset="0"/>
                <a:ea typeface="Calibri" pitchFamily="34" charset="-122"/>
                <a:cs typeface="Calibri" pitchFamily="34" charset="-120"/>
              </a:rPr>
              <a:t>CLARIFYING QUESTION</a:t>
            </a:r>
            <a:endParaRPr lang="en-US" sz="1000" dirty="0"/>
          </a:p>
        </p:txBody>
      </p:sp>
      <p:sp>
        <p:nvSpPr>
          <p:cNvPr id="94" name="Text 92"/>
          <p:cNvSpPr/>
          <p:nvPr/>
        </p:nvSpPr>
        <p:spPr>
          <a:xfrm>
            <a:off x="4434840" y="5916168"/>
            <a:ext cx="6858000" cy="219456"/>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What are the exact claim-status values and their labels?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GOVERNANCE &amp; DATA BOUNDARY</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The section that clears — or kills — a payer project</a:t>
            </a:r>
            <a:endParaRPr lang="en-US" sz="3000" dirty="0"/>
          </a:p>
        </p:txBody>
      </p:sp>
      <p:sp>
        <p:nvSpPr>
          <p:cNvPr id="4" name="Text 2"/>
          <p:cNvSpPr/>
          <p:nvPr/>
        </p:nvSpPr>
        <p:spPr>
          <a:xfrm>
            <a:off x="548640" y="1572768"/>
            <a:ext cx="11064240" cy="548640"/>
          </a:xfrm>
          <a:prstGeom prst="rect">
            <a:avLst/>
          </a:prstGeom>
          <a:noFill/>
          <a:ln/>
        </p:spPr>
        <p:txBody>
          <a:bodyPr wrap="square" lIns="0" tIns="0" rIns="0" bIns="0" rtlCol="0" anchor="ctr"/>
          <a:lstStyle/>
          <a:p>
            <a:pPr indent="0" marL="0">
              <a:lnSpc>
                <a:spcPct val="110000"/>
              </a:lnSpc>
              <a:buNone/>
            </a:pPr>
            <a:r>
              <a:rPr lang="en-US" sz="1450" dirty="0">
                <a:solidFill>
                  <a:srgbClr val="5B6B80"/>
                </a:solidFill>
                <a:latin typeface="Calibri" pitchFamily="34" charset="0"/>
                <a:ea typeface="Calibri" pitchFamily="34" charset="-122"/>
                <a:cs typeface="Calibri" pitchFamily="34" charset="-120"/>
              </a:rPr>
              <a:t>An autonomous AI leaving notes on a client-owned backlog is a steering-committee risk, not a feature. The rollout is deliberately sequenced to demonstrate delivery maturity.</a:t>
            </a:r>
            <a:endParaRPr lang="en-US" sz="1450" dirty="0"/>
          </a:p>
        </p:txBody>
      </p:sp>
      <p:sp>
        <p:nvSpPr>
          <p:cNvPr id="5" name="Shape 3"/>
          <p:cNvSpPr/>
          <p:nvPr/>
        </p:nvSpPr>
        <p:spPr>
          <a:xfrm>
            <a:off x="548640" y="2286000"/>
            <a:ext cx="3566160" cy="1965960"/>
          </a:xfrm>
          <a:prstGeom prst="roundRect">
            <a:avLst>
              <a:gd name="adj" fmla="val 3721"/>
            </a:avLst>
          </a:prstGeom>
          <a:solidFill>
            <a:srgbClr val="FFFFFF"/>
          </a:solidFill>
          <a:ln/>
          <a:effectLst>
            <a:outerShdw sx="100000" sy="100000" kx="0" ky="0" algn="bl" rotWithShape="0" blurRad="114300" dist="38100" dir="5400000">
              <a:srgbClr val="000000">
                <a:alpha val="18000"/>
              </a:srgbClr>
            </a:outerShdw>
          </a:effectLst>
        </p:spPr>
      </p:sp>
      <p:sp>
        <p:nvSpPr>
          <p:cNvPr id="6" name="Shape 4"/>
          <p:cNvSpPr/>
          <p:nvPr/>
        </p:nvSpPr>
        <p:spPr>
          <a:xfrm>
            <a:off x="822960" y="2578608"/>
            <a:ext cx="274320" cy="274320"/>
          </a:xfrm>
          <a:prstGeom prst="ellipse">
            <a:avLst/>
          </a:prstGeom>
          <a:solidFill>
            <a:srgbClr val="3FB950"/>
          </a:solidFill>
          <a:ln/>
        </p:spPr>
      </p:sp>
      <p:sp>
        <p:nvSpPr>
          <p:cNvPr id="7" name="Text 5"/>
          <p:cNvSpPr/>
          <p:nvPr/>
        </p:nvSpPr>
        <p:spPr>
          <a:xfrm>
            <a:off x="1207008" y="2578608"/>
            <a:ext cx="2651760" cy="274320"/>
          </a:xfrm>
          <a:prstGeom prst="rect">
            <a:avLst/>
          </a:prstGeom>
          <a:noFill/>
          <a:ln/>
        </p:spPr>
        <p:txBody>
          <a:bodyPr wrap="square" lIns="0" tIns="0" rIns="0" bIns="0" rtlCol="0" anchor="ctr"/>
          <a:lstStyle/>
          <a:p>
            <a:pPr indent="0" marL="0">
              <a:buNone/>
            </a:pPr>
            <a:r>
              <a:rPr lang="en-US" sz="1250" b="1" spc="150" kern="0" dirty="0">
                <a:solidFill>
                  <a:srgbClr val="3FB950"/>
                </a:solidFill>
                <a:latin typeface="Calibri" pitchFamily="34" charset="0"/>
                <a:ea typeface="Calibri" pitchFamily="34" charset="-122"/>
                <a:cs typeface="Calibri" pitchFamily="34" charset="-120"/>
              </a:rPr>
              <a:t>STAGE 1</a:t>
            </a:r>
            <a:endParaRPr lang="en-US" sz="1250" dirty="0"/>
          </a:p>
        </p:txBody>
      </p:sp>
      <p:sp>
        <p:nvSpPr>
          <p:cNvPr id="8" name="Text 6"/>
          <p:cNvSpPr/>
          <p:nvPr/>
        </p:nvSpPr>
        <p:spPr>
          <a:xfrm>
            <a:off x="822960" y="2944368"/>
            <a:ext cx="3063240" cy="411480"/>
          </a:xfrm>
          <a:prstGeom prst="rect">
            <a:avLst/>
          </a:prstGeom>
          <a:noFill/>
          <a:ln/>
        </p:spPr>
        <p:txBody>
          <a:bodyPr wrap="square" lIns="0" tIns="0" rIns="0" bIns="0" rtlCol="0" anchor="ctr"/>
          <a:lstStyle/>
          <a:p>
            <a:pPr indent="0" marL="0">
              <a:buNone/>
            </a:pPr>
            <a:r>
              <a:rPr lang="en-US" sz="1650" b="1" dirty="0">
                <a:solidFill>
                  <a:srgbClr val="1E2E45"/>
                </a:solidFill>
                <a:latin typeface="Calibri" pitchFamily="34" charset="0"/>
                <a:ea typeface="Calibri" pitchFamily="34" charset="-122"/>
                <a:cs typeface="Calibri" pitchFamily="34" charset="-120"/>
              </a:rPr>
              <a:t>Read-only (default)</a:t>
            </a:r>
            <a:endParaRPr lang="en-US" sz="1650" dirty="0"/>
          </a:p>
        </p:txBody>
      </p:sp>
      <p:sp>
        <p:nvSpPr>
          <p:cNvPr id="9" name="Text 7"/>
          <p:cNvSpPr/>
          <p:nvPr/>
        </p:nvSpPr>
        <p:spPr>
          <a:xfrm>
            <a:off x="822960" y="3383280"/>
            <a:ext cx="3063240" cy="777240"/>
          </a:xfrm>
          <a:prstGeom prst="rect">
            <a:avLst/>
          </a:prstGeom>
          <a:noFill/>
          <a:ln/>
        </p:spPr>
        <p:txBody>
          <a:bodyPr wrap="square" lIns="0" tIns="0" rIns="0" bIns="0" rtlCol="0" anchor="t"/>
          <a:lstStyle/>
          <a:p>
            <a:pPr indent="0" marL="0">
              <a:lnSpc>
                <a:spcPct val="108000"/>
              </a:lnSpc>
              <a:buNone/>
            </a:pPr>
            <a:r>
              <a:rPr lang="en-US" sz="1200" dirty="0">
                <a:solidFill>
                  <a:srgbClr val="5B6B80"/>
                </a:solidFill>
                <a:latin typeface="Calibri" pitchFamily="34" charset="0"/>
                <a:ea typeface="Calibri" pitchFamily="34" charset="-122"/>
                <a:cs typeface="Calibri" pitchFamily="34" charset="-120"/>
              </a:rPr>
              <a:t>Agent scores stories; verdict lands on our surface (Teams / SharePoint). Zero footprint on client data.</a:t>
            </a:r>
            <a:endParaRPr lang="en-US" sz="1200" dirty="0"/>
          </a:p>
        </p:txBody>
      </p:sp>
      <p:sp>
        <p:nvSpPr>
          <p:cNvPr id="10" name="Shape 8"/>
          <p:cNvSpPr/>
          <p:nvPr/>
        </p:nvSpPr>
        <p:spPr>
          <a:xfrm>
            <a:off x="4297680" y="2286000"/>
            <a:ext cx="3566160" cy="1965960"/>
          </a:xfrm>
          <a:prstGeom prst="roundRect">
            <a:avLst>
              <a:gd name="adj" fmla="val 3721"/>
            </a:avLst>
          </a:prstGeom>
          <a:solidFill>
            <a:srgbClr val="FFFFFF"/>
          </a:solidFill>
          <a:ln/>
          <a:effectLst>
            <a:outerShdw sx="100000" sy="100000" kx="0" ky="0" algn="bl" rotWithShape="0" blurRad="114300" dist="38100" dir="5400000">
              <a:srgbClr val="000000">
                <a:alpha val="18000"/>
              </a:srgbClr>
            </a:outerShdw>
          </a:effectLst>
        </p:spPr>
      </p:sp>
      <p:sp>
        <p:nvSpPr>
          <p:cNvPr id="11" name="Shape 9"/>
          <p:cNvSpPr/>
          <p:nvPr/>
        </p:nvSpPr>
        <p:spPr>
          <a:xfrm>
            <a:off x="4572000" y="2578608"/>
            <a:ext cx="274320" cy="274320"/>
          </a:xfrm>
          <a:prstGeom prst="ellipse">
            <a:avLst/>
          </a:prstGeom>
          <a:solidFill>
            <a:srgbClr val="F4B740"/>
          </a:solidFill>
          <a:ln/>
        </p:spPr>
      </p:sp>
      <p:sp>
        <p:nvSpPr>
          <p:cNvPr id="12" name="Text 10"/>
          <p:cNvSpPr/>
          <p:nvPr/>
        </p:nvSpPr>
        <p:spPr>
          <a:xfrm>
            <a:off x="4956048" y="2578608"/>
            <a:ext cx="2651760" cy="274320"/>
          </a:xfrm>
          <a:prstGeom prst="rect">
            <a:avLst/>
          </a:prstGeom>
          <a:noFill/>
          <a:ln/>
        </p:spPr>
        <p:txBody>
          <a:bodyPr wrap="square" lIns="0" tIns="0" rIns="0" bIns="0" rtlCol="0" anchor="ctr"/>
          <a:lstStyle/>
          <a:p>
            <a:pPr indent="0" marL="0">
              <a:buNone/>
            </a:pPr>
            <a:r>
              <a:rPr lang="en-US" sz="1250" b="1" spc="150" kern="0" dirty="0">
                <a:solidFill>
                  <a:srgbClr val="F4B740"/>
                </a:solidFill>
                <a:latin typeface="Calibri" pitchFamily="34" charset="0"/>
                <a:ea typeface="Calibri" pitchFamily="34" charset="-122"/>
                <a:cs typeface="Calibri" pitchFamily="34" charset="-120"/>
              </a:rPr>
              <a:t>STAGE 2</a:t>
            </a:r>
            <a:endParaRPr lang="en-US" sz="1250" dirty="0"/>
          </a:p>
        </p:txBody>
      </p:sp>
      <p:sp>
        <p:nvSpPr>
          <p:cNvPr id="13" name="Text 11"/>
          <p:cNvSpPr/>
          <p:nvPr/>
        </p:nvSpPr>
        <p:spPr>
          <a:xfrm>
            <a:off x="4572000" y="2944368"/>
            <a:ext cx="3063240" cy="411480"/>
          </a:xfrm>
          <a:prstGeom prst="rect">
            <a:avLst/>
          </a:prstGeom>
          <a:noFill/>
          <a:ln/>
        </p:spPr>
        <p:txBody>
          <a:bodyPr wrap="square" lIns="0" tIns="0" rIns="0" bIns="0" rtlCol="0" anchor="ctr"/>
          <a:lstStyle/>
          <a:p>
            <a:pPr indent="0" marL="0">
              <a:buNone/>
            </a:pPr>
            <a:r>
              <a:rPr lang="en-US" sz="1650" b="1" dirty="0">
                <a:solidFill>
                  <a:srgbClr val="1E2E45"/>
                </a:solidFill>
                <a:latin typeface="Calibri" pitchFamily="34" charset="0"/>
                <a:ea typeface="Calibri" pitchFamily="34" charset="-122"/>
                <a:cs typeface="Calibri" pitchFamily="34" charset="-120"/>
              </a:rPr>
              <a:t>Non-intrusive field</a:t>
            </a:r>
            <a:endParaRPr lang="en-US" sz="1650" dirty="0"/>
          </a:p>
        </p:txBody>
      </p:sp>
      <p:sp>
        <p:nvSpPr>
          <p:cNvPr id="14" name="Text 12"/>
          <p:cNvSpPr/>
          <p:nvPr/>
        </p:nvSpPr>
        <p:spPr>
          <a:xfrm>
            <a:off x="4572000" y="3383280"/>
            <a:ext cx="3063240" cy="777240"/>
          </a:xfrm>
          <a:prstGeom prst="rect">
            <a:avLst/>
          </a:prstGeom>
          <a:noFill/>
          <a:ln/>
        </p:spPr>
        <p:txBody>
          <a:bodyPr wrap="square" lIns="0" tIns="0" rIns="0" bIns="0" rtlCol="0" anchor="t"/>
          <a:lstStyle/>
          <a:p>
            <a:pPr indent="0" marL="0">
              <a:lnSpc>
                <a:spcPct val="108000"/>
              </a:lnSpc>
              <a:buNone/>
            </a:pPr>
            <a:r>
              <a:rPr lang="en-US" sz="1200" dirty="0">
                <a:solidFill>
                  <a:srgbClr val="5B6B80"/>
                </a:solidFill>
                <a:latin typeface="Calibri" pitchFamily="34" charset="0"/>
                <a:ea typeface="Calibri" pitchFamily="34" charset="-122"/>
                <a:cs typeface="Calibri" pitchFamily="34" charset="-120"/>
              </a:rPr>
              <a:t>With explicit SM/PO agreement, write a “Readiness: Amber” label — no judgemental comment text.</a:t>
            </a:r>
            <a:endParaRPr lang="en-US" sz="1200" dirty="0"/>
          </a:p>
        </p:txBody>
      </p:sp>
      <p:sp>
        <p:nvSpPr>
          <p:cNvPr id="15" name="Shape 13"/>
          <p:cNvSpPr/>
          <p:nvPr/>
        </p:nvSpPr>
        <p:spPr>
          <a:xfrm>
            <a:off x="8046720" y="2286000"/>
            <a:ext cx="3566160" cy="1965960"/>
          </a:xfrm>
          <a:prstGeom prst="roundRect">
            <a:avLst>
              <a:gd name="adj" fmla="val 3721"/>
            </a:avLst>
          </a:prstGeom>
          <a:solidFill>
            <a:srgbClr val="FFFFFF"/>
          </a:solidFill>
          <a:ln/>
          <a:effectLst>
            <a:outerShdw sx="100000" sy="100000" kx="0" ky="0" algn="bl" rotWithShape="0" blurRad="114300" dist="38100" dir="5400000">
              <a:srgbClr val="000000">
                <a:alpha val="18000"/>
              </a:srgbClr>
            </a:outerShdw>
          </a:effectLst>
        </p:spPr>
      </p:sp>
      <p:sp>
        <p:nvSpPr>
          <p:cNvPr id="16" name="Shape 14"/>
          <p:cNvSpPr/>
          <p:nvPr/>
        </p:nvSpPr>
        <p:spPr>
          <a:xfrm>
            <a:off x="8321040" y="2578608"/>
            <a:ext cx="274320" cy="274320"/>
          </a:xfrm>
          <a:prstGeom prst="ellipse">
            <a:avLst/>
          </a:prstGeom>
          <a:solidFill>
            <a:srgbClr val="E5484D"/>
          </a:solidFill>
          <a:ln/>
        </p:spPr>
      </p:sp>
      <p:sp>
        <p:nvSpPr>
          <p:cNvPr id="17" name="Text 15"/>
          <p:cNvSpPr/>
          <p:nvPr/>
        </p:nvSpPr>
        <p:spPr>
          <a:xfrm>
            <a:off x="8705088" y="2578608"/>
            <a:ext cx="2651760" cy="274320"/>
          </a:xfrm>
          <a:prstGeom prst="rect">
            <a:avLst/>
          </a:prstGeom>
          <a:noFill/>
          <a:ln/>
        </p:spPr>
        <p:txBody>
          <a:bodyPr wrap="square" lIns="0" tIns="0" rIns="0" bIns="0" rtlCol="0" anchor="ctr"/>
          <a:lstStyle/>
          <a:p>
            <a:pPr indent="0" marL="0">
              <a:buNone/>
            </a:pPr>
            <a:r>
              <a:rPr lang="en-US" sz="1250" b="1" spc="150" kern="0" dirty="0">
                <a:solidFill>
                  <a:srgbClr val="E5484D"/>
                </a:solidFill>
                <a:latin typeface="Calibri" pitchFamily="34" charset="0"/>
                <a:ea typeface="Calibri" pitchFamily="34" charset="-122"/>
                <a:cs typeface="Calibri" pitchFamily="34" charset="-120"/>
              </a:rPr>
              <a:t>STAGE 3</a:t>
            </a:r>
            <a:endParaRPr lang="en-US" sz="1250" dirty="0"/>
          </a:p>
        </p:txBody>
      </p:sp>
      <p:sp>
        <p:nvSpPr>
          <p:cNvPr id="18" name="Text 16"/>
          <p:cNvSpPr/>
          <p:nvPr/>
        </p:nvSpPr>
        <p:spPr>
          <a:xfrm>
            <a:off x="8321040" y="2944368"/>
            <a:ext cx="3063240" cy="411480"/>
          </a:xfrm>
          <a:prstGeom prst="rect">
            <a:avLst/>
          </a:prstGeom>
          <a:noFill/>
          <a:ln/>
        </p:spPr>
        <p:txBody>
          <a:bodyPr wrap="square" lIns="0" tIns="0" rIns="0" bIns="0" rtlCol="0" anchor="ctr"/>
          <a:lstStyle/>
          <a:p>
            <a:pPr indent="0" marL="0">
              <a:buNone/>
            </a:pPr>
            <a:r>
              <a:rPr lang="en-US" sz="1650" b="1" dirty="0">
                <a:solidFill>
                  <a:srgbClr val="1E2E45"/>
                </a:solidFill>
                <a:latin typeface="Calibri" pitchFamily="34" charset="0"/>
                <a:ea typeface="Calibri" pitchFamily="34" charset="-122"/>
                <a:cs typeface="Calibri" pitchFamily="34" charset="-120"/>
              </a:rPr>
              <a:t>Comments (sign-off)</a:t>
            </a:r>
            <a:endParaRPr lang="en-US" sz="1650" dirty="0"/>
          </a:p>
        </p:txBody>
      </p:sp>
      <p:sp>
        <p:nvSpPr>
          <p:cNvPr id="19" name="Text 17"/>
          <p:cNvSpPr/>
          <p:nvPr/>
        </p:nvSpPr>
        <p:spPr>
          <a:xfrm>
            <a:off x="8321040" y="3383280"/>
            <a:ext cx="3063240" cy="777240"/>
          </a:xfrm>
          <a:prstGeom prst="rect">
            <a:avLst/>
          </a:prstGeom>
          <a:noFill/>
          <a:ln/>
        </p:spPr>
        <p:txBody>
          <a:bodyPr wrap="square" lIns="0" tIns="0" rIns="0" bIns="0" rtlCol="0" anchor="t"/>
          <a:lstStyle/>
          <a:p>
            <a:pPr indent="0" marL="0">
              <a:lnSpc>
                <a:spcPct val="108000"/>
              </a:lnSpc>
              <a:buNone/>
            </a:pPr>
            <a:r>
              <a:rPr lang="en-US" sz="1200" dirty="0">
                <a:solidFill>
                  <a:srgbClr val="5B6B80"/>
                </a:solidFill>
                <a:latin typeface="Calibri" pitchFamily="34" charset="0"/>
                <a:ea typeface="Calibri" pitchFamily="34" charset="-122"/>
                <a:cs typeface="Calibri" pitchFamily="34" charset="-120"/>
              </a:rPr>
              <a:t>Post clarifying questions as comments only after explicit client sign-off.</a:t>
            </a:r>
            <a:endParaRPr lang="en-US" sz="1200" dirty="0"/>
          </a:p>
        </p:txBody>
      </p:sp>
      <p:sp>
        <p:nvSpPr>
          <p:cNvPr id="20" name="Shape 18"/>
          <p:cNvSpPr/>
          <p:nvPr/>
        </p:nvSpPr>
        <p:spPr>
          <a:xfrm>
            <a:off x="548640" y="4526280"/>
            <a:ext cx="11064240" cy="1691640"/>
          </a:xfrm>
          <a:prstGeom prst="roundRect">
            <a:avLst>
              <a:gd name="adj" fmla="val 4324"/>
            </a:avLst>
          </a:prstGeom>
          <a:solidFill>
            <a:srgbClr val="0E1A2B"/>
          </a:solidFill>
          <a:ln/>
          <a:effectLst>
            <a:outerShdw sx="100000" sy="100000" kx="0" ky="0" algn="bl" rotWithShape="0" blurRad="114300" dist="38100" dir="5400000">
              <a:srgbClr val="000000">
                <a:alpha val="18000"/>
              </a:srgbClr>
            </a:outerShdw>
          </a:effectLst>
        </p:spPr>
      </p:sp>
      <p:sp>
        <p:nvSpPr>
          <p:cNvPr id="21" name="Text 19"/>
          <p:cNvSpPr/>
          <p:nvPr/>
        </p:nvSpPr>
        <p:spPr>
          <a:xfrm>
            <a:off x="822960" y="4709160"/>
            <a:ext cx="10058400" cy="274320"/>
          </a:xfrm>
          <a:prstGeom prst="rect">
            <a:avLst/>
          </a:prstGeom>
          <a:noFill/>
          <a:ln/>
        </p:spPr>
        <p:txBody>
          <a:bodyPr wrap="square" lIns="0" tIns="0" rIns="0" bIns="0" rtlCol="0" anchor="ctr"/>
          <a:lstStyle/>
          <a:p>
            <a:pPr indent="0" marL="0">
              <a:buNone/>
            </a:pPr>
            <a:r>
              <a:rPr lang="en-US" sz="1200" b="1" spc="200" kern="0" dirty="0">
                <a:solidFill>
                  <a:srgbClr val="5EEAD4"/>
                </a:solidFill>
                <a:latin typeface="Calibri" pitchFamily="34" charset="0"/>
                <a:ea typeface="Calibri" pitchFamily="34" charset="-122"/>
                <a:cs typeface="Calibri" pitchFamily="34" charset="-120"/>
              </a:rPr>
              <a:t>NON-NEGOTIABLE GUARDRAILS</a:t>
            </a:r>
            <a:endParaRPr lang="en-US" sz="1200" dirty="0"/>
          </a:p>
        </p:txBody>
      </p:sp>
      <p:pic>
        <p:nvPicPr>
          <p:cNvPr id="22" name="Image 0" descr="preencoded.png">    </p:cNvPr>
          <p:cNvPicPr>
            <a:picLocks noChangeAspect="1"/>
          </p:cNvPicPr>
          <p:nvPr/>
        </p:nvPicPr>
        <p:blipFill>
          <a:blip r:embed="rId1"/>
          <a:stretch>
            <a:fillRect/>
          </a:stretch>
        </p:blipFill>
        <p:spPr>
          <a:xfrm>
            <a:off x="868680" y="5074920"/>
            <a:ext cx="310896" cy="310896"/>
          </a:xfrm>
          <a:prstGeom prst="rect">
            <a:avLst/>
          </a:prstGeom>
        </p:spPr>
      </p:pic>
      <p:sp>
        <p:nvSpPr>
          <p:cNvPr id="23" name="Text 20"/>
          <p:cNvSpPr/>
          <p:nvPr/>
        </p:nvSpPr>
        <p:spPr>
          <a:xfrm>
            <a:off x="1289304" y="5029200"/>
            <a:ext cx="30632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In-boundary inference only</a:t>
            </a:r>
            <a:endParaRPr lang="en-US" sz="1300" dirty="0"/>
          </a:p>
        </p:txBody>
      </p:sp>
      <p:sp>
        <p:nvSpPr>
          <p:cNvPr id="24" name="Text 21"/>
          <p:cNvSpPr/>
          <p:nvPr/>
        </p:nvSpPr>
        <p:spPr>
          <a:xfrm>
            <a:off x="868680" y="5468112"/>
            <a:ext cx="3246120" cy="685800"/>
          </a:xfrm>
          <a:prstGeom prst="rect">
            <a:avLst/>
          </a:prstGeom>
          <a:noFill/>
          <a:ln/>
        </p:spPr>
        <p:txBody>
          <a:bodyPr wrap="square" lIns="0" tIns="0" rIns="0" bIns="0" rtlCol="0" anchor="t"/>
          <a:lstStyle/>
          <a:p>
            <a:pPr indent="0" marL="0">
              <a:lnSpc>
                <a:spcPct val="105000"/>
              </a:lnSpc>
              <a:buNone/>
            </a:pPr>
            <a:r>
              <a:rPr lang="en-US" sz="1100" dirty="0">
                <a:solidFill>
                  <a:srgbClr val="CFE0F0"/>
                </a:solidFill>
                <a:latin typeface="Calibri" pitchFamily="34" charset="0"/>
                <a:ea typeface="Calibri" pitchFamily="34" charset="-122"/>
                <a:cs typeface="Calibri" pitchFamily="34" charset="-120"/>
              </a:rPr>
              <a:t>PHI-adjacent story text is scored by a client-approved LLM inside the tenant. No egress.</a:t>
            </a:r>
            <a:endParaRPr lang="en-US" sz="1100" dirty="0"/>
          </a:p>
        </p:txBody>
      </p:sp>
      <p:pic>
        <p:nvPicPr>
          <p:cNvPr id="25" name="Image 1" descr="preencoded.png">    </p:cNvPr>
          <p:cNvPicPr>
            <a:picLocks noChangeAspect="1"/>
          </p:cNvPicPr>
          <p:nvPr/>
        </p:nvPicPr>
        <p:blipFill>
          <a:blip r:embed="rId2"/>
          <a:stretch>
            <a:fillRect/>
          </a:stretch>
        </p:blipFill>
        <p:spPr>
          <a:xfrm>
            <a:off x="4480560" y="5074920"/>
            <a:ext cx="310896" cy="310896"/>
          </a:xfrm>
          <a:prstGeom prst="rect">
            <a:avLst/>
          </a:prstGeom>
        </p:spPr>
      </p:pic>
      <p:sp>
        <p:nvSpPr>
          <p:cNvPr id="26" name="Text 22"/>
          <p:cNvSpPr/>
          <p:nvPr/>
        </p:nvSpPr>
        <p:spPr>
          <a:xfrm>
            <a:off x="4901184" y="5029200"/>
            <a:ext cx="30632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Least-privilege scopes</a:t>
            </a:r>
            <a:endParaRPr lang="en-US" sz="1300" dirty="0"/>
          </a:p>
        </p:txBody>
      </p:sp>
      <p:sp>
        <p:nvSpPr>
          <p:cNvPr id="27" name="Text 23"/>
          <p:cNvSpPr/>
          <p:nvPr/>
        </p:nvSpPr>
        <p:spPr>
          <a:xfrm>
            <a:off x="4480560" y="5468112"/>
            <a:ext cx="3246120" cy="685800"/>
          </a:xfrm>
          <a:prstGeom prst="rect">
            <a:avLst/>
          </a:prstGeom>
          <a:noFill/>
          <a:ln/>
        </p:spPr>
        <p:txBody>
          <a:bodyPr wrap="square" lIns="0" tIns="0" rIns="0" bIns="0" rtlCol="0" anchor="t"/>
          <a:lstStyle/>
          <a:p>
            <a:pPr indent="0" marL="0">
              <a:lnSpc>
                <a:spcPct val="105000"/>
              </a:lnSpc>
              <a:buNone/>
            </a:pPr>
            <a:r>
              <a:rPr lang="en-US" sz="1100" dirty="0">
                <a:solidFill>
                  <a:srgbClr val="CFE0F0"/>
                </a:solidFill>
                <a:latin typeface="Calibri" pitchFamily="34" charset="0"/>
                <a:ea typeface="Calibri" pitchFamily="34" charset="-122"/>
                <a:cs typeface="Calibri" pitchFamily="34" charset="-120"/>
              </a:rPr>
              <a:t>Only four read tools are bound. Write tools stay unregistered until sign-off.</a:t>
            </a:r>
            <a:endParaRPr lang="en-US" sz="1100" dirty="0"/>
          </a:p>
        </p:txBody>
      </p:sp>
      <p:pic>
        <p:nvPicPr>
          <p:cNvPr id="28" name="Image 2" descr="preencoded.png">    </p:cNvPr>
          <p:cNvPicPr>
            <a:picLocks noChangeAspect="1"/>
          </p:cNvPicPr>
          <p:nvPr/>
        </p:nvPicPr>
        <p:blipFill>
          <a:blip r:embed="rId3"/>
          <a:stretch>
            <a:fillRect/>
          </a:stretch>
        </p:blipFill>
        <p:spPr>
          <a:xfrm>
            <a:off x="8092440" y="5074920"/>
            <a:ext cx="310896" cy="310896"/>
          </a:xfrm>
          <a:prstGeom prst="rect">
            <a:avLst/>
          </a:prstGeom>
        </p:spPr>
      </p:pic>
      <p:sp>
        <p:nvSpPr>
          <p:cNvPr id="29" name="Text 24"/>
          <p:cNvSpPr/>
          <p:nvPr/>
        </p:nvSpPr>
        <p:spPr>
          <a:xfrm>
            <a:off x="8513064" y="5029200"/>
            <a:ext cx="30632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Synthetic data on stage</a:t>
            </a:r>
            <a:endParaRPr lang="en-US" sz="1300" dirty="0"/>
          </a:p>
        </p:txBody>
      </p:sp>
      <p:sp>
        <p:nvSpPr>
          <p:cNvPr id="30" name="Text 25"/>
          <p:cNvSpPr/>
          <p:nvPr/>
        </p:nvSpPr>
        <p:spPr>
          <a:xfrm>
            <a:off x="8092440" y="5468112"/>
            <a:ext cx="3246120" cy="685800"/>
          </a:xfrm>
          <a:prstGeom prst="rect">
            <a:avLst/>
          </a:prstGeom>
          <a:noFill/>
          <a:ln/>
        </p:spPr>
        <p:txBody>
          <a:bodyPr wrap="square" lIns="0" tIns="0" rIns="0" bIns="0" rtlCol="0" anchor="t"/>
          <a:lstStyle/>
          <a:p>
            <a:pPr indent="0" marL="0">
              <a:lnSpc>
                <a:spcPct val="105000"/>
              </a:lnSpc>
              <a:buNone/>
            </a:pPr>
            <a:r>
              <a:rPr lang="en-US" sz="1100" dirty="0">
                <a:solidFill>
                  <a:srgbClr val="CFE0F0"/>
                </a:solidFill>
                <a:latin typeface="Calibri" pitchFamily="34" charset="0"/>
                <a:ea typeface="Calibri" pitchFamily="34" charset="-122"/>
                <a:cs typeface="Calibri" pitchFamily="34" charset="-120"/>
              </a:rPr>
              <a:t>Demo against a sandbox project with seeded stories — never the live client board.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SCOPE &amp; ENVIRONMENTS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What we build in the hackathon — and what we deliberately defer</a:t>
            </a:r>
            <a:endParaRPr lang="en-US" sz="3000" dirty="0"/>
          </a:p>
        </p:txBody>
      </p:sp>
      <p:sp>
        <p:nvSpPr>
          <p:cNvPr id="4" name="Text 2"/>
          <p:cNvSpPr/>
          <p:nvPr/>
        </p:nvSpPr>
        <p:spPr>
          <a:xfrm>
            <a:off x="548640" y="1572768"/>
            <a:ext cx="11064240" cy="457200"/>
          </a:xfrm>
          <a:prstGeom prst="rect">
            <a:avLst/>
          </a:prstGeom>
          <a:noFill/>
          <a:ln/>
        </p:spPr>
        <p:txBody>
          <a:bodyPr wrap="square" lIns="0" tIns="0" rIns="0" bIns="0" rtlCol="0" anchor="ctr"/>
          <a:lstStyle/>
          <a:p>
            <a:pPr indent="0" marL="0">
              <a:buNone/>
            </a:pPr>
            <a:r>
              <a:rPr lang="en-US" sz="1350" i="1" dirty="0">
                <a:solidFill>
                  <a:srgbClr val="5B6B80"/>
                </a:solidFill>
                <a:latin typeface="Calibri" pitchFamily="34" charset="0"/>
                <a:ea typeface="Calibri" pitchFamily="34" charset="-122"/>
                <a:cs typeface="Calibri" pitchFamily="34" charset="-120"/>
              </a:rPr>
              <a:t>The mistake competing teams make is over-scoping the plumbing and under-scoping output quality. We demo the brains and draw the plumbing.</a:t>
            </a:r>
            <a:endParaRPr lang="en-US" sz="1350" dirty="0"/>
          </a:p>
        </p:txBody>
      </p:sp>
      <p:sp>
        <p:nvSpPr>
          <p:cNvPr id="5" name="Shape 3"/>
          <p:cNvSpPr/>
          <p:nvPr/>
        </p:nvSpPr>
        <p:spPr>
          <a:xfrm>
            <a:off x="548640" y="2148840"/>
            <a:ext cx="5440680" cy="2743200"/>
          </a:xfrm>
          <a:prstGeom prst="roundRect">
            <a:avLst>
              <a:gd name="adj" fmla="val 2667"/>
            </a:avLst>
          </a:prstGeom>
          <a:solidFill>
            <a:srgbClr val="FFFFFF"/>
          </a:solidFill>
          <a:ln/>
          <a:effectLst>
            <a:outerShdw sx="100000" sy="100000" kx="0" ky="0" algn="bl" rotWithShape="0" blurRad="114300" dist="38100" dir="5400000">
              <a:srgbClr val="000000">
                <a:alpha val="18000"/>
              </a:srgbClr>
            </a:outerShdw>
          </a:effectLst>
        </p:spPr>
      </p:sp>
      <p:sp>
        <p:nvSpPr>
          <p:cNvPr id="6" name="Shape 4"/>
          <p:cNvSpPr/>
          <p:nvPr/>
        </p:nvSpPr>
        <p:spPr>
          <a:xfrm>
            <a:off x="822960" y="2377440"/>
            <a:ext cx="256032" cy="256032"/>
          </a:xfrm>
          <a:prstGeom prst="ellipse">
            <a:avLst/>
          </a:prstGeom>
          <a:solidFill>
            <a:srgbClr val="3FB950"/>
          </a:solidFill>
          <a:ln/>
        </p:spPr>
      </p:sp>
      <p:sp>
        <p:nvSpPr>
          <p:cNvPr id="7" name="Text 5"/>
          <p:cNvSpPr/>
          <p:nvPr/>
        </p:nvSpPr>
        <p:spPr>
          <a:xfrm>
            <a:off x="1170432" y="2359152"/>
            <a:ext cx="4572000" cy="274320"/>
          </a:xfrm>
          <a:prstGeom prst="rect">
            <a:avLst/>
          </a:prstGeom>
          <a:noFill/>
          <a:ln/>
        </p:spPr>
        <p:txBody>
          <a:bodyPr wrap="square" lIns="0" tIns="0" rIns="0" bIns="0" rtlCol="0" anchor="ctr"/>
          <a:lstStyle/>
          <a:p>
            <a:pPr indent="0" marL="0">
              <a:buNone/>
            </a:pPr>
            <a:r>
              <a:rPr lang="en-US" sz="1200" b="1" spc="100" kern="0" dirty="0">
                <a:solidFill>
                  <a:srgbClr val="2E9E4B"/>
                </a:solidFill>
                <a:latin typeface="Calibri" pitchFamily="34" charset="0"/>
                <a:ea typeface="Calibri" pitchFamily="34" charset="-122"/>
                <a:cs typeface="Calibri" pitchFamily="34" charset="-120"/>
              </a:rPr>
              <a:t>IN SCOPE · HACKATHON (2 DAYS)</a:t>
            </a:r>
            <a:endParaRPr lang="en-US" sz="1200" dirty="0"/>
          </a:p>
        </p:txBody>
      </p:sp>
      <p:pic>
        <p:nvPicPr>
          <p:cNvPr id="8" name="Image 0" descr="preencoded.png">    </p:cNvPr>
          <p:cNvPicPr>
            <a:picLocks noChangeAspect="1"/>
          </p:cNvPicPr>
          <p:nvPr/>
        </p:nvPicPr>
        <p:blipFill>
          <a:blip r:embed="rId1"/>
          <a:stretch>
            <a:fillRect/>
          </a:stretch>
        </p:blipFill>
        <p:spPr>
          <a:xfrm>
            <a:off x="841248" y="2807208"/>
            <a:ext cx="201168" cy="201168"/>
          </a:xfrm>
          <a:prstGeom prst="rect">
            <a:avLst/>
          </a:prstGeom>
        </p:spPr>
      </p:pic>
      <p:sp>
        <p:nvSpPr>
          <p:cNvPr id="9" name="Text 6"/>
          <p:cNvSpPr/>
          <p:nvPr/>
        </p:nvSpPr>
        <p:spPr>
          <a:xfrm>
            <a:off x="1170432" y="2752344"/>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MCP connection to a sandbox Jira (synthetic stories)</a:t>
            </a:r>
            <a:endParaRPr lang="en-US" sz="1200" dirty="0"/>
          </a:p>
        </p:txBody>
      </p:sp>
      <p:pic>
        <p:nvPicPr>
          <p:cNvPr id="10" name="Image 1" descr="preencoded.png">    </p:cNvPr>
          <p:cNvPicPr>
            <a:picLocks noChangeAspect="1"/>
          </p:cNvPicPr>
          <p:nvPr/>
        </p:nvPicPr>
        <p:blipFill>
          <a:blip r:embed="rId2"/>
          <a:stretch>
            <a:fillRect/>
          </a:stretch>
        </p:blipFill>
        <p:spPr>
          <a:xfrm>
            <a:off x="841248" y="3209544"/>
            <a:ext cx="201168" cy="201168"/>
          </a:xfrm>
          <a:prstGeom prst="rect">
            <a:avLst/>
          </a:prstGeom>
        </p:spPr>
      </p:pic>
      <p:sp>
        <p:nvSpPr>
          <p:cNvPr id="11" name="Text 7"/>
          <p:cNvSpPr/>
          <p:nvPr/>
        </p:nvSpPr>
        <p:spPr>
          <a:xfrm>
            <a:off x="1170432" y="3154680"/>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search + get_issue to pull a sprint of stories</a:t>
            </a:r>
            <a:endParaRPr lang="en-US" sz="1200" dirty="0"/>
          </a:p>
        </p:txBody>
      </p:sp>
      <p:pic>
        <p:nvPicPr>
          <p:cNvPr id="12" name="Image 2" descr="preencoded.png">    </p:cNvPr>
          <p:cNvPicPr>
            <a:picLocks noChangeAspect="1"/>
          </p:cNvPicPr>
          <p:nvPr/>
        </p:nvPicPr>
        <p:blipFill>
          <a:blip r:embed="rId3"/>
          <a:stretch>
            <a:fillRect/>
          </a:stretch>
        </p:blipFill>
        <p:spPr>
          <a:xfrm>
            <a:off x="841248" y="3611880"/>
            <a:ext cx="201168" cy="201168"/>
          </a:xfrm>
          <a:prstGeom prst="rect">
            <a:avLst/>
          </a:prstGeom>
        </p:spPr>
      </p:pic>
      <p:sp>
        <p:nvSpPr>
          <p:cNvPr id="13" name="Text 8"/>
          <p:cNvSpPr/>
          <p:nvPr/>
        </p:nvSpPr>
        <p:spPr>
          <a:xfrm>
            <a:off x="1170432" y="3557016"/>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Rubric-based scoring → structured verdict per story</a:t>
            </a:r>
            <a:endParaRPr lang="en-US" sz="1200" dirty="0"/>
          </a:p>
        </p:txBody>
      </p:sp>
      <p:pic>
        <p:nvPicPr>
          <p:cNvPr id="14" name="Image 3" descr="preencoded.png">    </p:cNvPr>
          <p:cNvPicPr>
            <a:picLocks noChangeAspect="1"/>
          </p:cNvPicPr>
          <p:nvPr/>
        </p:nvPicPr>
        <p:blipFill>
          <a:blip r:embed="rId4"/>
          <a:stretch>
            <a:fillRect/>
          </a:stretch>
        </p:blipFill>
        <p:spPr>
          <a:xfrm>
            <a:off x="841248" y="4014216"/>
            <a:ext cx="201168" cy="201168"/>
          </a:xfrm>
          <a:prstGeom prst="rect">
            <a:avLst/>
          </a:prstGeom>
        </p:spPr>
      </p:pic>
      <p:sp>
        <p:nvSpPr>
          <p:cNvPr id="15" name="Text 9"/>
          <p:cNvSpPr/>
          <p:nvPr/>
        </p:nvSpPr>
        <p:spPr>
          <a:xfrm>
            <a:off x="1170432" y="3959352"/>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Internal output view (Teams card / table) — the RAG spread</a:t>
            </a:r>
            <a:endParaRPr lang="en-US" sz="1200" dirty="0"/>
          </a:p>
        </p:txBody>
      </p:sp>
      <p:pic>
        <p:nvPicPr>
          <p:cNvPr id="16" name="Image 4" descr="preencoded.png">    </p:cNvPr>
          <p:cNvPicPr>
            <a:picLocks noChangeAspect="1"/>
          </p:cNvPicPr>
          <p:nvPr/>
        </p:nvPicPr>
        <p:blipFill>
          <a:blip r:embed="rId5"/>
          <a:stretch>
            <a:fillRect/>
          </a:stretch>
        </p:blipFill>
        <p:spPr>
          <a:xfrm>
            <a:off x="841248" y="4416552"/>
            <a:ext cx="201168" cy="201168"/>
          </a:xfrm>
          <a:prstGeom prst="rect">
            <a:avLst/>
          </a:prstGeom>
        </p:spPr>
      </p:pic>
      <p:sp>
        <p:nvSpPr>
          <p:cNvPr id="17" name="Text 10"/>
          <p:cNvSpPr/>
          <p:nvPr/>
        </p:nvSpPr>
        <p:spPr>
          <a:xfrm>
            <a:off x="1170432" y="4361688"/>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5–6 seeded stories spanning good → terrible</a:t>
            </a:r>
            <a:endParaRPr lang="en-US" sz="1200" dirty="0"/>
          </a:p>
        </p:txBody>
      </p:sp>
      <p:sp>
        <p:nvSpPr>
          <p:cNvPr id="18" name="Shape 11"/>
          <p:cNvSpPr/>
          <p:nvPr/>
        </p:nvSpPr>
        <p:spPr>
          <a:xfrm>
            <a:off x="6172200" y="2148840"/>
            <a:ext cx="5440680" cy="2743200"/>
          </a:xfrm>
          <a:prstGeom prst="roundRect">
            <a:avLst>
              <a:gd name="adj" fmla="val 2667"/>
            </a:avLst>
          </a:prstGeom>
          <a:solidFill>
            <a:srgbClr val="FFFFFF"/>
          </a:solidFill>
          <a:ln/>
          <a:effectLst>
            <a:outerShdw sx="100000" sy="100000" kx="0" ky="0" algn="bl" rotWithShape="0" blurRad="114300" dist="38100" dir="5400000">
              <a:srgbClr val="000000">
                <a:alpha val="18000"/>
              </a:srgbClr>
            </a:outerShdw>
          </a:effectLst>
        </p:spPr>
      </p:sp>
      <p:sp>
        <p:nvSpPr>
          <p:cNvPr id="19" name="Shape 12"/>
          <p:cNvSpPr/>
          <p:nvPr/>
        </p:nvSpPr>
        <p:spPr>
          <a:xfrm>
            <a:off x="6446520" y="2377440"/>
            <a:ext cx="256032" cy="256032"/>
          </a:xfrm>
          <a:prstGeom prst="ellipse">
            <a:avLst/>
          </a:prstGeom>
          <a:solidFill>
            <a:srgbClr val="F4B740"/>
          </a:solidFill>
          <a:ln/>
        </p:spPr>
      </p:sp>
      <p:sp>
        <p:nvSpPr>
          <p:cNvPr id="20" name="Text 13"/>
          <p:cNvSpPr/>
          <p:nvPr/>
        </p:nvSpPr>
        <p:spPr>
          <a:xfrm>
            <a:off x="6793992" y="2359152"/>
            <a:ext cx="4663440" cy="274320"/>
          </a:xfrm>
          <a:prstGeom prst="rect">
            <a:avLst/>
          </a:prstGeom>
          <a:noFill/>
          <a:ln/>
        </p:spPr>
        <p:txBody>
          <a:bodyPr wrap="square" lIns="0" tIns="0" rIns="0" bIns="0" rtlCol="0" anchor="ctr"/>
          <a:lstStyle/>
          <a:p>
            <a:pPr indent="0" marL="0">
              <a:buNone/>
            </a:pPr>
            <a:r>
              <a:rPr lang="en-US" sz="1200" b="1" spc="100" kern="0" dirty="0">
                <a:solidFill>
                  <a:srgbClr val="B07A00"/>
                </a:solidFill>
                <a:latin typeface="Calibri" pitchFamily="34" charset="0"/>
                <a:ea typeface="Calibri" pitchFamily="34" charset="-122"/>
                <a:cs typeface="Calibri" pitchFamily="34" charset="-120"/>
              </a:rPr>
              <a:t>DEFERRED · ROADMAP (POST-HACKATHON)</a:t>
            </a:r>
            <a:endParaRPr lang="en-US" sz="1200" dirty="0"/>
          </a:p>
        </p:txBody>
      </p:sp>
      <p:pic>
        <p:nvPicPr>
          <p:cNvPr id="21" name="Image 5" descr="preencoded.png">    </p:cNvPr>
          <p:cNvPicPr>
            <a:picLocks noChangeAspect="1"/>
          </p:cNvPicPr>
          <p:nvPr/>
        </p:nvPicPr>
        <p:blipFill>
          <a:blip r:embed="rId6"/>
          <a:stretch>
            <a:fillRect/>
          </a:stretch>
        </p:blipFill>
        <p:spPr>
          <a:xfrm>
            <a:off x="6464808" y="2807208"/>
            <a:ext cx="201168" cy="201168"/>
          </a:xfrm>
          <a:prstGeom prst="rect">
            <a:avLst/>
          </a:prstGeom>
        </p:spPr>
      </p:pic>
      <p:sp>
        <p:nvSpPr>
          <p:cNvPr id="22" name="Text 14"/>
          <p:cNvSpPr/>
          <p:nvPr/>
        </p:nvSpPr>
        <p:spPr>
          <a:xfrm>
            <a:off x="6793992" y="2752344"/>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Live webhook trigger on Jira status change</a:t>
            </a:r>
            <a:endParaRPr lang="en-US" sz="1200" dirty="0"/>
          </a:p>
        </p:txBody>
      </p:sp>
      <p:pic>
        <p:nvPicPr>
          <p:cNvPr id="23" name="Image 6" descr="preencoded.png">    </p:cNvPr>
          <p:cNvPicPr>
            <a:picLocks noChangeAspect="1"/>
          </p:cNvPicPr>
          <p:nvPr/>
        </p:nvPicPr>
        <p:blipFill>
          <a:blip r:embed="rId7"/>
          <a:stretch>
            <a:fillRect/>
          </a:stretch>
        </p:blipFill>
        <p:spPr>
          <a:xfrm>
            <a:off x="6464808" y="3209544"/>
            <a:ext cx="201168" cy="201168"/>
          </a:xfrm>
          <a:prstGeom prst="rect">
            <a:avLst/>
          </a:prstGeom>
        </p:spPr>
      </p:pic>
      <p:sp>
        <p:nvSpPr>
          <p:cNvPr id="24" name="Text 15"/>
          <p:cNvSpPr/>
          <p:nvPr/>
        </p:nvSpPr>
        <p:spPr>
          <a:xfrm>
            <a:off x="6793992" y="3154680"/>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Write-back to Jira fields / comments (governance-gated)</a:t>
            </a:r>
            <a:endParaRPr lang="en-US" sz="1200" dirty="0"/>
          </a:p>
        </p:txBody>
      </p:sp>
      <p:pic>
        <p:nvPicPr>
          <p:cNvPr id="25" name="Image 7" descr="preencoded.png">    </p:cNvPr>
          <p:cNvPicPr>
            <a:picLocks noChangeAspect="1"/>
          </p:cNvPicPr>
          <p:nvPr/>
        </p:nvPicPr>
        <p:blipFill>
          <a:blip r:embed="rId8"/>
          <a:stretch>
            <a:fillRect/>
          </a:stretch>
        </p:blipFill>
        <p:spPr>
          <a:xfrm>
            <a:off x="6464808" y="3611880"/>
            <a:ext cx="201168" cy="201168"/>
          </a:xfrm>
          <a:prstGeom prst="rect">
            <a:avLst/>
          </a:prstGeom>
        </p:spPr>
      </p:pic>
      <p:sp>
        <p:nvSpPr>
          <p:cNvPr id="26" name="Text 16"/>
          <p:cNvSpPr/>
          <p:nvPr/>
        </p:nvSpPr>
        <p:spPr>
          <a:xfrm>
            <a:off x="6793992" y="3557016"/>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Precision feedback loop &amp; threshold tuning</a:t>
            </a:r>
            <a:endParaRPr lang="en-US" sz="1200" dirty="0"/>
          </a:p>
        </p:txBody>
      </p:sp>
      <p:pic>
        <p:nvPicPr>
          <p:cNvPr id="27" name="Image 8" descr="preencoded.png">    </p:cNvPr>
          <p:cNvPicPr>
            <a:picLocks noChangeAspect="1"/>
          </p:cNvPicPr>
          <p:nvPr/>
        </p:nvPicPr>
        <p:blipFill>
          <a:blip r:embed="rId9"/>
          <a:stretch>
            <a:fillRect/>
          </a:stretch>
        </p:blipFill>
        <p:spPr>
          <a:xfrm>
            <a:off x="6464808" y="4014216"/>
            <a:ext cx="201168" cy="201168"/>
          </a:xfrm>
          <a:prstGeom prst="rect">
            <a:avLst/>
          </a:prstGeom>
        </p:spPr>
      </p:pic>
      <p:sp>
        <p:nvSpPr>
          <p:cNvPr id="28" name="Text 17"/>
          <p:cNvSpPr/>
          <p:nvPr/>
        </p:nvSpPr>
        <p:spPr>
          <a:xfrm>
            <a:off x="6793992" y="3959352"/>
            <a:ext cx="4709160" cy="365760"/>
          </a:xfrm>
          <a:prstGeom prst="rect">
            <a:avLst/>
          </a:prstGeom>
          <a:noFill/>
          <a:ln/>
        </p:spPr>
        <p:txBody>
          <a:bodyPr wrap="square" lIns="0" tIns="0" rIns="0" bIns="0" rtlCol="0" anchor="t"/>
          <a:lstStyle/>
          <a:p>
            <a:pPr indent="0" marL="0">
              <a:lnSpc>
                <a:spcPct val="100000"/>
              </a:lnSpc>
              <a:buNone/>
            </a:pPr>
            <a:r>
              <a:rPr lang="en-US" sz="1200" dirty="0">
                <a:solidFill>
                  <a:srgbClr val="1E2E45"/>
                </a:solidFill>
                <a:latin typeface="Calibri" pitchFamily="34" charset="0"/>
                <a:ea typeface="Calibri" pitchFamily="34" charset="-122"/>
                <a:cs typeface="Calibri" pitchFamily="34" charset="-120"/>
              </a:rPr>
              <a:t>Domain DoR library across VSM accounts</a:t>
            </a:r>
            <a:endParaRPr lang="en-US" sz="1200" dirty="0"/>
          </a:p>
        </p:txBody>
      </p:sp>
      <p:sp>
        <p:nvSpPr>
          <p:cNvPr id="29" name="Shape 18"/>
          <p:cNvSpPr/>
          <p:nvPr/>
        </p:nvSpPr>
        <p:spPr>
          <a:xfrm>
            <a:off x="548640" y="5074920"/>
            <a:ext cx="11064240" cy="1234440"/>
          </a:xfrm>
          <a:prstGeom prst="roundRect">
            <a:avLst>
              <a:gd name="adj" fmla="val 5926"/>
            </a:avLst>
          </a:prstGeom>
          <a:solidFill>
            <a:srgbClr val="0E1A2B"/>
          </a:solidFill>
          <a:ln/>
          <a:effectLst>
            <a:outerShdw sx="100000" sy="100000" kx="0" ky="0" algn="bl" rotWithShape="0" blurRad="114300" dist="38100" dir="5400000">
              <a:srgbClr val="000000">
                <a:alpha val="18000"/>
              </a:srgbClr>
            </a:outerShdw>
          </a:effectLst>
        </p:spPr>
      </p:sp>
      <p:sp>
        <p:nvSpPr>
          <p:cNvPr id="30" name="Text 19"/>
          <p:cNvSpPr/>
          <p:nvPr/>
        </p:nvSpPr>
        <p:spPr>
          <a:xfrm>
            <a:off x="822960" y="5230368"/>
            <a:ext cx="3657600" cy="274320"/>
          </a:xfrm>
          <a:prstGeom prst="rect">
            <a:avLst/>
          </a:prstGeom>
          <a:noFill/>
          <a:ln/>
        </p:spPr>
        <p:txBody>
          <a:bodyPr wrap="square" lIns="0" tIns="0" rIns="0" bIns="0" rtlCol="0" anchor="ctr"/>
          <a:lstStyle/>
          <a:p>
            <a:pPr indent="0" marL="0">
              <a:buNone/>
            </a:pPr>
            <a:r>
              <a:rPr lang="en-US" sz="1200" b="1" spc="200" kern="0" dirty="0">
                <a:solidFill>
                  <a:srgbClr val="5EEAD4"/>
                </a:solidFill>
                <a:latin typeface="Calibri" pitchFamily="34" charset="0"/>
                <a:ea typeface="Calibri" pitchFamily="34" charset="-122"/>
                <a:cs typeface="Calibri" pitchFamily="34" charset="-120"/>
              </a:rPr>
              <a:t>ENVIRONMENTS</a:t>
            </a:r>
            <a:endParaRPr lang="en-US" sz="1200" dirty="0"/>
          </a:p>
        </p:txBody>
      </p:sp>
      <p:sp>
        <p:nvSpPr>
          <p:cNvPr id="31" name="Shape 20"/>
          <p:cNvSpPr/>
          <p:nvPr/>
        </p:nvSpPr>
        <p:spPr>
          <a:xfrm>
            <a:off x="8869680" y="5175504"/>
            <a:ext cx="2697480" cy="384048"/>
          </a:xfrm>
          <a:prstGeom prst="roundRect">
            <a:avLst>
              <a:gd name="adj" fmla="val 23810"/>
            </a:avLst>
          </a:prstGeom>
          <a:solidFill>
            <a:srgbClr val="17263B"/>
          </a:solidFill>
          <a:ln/>
        </p:spPr>
      </p:sp>
      <p:sp>
        <p:nvSpPr>
          <p:cNvPr id="32" name="Text 21"/>
          <p:cNvSpPr/>
          <p:nvPr/>
        </p:nvSpPr>
        <p:spPr>
          <a:xfrm>
            <a:off x="8869680" y="5175504"/>
            <a:ext cx="2697480" cy="384048"/>
          </a:xfrm>
          <a:prstGeom prst="rect">
            <a:avLst/>
          </a:prstGeom>
          <a:noFill/>
          <a:ln/>
        </p:spPr>
        <p:txBody>
          <a:bodyPr wrap="square" lIns="0" tIns="0" rIns="0" bIns="0" rtlCol="0" anchor="ctr"/>
          <a:lstStyle/>
          <a:p>
            <a:pPr algn="ctr" indent="0" marL="0">
              <a:buNone/>
            </a:pPr>
            <a:r>
              <a:rPr lang="en-US" sz="1150" b="1" dirty="0">
                <a:solidFill>
                  <a:srgbClr val="5EEAD4"/>
                </a:solidFill>
                <a:latin typeface="Calibri" pitchFamily="34" charset="0"/>
                <a:ea typeface="Calibri" pitchFamily="34" charset="-122"/>
                <a:cs typeface="Calibri" pitchFamily="34" charset="-120"/>
              </a:rPr>
              <a:t>Built with Claude Code</a:t>
            </a:r>
            <a:endParaRPr lang="en-US" sz="1150" dirty="0"/>
          </a:p>
        </p:txBody>
      </p:sp>
      <p:pic>
        <p:nvPicPr>
          <p:cNvPr id="33" name="Image 9" descr="preencoded.png">    </p:cNvPr>
          <p:cNvPicPr>
            <a:picLocks noChangeAspect="1"/>
          </p:cNvPicPr>
          <p:nvPr/>
        </p:nvPicPr>
        <p:blipFill>
          <a:blip r:embed="rId10"/>
          <a:stretch>
            <a:fillRect/>
          </a:stretch>
        </p:blipFill>
        <p:spPr>
          <a:xfrm>
            <a:off x="841248" y="5632704"/>
            <a:ext cx="274320" cy="274320"/>
          </a:xfrm>
          <a:prstGeom prst="rect">
            <a:avLst/>
          </a:prstGeom>
        </p:spPr>
      </p:pic>
      <p:sp>
        <p:nvSpPr>
          <p:cNvPr id="34" name="Text 22"/>
          <p:cNvSpPr/>
          <p:nvPr/>
        </p:nvSpPr>
        <p:spPr>
          <a:xfrm>
            <a:off x="1207008" y="5596128"/>
            <a:ext cx="5394960" cy="457200"/>
          </a:xfrm>
          <a:prstGeom prst="rect">
            <a:avLst/>
          </a:prstGeom>
          <a:noFill/>
          <a:ln/>
        </p:spPr>
        <p:txBody>
          <a:bodyPr wrap="square" lIns="0" tIns="0" rIns="0" bIns="0" rtlCol="0" anchor="t"/>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Demo — </a:t>
            </a:r>
            <a:pPr indent="0" marL="0">
              <a:lnSpc>
                <a:spcPct val="100000"/>
              </a:lnSpc>
              <a:buNone/>
            </a:pPr>
            <a:r>
              <a:rPr lang="en-US" sz="1150" dirty="0">
                <a:solidFill>
                  <a:srgbClr val="CFE0F0"/>
                </a:solidFill>
                <a:latin typeface="Calibri" pitchFamily="34" charset="0"/>
                <a:ea typeface="Calibri" pitchFamily="34" charset="-122"/>
                <a:cs typeface="Calibri" pitchFamily="34" charset="-120"/>
              </a:rPr>
              <a:t>local laptop · synthetic Jira · Claude via an approved API (BAA) · zero client data</a:t>
            </a:r>
            <a:endParaRPr lang="en-US" sz="1150" dirty="0"/>
          </a:p>
        </p:txBody>
      </p:sp>
      <p:pic>
        <p:nvPicPr>
          <p:cNvPr id="35" name="Image 10" descr="preencoded.png">    </p:cNvPr>
          <p:cNvPicPr>
            <a:picLocks noChangeAspect="1"/>
          </p:cNvPicPr>
          <p:nvPr/>
        </p:nvPicPr>
        <p:blipFill>
          <a:blip r:embed="rId11"/>
          <a:stretch>
            <a:fillRect/>
          </a:stretch>
        </p:blipFill>
        <p:spPr>
          <a:xfrm>
            <a:off x="6858000" y="5660136"/>
            <a:ext cx="292608" cy="237744"/>
          </a:xfrm>
          <a:prstGeom prst="rect">
            <a:avLst/>
          </a:prstGeom>
        </p:spPr>
      </p:pic>
      <p:sp>
        <p:nvSpPr>
          <p:cNvPr id="36" name="Text 23"/>
          <p:cNvSpPr/>
          <p:nvPr/>
        </p:nvSpPr>
        <p:spPr>
          <a:xfrm>
            <a:off x="7242048" y="5596128"/>
            <a:ext cx="4297680" cy="457200"/>
          </a:xfrm>
          <a:prstGeom prst="rect">
            <a:avLst/>
          </a:prstGeom>
          <a:noFill/>
          <a:ln/>
        </p:spPr>
        <p:txBody>
          <a:bodyPr wrap="square" lIns="0" tIns="0" rIns="0" bIns="0" rtlCol="0" anchor="t"/>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Production — </a:t>
            </a:r>
            <a:pPr indent="0" marL="0">
              <a:lnSpc>
                <a:spcPct val="100000"/>
              </a:lnSpc>
              <a:buNone/>
            </a:pPr>
            <a:r>
              <a:rPr lang="en-US" sz="1150" dirty="0">
                <a:solidFill>
                  <a:srgbClr val="CFE0F0"/>
                </a:solidFill>
                <a:latin typeface="Calibri" pitchFamily="34" charset="0"/>
                <a:ea typeface="Calibri" pitchFamily="34" charset="-122"/>
                <a:cs typeface="Calibri" pitchFamily="34" charset="-120"/>
              </a:rPr>
              <a:t>Oracle Cloud (OCI), if client-approved · Claude in-boundary · read-only first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B8A6"/>
                </a:solidFill>
                <a:latin typeface="Calibri" pitchFamily="34" charset="0"/>
                <a:ea typeface="Calibri" pitchFamily="34" charset="-122"/>
                <a:cs typeface="Calibri" pitchFamily="34" charset="-120"/>
              </a:rPr>
              <a:t>FEASIBILITY</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E2E45"/>
                </a:solidFill>
                <a:latin typeface="Century Schoolbook" pitchFamily="34" charset="0"/>
                <a:ea typeface="Century Schoolbook" pitchFamily="34" charset="-122"/>
                <a:cs typeface="Century Schoolbook" pitchFamily="34" charset="-120"/>
              </a:rPr>
              <a:t>A 2-day build — brains front-loaded, plumbing time-boxed</a:t>
            </a:r>
            <a:endParaRPr lang="en-US" sz="3000" dirty="0"/>
          </a:p>
        </p:txBody>
      </p:sp>
      <p:sp>
        <p:nvSpPr>
          <p:cNvPr id="4" name="Text 2"/>
          <p:cNvSpPr/>
          <p:nvPr/>
        </p:nvSpPr>
        <p:spPr>
          <a:xfrm>
            <a:off x="548640" y="1572768"/>
            <a:ext cx="11064240" cy="548640"/>
          </a:xfrm>
          <a:prstGeom prst="rect">
            <a:avLst/>
          </a:prstGeom>
          <a:noFill/>
          <a:ln/>
        </p:spPr>
        <p:txBody>
          <a:bodyPr wrap="square" lIns="0" tIns="0" rIns="0" bIns="0" rtlCol="0" anchor="ctr"/>
          <a:lstStyle/>
          <a:p>
            <a:pPr indent="0" marL="0">
              <a:lnSpc>
                <a:spcPct val="110000"/>
              </a:lnSpc>
              <a:buNone/>
            </a:pPr>
            <a:r>
              <a:rPr lang="en-US" sz="1400" dirty="0">
                <a:solidFill>
                  <a:srgbClr val="5B6B80"/>
                </a:solidFill>
                <a:latin typeface="Calibri" pitchFamily="34" charset="0"/>
                <a:ea typeface="Calibri" pitchFamily="34" charset="-122"/>
                <a:cs typeface="Calibri" pitchFamily="34" charset="-120"/>
              </a:rPr>
              <a:t>Sequenced so a working end-to-end thread exists by end of Day 1, leaving Day 2 for output polish and demo. Clean fallback if the sanctioned LLM or write scope is not ready: read-only + mock-LLM stub, presented openly.</a:t>
            </a:r>
            <a:endParaRPr lang="en-US" sz="1400" dirty="0"/>
          </a:p>
        </p:txBody>
      </p:sp>
      <p:sp>
        <p:nvSpPr>
          <p:cNvPr id="5" name="Shape 3"/>
          <p:cNvSpPr/>
          <p:nvPr/>
        </p:nvSpPr>
        <p:spPr>
          <a:xfrm>
            <a:off x="548640" y="2331720"/>
            <a:ext cx="2157984" cy="3566160"/>
          </a:xfrm>
          <a:prstGeom prst="roundRect">
            <a:avLst>
              <a:gd name="adj" fmla="val 2966"/>
            </a:avLst>
          </a:prstGeom>
          <a:solidFill>
            <a:srgbClr val="FFFFFF"/>
          </a:solidFill>
          <a:ln/>
          <a:effectLst>
            <a:outerShdw sx="100000" sy="100000" kx="0" ky="0" algn="bl" rotWithShape="0" blurRad="114300" dist="38100" dir="5400000">
              <a:srgbClr val="000000">
                <a:alpha val="18000"/>
              </a:srgbClr>
            </a:outerShdw>
          </a:effectLst>
        </p:spPr>
      </p:sp>
      <p:sp>
        <p:nvSpPr>
          <p:cNvPr id="6" name="Shape 4"/>
          <p:cNvSpPr/>
          <p:nvPr/>
        </p:nvSpPr>
        <p:spPr>
          <a:xfrm>
            <a:off x="548640" y="2331720"/>
            <a:ext cx="2157984" cy="566928"/>
          </a:xfrm>
          <a:prstGeom prst="roundRect">
            <a:avLst>
              <a:gd name="adj" fmla="val 11290"/>
            </a:avLst>
          </a:prstGeom>
          <a:solidFill>
            <a:srgbClr val="16B8A6"/>
          </a:solidFill>
          <a:ln/>
        </p:spPr>
      </p:sp>
      <p:sp>
        <p:nvSpPr>
          <p:cNvPr id="7" name="Shape 5"/>
          <p:cNvSpPr/>
          <p:nvPr/>
        </p:nvSpPr>
        <p:spPr>
          <a:xfrm>
            <a:off x="548640" y="2624328"/>
            <a:ext cx="2157984" cy="274320"/>
          </a:xfrm>
          <a:prstGeom prst="rect">
            <a:avLst/>
          </a:prstGeom>
          <a:solidFill>
            <a:srgbClr val="16B8A6"/>
          </a:solidFill>
          <a:ln/>
        </p:spPr>
      </p:sp>
      <p:sp>
        <p:nvSpPr>
          <p:cNvPr id="8" name="Text 6"/>
          <p:cNvSpPr/>
          <p:nvPr/>
        </p:nvSpPr>
        <p:spPr>
          <a:xfrm>
            <a:off x="548640" y="2331720"/>
            <a:ext cx="2157984" cy="56692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DAY 0</a:t>
            </a:r>
            <a:endParaRPr lang="en-US" sz="1350" dirty="0"/>
          </a:p>
        </p:txBody>
      </p:sp>
      <p:sp>
        <p:nvSpPr>
          <p:cNvPr id="9" name="Text 7"/>
          <p:cNvSpPr/>
          <p:nvPr/>
        </p:nvSpPr>
        <p:spPr>
          <a:xfrm>
            <a:off x="731520" y="3044952"/>
            <a:ext cx="1837944" cy="365760"/>
          </a:xfrm>
          <a:prstGeom prst="rect">
            <a:avLst/>
          </a:prstGeom>
          <a:noFill/>
          <a:ln/>
        </p:spPr>
        <p:txBody>
          <a:bodyPr wrap="square" lIns="0" tIns="0" rIns="0" bIns="0" rtlCol="0" anchor="ctr"/>
          <a:lstStyle/>
          <a:p>
            <a:pPr indent="0" marL="0">
              <a:buNone/>
            </a:pPr>
            <a:r>
              <a:rPr lang="en-US" sz="1500" b="1" dirty="0">
                <a:solidFill>
                  <a:srgbClr val="1E2E45"/>
                </a:solidFill>
                <a:latin typeface="Calibri" pitchFamily="34" charset="0"/>
                <a:ea typeface="Calibri" pitchFamily="34" charset="-122"/>
                <a:cs typeface="Calibri" pitchFamily="34" charset="-120"/>
              </a:rPr>
              <a:t>Prep</a:t>
            </a:r>
            <a:endParaRPr lang="en-US" sz="1500" dirty="0"/>
          </a:p>
        </p:txBody>
      </p:sp>
      <p:sp>
        <p:nvSpPr>
          <p:cNvPr id="10" name="Text 8"/>
          <p:cNvSpPr/>
          <p:nvPr/>
        </p:nvSpPr>
        <p:spPr>
          <a:xfrm>
            <a:off x="731520" y="3429000"/>
            <a:ext cx="1837944" cy="1783080"/>
          </a:xfrm>
          <a:prstGeom prst="rect">
            <a:avLst/>
          </a:prstGeom>
          <a:noFill/>
          <a:ln/>
        </p:spPr>
        <p:txBody>
          <a:bodyPr wrap="square" lIns="0" tIns="0" rIns="0" bIns="0" rtlCol="0" anchor="t"/>
          <a:lstStyle/>
          <a:p>
            <a:pPr indent="0" marL="0">
              <a:lnSpc>
                <a:spcPct val="112000"/>
              </a:lnSpc>
              <a:buNone/>
            </a:pPr>
            <a:r>
              <a:rPr lang="en-US" sz="1100" dirty="0">
                <a:solidFill>
                  <a:srgbClr val="5B6B80"/>
                </a:solidFill>
                <a:latin typeface="Calibri" pitchFamily="34" charset="0"/>
                <a:ea typeface="Calibri" pitchFamily="34" charset="-122"/>
                <a:cs typeface="Calibri" pitchFamily="34" charset="-120"/>
              </a:rPr>
              <a:t>Confirm Claude endpoint (BAA) + MCP access; stand up sandbox Jira; seed 5–6 stories (good→terrible); draft rubric + 2 golden examples.</a:t>
            </a:r>
            <a:endParaRPr lang="en-US" sz="1100" dirty="0"/>
          </a:p>
        </p:txBody>
      </p:sp>
      <p:sp>
        <p:nvSpPr>
          <p:cNvPr id="11" name="Shape 9"/>
          <p:cNvSpPr/>
          <p:nvPr/>
        </p:nvSpPr>
        <p:spPr>
          <a:xfrm>
            <a:off x="731520" y="5257800"/>
            <a:ext cx="1792224" cy="502920"/>
          </a:xfrm>
          <a:prstGeom prst="roundRect">
            <a:avLst>
              <a:gd name="adj" fmla="val 9091"/>
            </a:avLst>
          </a:prstGeom>
          <a:solidFill>
            <a:srgbClr val="EAF6F4"/>
          </a:solidFill>
          <a:ln/>
        </p:spPr>
      </p:sp>
      <p:sp>
        <p:nvSpPr>
          <p:cNvPr id="12" name="Text 10"/>
          <p:cNvSpPr/>
          <p:nvPr/>
        </p:nvSpPr>
        <p:spPr>
          <a:xfrm>
            <a:off x="804672" y="5257800"/>
            <a:ext cx="1700784" cy="502920"/>
          </a:xfrm>
          <a:prstGeom prst="rect">
            <a:avLst/>
          </a:prstGeom>
          <a:noFill/>
          <a:ln/>
        </p:spPr>
        <p:txBody>
          <a:bodyPr wrap="square" lIns="0" tIns="0" rIns="0" bIns="0" rtlCol="0" anchor="ctr"/>
          <a:lstStyle/>
          <a:p>
            <a:pPr indent="0" marL="0">
              <a:buNone/>
            </a:pPr>
            <a:r>
              <a:rPr lang="en-US" sz="1080" b="1" dirty="0">
                <a:solidFill>
                  <a:srgbClr val="16B8A6"/>
                </a:solidFill>
                <a:latin typeface="Calibri" pitchFamily="34" charset="0"/>
                <a:ea typeface="Calibri" pitchFamily="34" charset="-122"/>
                <a:cs typeface="Calibri" pitchFamily="34" charset="-120"/>
              </a:rPr>
              <a:t>→ </a:t>
            </a:r>
            <a:pPr indent="0" marL="0">
              <a:buNone/>
            </a:pPr>
            <a:r>
              <a:rPr lang="en-US" sz="1080" b="1" dirty="0">
                <a:solidFill>
                  <a:srgbClr val="1E2E45"/>
                </a:solidFill>
                <a:latin typeface="Calibri" pitchFamily="34" charset="0"/>
                <a:ea typeface="Calibri" pitchFamily="34" charset="-122"/>
                <a:cs typeface="Calibri" pitchFamily="34" charset="-120"/>
              </a:rPr>
              <a:t>Env + rubric ready</a:t>
            </a:r>
            <a:endParaRPr lang="en-US" sz="1080" dirty="0"/>
          </a:p>
        </p:txBody>
      </p:sp>
      <p:sp>
        <p:nvSpPr>
          <p:cNvPr id="13" name="Shape 11"/>
          <p:cNvSpPr/>
          <p:nvPr/>
        </p:nvSpPr>
        <p:spPr>
          <a:xfrm>
            <a:off x="2825496" y="2331720"/>
            <a:ext cx="2157984" cy="3566160"/>
          </a:xfrm>
          <a:prstGeom prst="roundRect">
            <a:avLst>
              <a:gd name="adj" fmla="val 2966"/>
            </a:avLst>
          </a:prstGeom>
          <a:solidFill>
            <a:srgbClr val="FFFFFF"/>
          </a:solidFill>
          <a:ln/>
          <a:effectLst>
            <a:outerShdw sx="100000" sy="100000" kx="0" ky="0" algn="bl" rotWithShape="0" blurRad="114300" dist="38100" dir="5400000">
              <a:srgbClr val="000000">
                <a:alpha val="18000"/>
              </a:srgbClr>
            </a:outerShdw>
          </a:effectLst>
        </p:spPr>
      </p:sp>
      <p:sp>
        <p:nvSpPr>
          <p:cNvPr id="14" name="Shape 12"/>
          <p:cNvSpPr/>
          <p:nvPr/>
        </p:nvSpPr>
        <p:spPr>
          <a:xfrm>
            <a:off x="2825496" y="2331720"/>
            <a:ext cx="2157984" cy="566928"/>
          </a:xfrm>
          <a:prstGeom prst="roundRect">
            <a:avLst>
              <a:gd name="adj" fmla="val 11290"/>
            </a:avLst>
          </a:prstGeom>
          <a:solidFill>
            <a:srgbClr val="1E9E93"/>
          </a:solidFill>
          <a:ln/>
        </p:spPr>
      </p:sp>
      <p:sp>
        <p:nvSpPr>
          <p:cNvPr id="15" name="Shape 13"/>
          <p:cNvSpPr/>
          <p:nvPr/>
        </p:nvSpPr>
        <p:spPr>
          <a:xfrm>
            <a:off x="2825496" y="2624328"/>
            <a:ext cx="2157984" cy="274320"/>
          </a:xfrm>
          <a:prstGeom prst="rect">
            <a:avLst/>
          </a:prstGeom>
          <a:solidFill>
            <a:srgbClr val="1E9E93"/>
          </a:solidFill>
          <a:ln/>
        </p:spPr>
      </p:sp>
      <p:sp>
        <p:nvSpPr>
          <p:cNvPr id="16" name="Text 14"/>
          <p:cNvSpPr/>
          <p:nvPr/>
        </p:nvSpPr>
        <p:spPr>
          <a:xfrm>
            <a:off x="2825496" y="2331720"/>
            <a:ext cx="2157984" cy="56692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DAY 1 AM</a:t>
            </a:r>
            <a:endParaRPr lang="en-US" sz="1350" dirty="0"/>
          </a:p>
        </p:txBody>
      </p:sp>
      <p:sp>
        <p:nvSpPr>
          <p:cNvPr id="17" name="Text 15"/>
          <p:cNvSpPr/>
          <p:nvPr/>
        </p:nvSpPr>
        <p:spPr>
          <a:xfrm>
            <a:off x="3008376" y="3044952"/>
            <a:ext cx="1837944" cy="365760"/>
          </a:xfrm>
          <a:prstGeom prst="rect">
            <a:avLst/>
          </a:prstGeom>
          <a:noFill/>
          <a:ln/>
        </p:spPr>
        <p:txBody>
          <a:bodyPr wrap="square" lIns="0" tIns="0" rIns="0" bIns="0" rtlCol="0" anchor="ctr"/>
          <a:lstStyle/>
          <a:p>
            <a:pPr indent="0" marL="0">
              <a:buNone/>
            </a:pPr>
            <a:r>
              <a:rPr lang="en-US" sz="1500" b="1" dirty="0">
                <a:solidFill>
                  <a:srgbClr val="1E2E45"/>
                </a:solidFill>
                <a:latin typeface="Calibri" pitchFamily="34" charset="0"/>
                <a:ea typeface="Calibri" pitchFamily="34" charset="-122"/>
                <a:cs typeface="Calibri" pitchFamily="34" charset="-120"/>
              </a:rPr>
              <a:t>Ingest</a:t>
            </a:r>
            <a:endParaRPr lang="en-US" sz="1500" dirty="0"/>
          </a:p>
        </p:txBody>
      </p:sp>
      <p:sp>
        <p:nvSpPr>
          <p:cNvPr id="18" name="Text 16"/>
          <p:cNvSpPr/>
          <p:nvPr/>
        </p:nvSpPr>
        <p:spPr>
          <a:xfrm>
            <a:off x="3008376" y="3429000"/>
            <a:ext cx="1837944" cy="1783080"/>
          </a:xfrm>
          <a:prstGeom prst="rect">
            <a:avLst/>
          </a:prstGeom>
          <a:noFill/>
          <a:ln/>
        </p:spPr>
        <p:txBody>
          <a:bodyPr wrap="square" lIns="0" tIns="0" rIns="0" bIns="0" rtlCol="0" anchor="t"/>
          <a:lstStyle/>
          <a:p>
            <a:pPr indent="0" marL="0">
              <a:lnSpc>
                <a:spcPct val="112000"/>
              </a:lnSpc>
              <a:buNone/>
            </a:pPr>
            <a:r>
              <a:rPr lang="en-US" sz="1100" dirty="0">
                <a:solidFill>
                  <a:srgbClr val="5B6B80"/>
                </a:solidFill>
                <a:latin typeface="Calibri" pitchFamily="34" charset="0"/>
                <a:ea typeface="Calibri" pitchFamily="34" charset="-122"/>
                <a:cs typeface="Calibri" pitchFamily="34" charset="-120"/>
              </a:rPr>
              <a:t>Wire MCP client; search + get_issue / comments / links; build the StoryBundler + normaliser.</a:t>
            </a:r>
            <a:endParaRPr lang="en-US" sz="1100" dirty="0"/>
          </a:p>
        </p:txBody>
      </p:sp>
      <p:sp>
        <p:nvSpPr>
          <p:cNvPr id="19" name="Shape 17"/>
          <p:cNvSpPr/>
          <p:nvPr/>
        </p:nvSpPr>
        <p:spPr>
          <a:xfrm>
            <a:off x="3008376" y="5257800"/>
            <a:ext cx="1792224" cy="502920"/>
          </a:xfrm>
          <a:prstGeom prst="roundRect">
            <a:avLst>
              <a:gd name="adj" fmla="val 9091"/>
            </a:avLst>
          </a:prstGeom>
          <a:solidFill>
            <a:srgbClr val="EAF6F4"/>
          </a:solidFill>
          <a:ln/>
        </p:spPr>
      </p:sp>
      <p:sp>
        <p:nvSpPr>
          <p:cNvPr id="20" name="Text 18"/>
          <p:cNvSpPr/>
          <p:nvPr/>
        </p:nvSpPr>
        <p:spPr>
          <a:xfrm>
            <a:off x="3081528" y="5257800"/>
            <a:ext cx="1700784" cy="502920"/>
          </a:xfrm>
          <a:prstGeom prst="rect">
            <a:avLst/>
          </a:prstGeom>
          <a:noFill/>
          <a:ln/>
        </p:spPr>
        <p:txBody>
          <a:bodyPr wrap="square" lIns="0" tIns="0" rIns="0" bIns="0" rtlCol="0" anchor="ctr"/>
          <a:lstStyle/>
          <a:p>
            <a:pPr indent="0" marL="0">
              <a:buNone/>
            </a:pPr>
            <a:r>
              <a:rPr lang="en-US" sz="1080" b="1" dirty="0">
                <a:solidFill>
                  <a:srgbClr val="16B8A6"/>
                </a:solidFill>
                <a:latin typeface="Calibri" pitchFamily="34" charset="0"/>
                <a:ea typeface="Calibri" pitchFamily="34" charset="-122"/>
                <a:cs typeface="Calibri" pitchFamily="34" charset="-120"/>
              </a:rPr>
              <a:t>→ </a:t>
            </a:r>
            <a:pPr indent="0" marL="0">
              <a:buNone/>
            </a:pPr>
            <a:r>
              <a:rPr lang="en-US" sz="1080" b="1" dirty="0">
                <a:solidFill>
                  <a:srgbClr val="1E2E45"/>
                </a:solidFill>
                <a:latin typeface="Calibri" pitchFamily="34" charset="0"/>
                <a:ea typeface="Calibri" pitchFamily="34" charset="-122"/>
                <a:cs typeface="Calibri" pitchFamily="34" charset="-120"/>
              </a:rPr>
              <a:t>Bundles printing</a:t>
            </a:r>
            <a:endParaRPr lang="en-US" sz="1080" dirty="0"/>
          </a:p>
        </p:txBody>
      </p:sp>
      <p:sp>
        <p:nvSpPr>
          <p:cNvPr id="21" name="Shape 19"/>
          <p:cNvSpPr/>
          <p:nvPr/>
        </p:nvSpPr>
        <p:spPr>
          <a:xfrm>
            <a:off x="5102352" y="2331720"/>
            <a:ext cx="2157984" cy="3566160"/>
          </a:xfrm>
          <a:prstGeom prst="roundRect">
            <a:avLst>
              <a:gd name="adj" fmla="val 2966"/>
            </a:avLst>
          </a:prstGeom>
          <a:solidFill>
            <a:srgbClr val="FFFFFF"/>
          </a:solidFill>
          <a:ln/>
          <a:effectLst>
            <a:outerShdw sx="100000" sy="100000" kx="0" ky="0" algn="bl" rotWithShape="0" blurRad="114300" dist="38100" dir="5400000">
              <a:srgbClr val="000000">
                <a:alpha val="18000"/>
              </a:srgbClr>
            </a:outerShdw>
          </a:effectLst>
        </p:spPr>
      </p:sp>
      <p:sp>
        <p:nvSpPr>
          <p:cNvPr id="22" name="Shape 20"/>
          <p:cNvSpPr/>
          <p:nvPr/>
        </p:nvSpPr>
        <p:spPr>
          <a:xfrm>
            <a:off x="5102352" y="2331720"/>
            <a:ext cx="2157984" cy="566928"/>
          </a:xfrm>
          <a:prstGeom prst="roundRect">
            <a:avLst>
              <a:gd name="adj" fmla="val 11290"/>
            </a:avLst>
          </a:prstGeom>
          <a:solidFill>
            <a:srgbClr val="17877E"/>
          </a:solidFill>
          <a:ln/>
        </p:spPr>
      </p:sp>
      <p:sp>
        <p:nvSpPr>
          <p:cNvPr id="23" name="Shape 21"/>
          <p:cNvSpPr/>
          <p:nvPr/>
        </p:nvSpPr>
        <p:spPr>
          <a:xfrm>
            <a:off x="5102352" y="2624328"/>
            <a:ext cx="2157984" cy="274320"/>
          </a:xfrm>
          <a:prstGeom prst="rect">
            <a:avLst/>
          </a:prstGeom>
          <a:solidFill>
            <a:srgbClr val="17877E"/>
          </a:solidFill>
          <a:ln/>
        </p:spPr>
      </p:sp>
      <p:sp>
        <p:nvSpPr>
          <p:cNvPr id="24" name="Text 22"/>
          <p:cNvSpPr/>
          <p:nvPr/>
        </p:nvSpPr>
        <p:spPr>
          <a:xfrm>
            <a:off x="5102352" y="2331720"/>
            <a:ext cx="2157984" cy="56692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DAY 1 PM</a:t>
            </a:r>
            <a:endParaRPr lang="en-US" sz="1350" dirty="0"/>
          </a:p>
        </p:txBody>
      </p:sp>
      <p:sp>
        <p:nvSpPr>
          <p:cNvPr id="25" name="Text 23"/>
          <p:cNvSpPr/>
          <p:nvPr/>
        </p:nvSpPr>
        <p:spPr>
          <a:xfrm>
            <a:off x="5285232" y="3044952"/>
            <a:ext cx="1837944" cy="365760"/>
          </a:xfrm>
          <a:prstGeom prst="rect">
            <a:avLst/>
          </a:prstGeom>
          <a:noFill/>
          <a:ln/>
        </p:spPr>
        <p:txBody>
          <a:bodyPr wrap="square" lIns="0" tIns="0" rIns="0" bIns="0" rtlCol="0" anchor="ctr"/>
          <a:lstStyle/>
          <a:p>
            <a:pPr indent="0" marL="0">
              <a:buNone/>
            </a:pPr>
            <a:r>
              <a:rPr lang="en-US" sz="1500" b="1" dirty="0">
                <a:solidFill>
                  <a:srgbClr val="1E2E45"/>
                </a:solidFill>
                <a:latin typeface="Calibri" pitchFamily="34" charset="0"/>
                <a:ea typeface="Calibri" pitchFamily="34" charset="-122"/>
                <a:cs typeface="Calibri" pitchFamily="34" charset="-120"/>
              </a:rPr>
              <a:t>Reason</a:t>
            </a:r>
            <a:endParaRPr lang="en-US" sz="1500" dirty="0"/>
          </a:p>
        </p:txBody>
      </p:sp>
      <p:sp>
        <p:nvSpPr>
          <p:cNvPr id="26" name="Text 24"/>
          <p:cNvSpPr/>
          <p:nvPr/>
        </p:nvSpPr>
        <p:spPr>
          <a:xfrm>
            <a:off x="5285232" y="3429000"/>
            <a:ext cx="1837944" cy="1783080"/>
          </a:xfrm>
          <a:prstGeom prst="rect">
            <a:avLst/>
          </a:prstGeom>
          <a:noFill/>
          <a:ln/>
        </p:spPr>
        <p:txBody>
          <a:bodyPr wrap="square" lIns="0" tIns="0" rIns="0" bIns="0" rtlCol="0" anchor="t"/>
          <a:lstStyle/>
          <a:p>
            <a:pPr indent="0" marL="0">
              <a:lnSpc>
                <a:spcPct val="112000"/>
              </a:lnSpc>
              <a:buNone/>
            </a:pPr>
            <a:r>
              <a:rPr lang="en-US" sz="1100" dirty="0">
                <a:solidFill>
                  <a:srgbClr val="5B6B80"/>
                </a:solidFill>
                <a:latin typeface="Calibri" pitchFamily="34" charset="0"/>
                <a:ea typeface="Calibri" pitchFamily="34" charset="-122"/>
                <a:cs typeface="Calibri" pitchFamily="34" charset="-120"/>
              </a:rPr>
              <a:t>Prompt Assembler; first LLM call; output schema; Validator + RAG thresholds. End-to-end one story.</a:t>
            </a:r>
            <a:endParaRPr lang="en-US" sz="1100" dirty="0"/>
          </a:p>
        </p:txBody>
      </p:sp>
      <p:sp>
        <p:nvSpPr>
          <p:cNvPr id="27" name="Shape 25"/>
          <p:cNvSpPr/>
          <p:nvPr/>
        </p:nvSpPr>
        <p:spPr>
          <a:xfrm>
            <a:off x="5285232" y="5257800"/>
            <a:ext cx="1792224" cy="502920"/>
          </a:xfrm>
          <a:prstGeom prst="roundRect">
            <a:avLst>
              <a:gd name="adj" fmla="val 9091"/>
            </a:avLst>
          </a:prstGeom>
          <a:solidFill>
            <a:srgbClr val="EAF6F4"/>
          </a:solidFill>
          <a:ln/>
        </p:spPr>
      </p:sp>
      <p:sp>
        <p:nvSpPr>
          <p:cNvPr id="28" name="Text 26"/>
          <p:cNvSpPr/>
          <p:nvPr/>
        </p:nvSpPr>
        <p:spPr>
          <a:xfrm>
            <a:off x="5358384" y="5257800"/>
            <a:ext cx="1700784" cy="502920"/>
          </a:xfrm>
          <a:prstGeom prst="rect">
            <a:avLst/>
          </a:prstGeom>
          <a:noFill/>
          <a:ln/>
        </p:spPr>
        <p:txBody>
          <a:bodyPr wrap="square" lIns="0" tIns="0" rIns="0" bIns="0" rtlCol="0" anchor="ctr"/>
          <a:lstStyle/>
          <a:p>
            <a:pPr indent="0" marL="0">
              <a:buNone/>
            </a:pPr>
            <a:r>
              <a:rPr lang="en-US" sz="1080" b="1" dirty="0">
                <a:solidFill>
                  <a:srgbClr val="16B8A6"/>
                </a:solidFill>
                <a:latin typeface="Calibri" pitchFamily="34" charset="0"/>
                <a:ea typeface="Calibri" pitchFamily="34" charset="-122"/>
                <a:cs typeface="Calibri" pitchFamily="34" charset="-120"/>
              </a:rPr>
              <a:t>→ </a:t>
            </a:r>
            <a:pPr indent="0" marL="0">
              <a:buNone/>
            </a:pPr>
            <a:r>
              <a:rPr lang="en-US" sz="1080" b="1" dirty="0">
                <a:solidFill>
                  <a:srgbClr val="1E2E45"/>
                </a:solidFill>
                <a:latin typeface="Calibri" pitchFamily="34" charset="0"/>
                <a:ea typeface="Calibri" pitchFamily="34" charset="-122"/>
                <a:cs typeface="Calibri" pitchFamily="34" charset="-120"/>
              </a:rPr>
              <a:t>Verdict JSON</a:t>
            </a:r>
            <a:endParaRPr lang="en-US" sz="1080" dirty="0"/>
          </a:p>
        </p:txBody>
      </p:sp>
      <p:sp>
        <p:nvSpPr>
          <p:cNvPr id="29" name="Shape 27"/>
          <p:cNvSpPr/>
          <p:nvPr/>
        </p:nvSpPr>
        <p:spPr>
          <a:xfrm>
            <a:off x="7379208" y="2331720"/>
            <a:ext cx="2157984" cy="3566160"/>
          </a:xfrm>
          <a:prstGeom prst="roundRect">
            <a:avLst>
              <a:gd name="adj" fmla="val 2966"/>
            </a:avLst>
          </a:prstGeom>
          <a:solidFill>
            <a:srgbClr val="FFFFFF"/>
          </a:solidFill>
          <a:ln/>
          <a:effectLst>
            <a:outerShdw sx="100000" sy="100000" kx="0" ky="0" algn="bl" rotWithShape="0" blurRad="114300" dist="38100" dir="5400000">
              <a:srgbClr val="000000">
                <a:alpha val="18000"/>
              </a:srgbClr>
            </a:outerShdw>
          </a:effectLst>
        </p:spPr>
      </p:sp>
      <p:sp>
        <p:nvSpPr>
          <p:cNvPr id="30" name="Shape 28"/>
          <p:cNvSpPr/>
          <p:nvPr/>
        </p:nvSpPr>
        <p:spPr>
          <a:xfrm>
            <a:off x="7379208" y="2331720"/>
            <a:ext cx="2157984" cy="566928"/>
          </a:xfrm>
          <a:prstGeom prst="roundRect">
            <a:avLst>
              <a:gd name="adj" fmla="val 11290"/>
            </a:avLst>
          </a:prstGeom>
          <a:solidFill>
            <a:srgbClr val="F4B740"/>
          </a:solidFill>
          <a:ln/>
        </p:spPr>
      </p:sp>
      <p:sp>
        <p:nvSpPr>
          <p:cNvPr id="31" name="Shape 29"/>
          <p:cNvSpPr/>
          <p:nvPr/>
        </p:nvSpPr>
        <p:spPr>
          <a:xfrm>
            <a:off x="7379208" y="2624328"/>
            <a:ext cx="2157984" cy="274320"/>
          </a:xfrm>
          <a:prstGeom prst="rect">
            <a:avLst/>
          </a:prstGeom>
          <a:solidFill>
            <a:srgbClr val="F4B740"/>
          </a:solidFill>
          <a:ln/>
        </p:spPr>
      </p:sp>
      <p:sp>
        <p:nvSpPr>
          <p:cNvPr id="32" name="Text 30"/>
          <p:cNvSpPr/>
          <p:nvPr/>
        </p:nvSpPr>
        <p:spPr>
          <a:xfrm>
            <a:off x="7379208" y="2331720"/>
            <a:ext cx="2157984" cy="56692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DAY 2 AM</a:t>
            </a:r>
            <a:endParaRPr lang="en-US" sz="1350" dirty="0"/>
          </a:p>
        </p:txBody>
      </p:sp>
      <p:sp>
        <p:nvSpPr>
          <p:cNvPr id="33" name="Text 31"/>
          <p:cNvSpPr/>
          <p:nvPr/>
        </p:nvSpPr>
        <p:spPr>
          <a:xfrm>
            <a:off x="7562088" y="3044952"/>
            <a:ext cx="1837944" cy="365760"/>
          </a:xfrm>
          <a:prstGeom prst="rect">
            <a:avLst/>
          </a:prstGeom>
          <a:noFill/>
          <a:ln/>
        </p:spPr>
        <p:txBody>
          <a:bodyPr wrap="square" lIns="0" tIns="0" rIns="0" bIns="0" rtlCol="0" anchor="ctr"/>
          <a:lstStyle/>
          <a:p>
            <a:pPr indent="0" marL="0">
              <a:buNone/>
            </a:pPr>
            <a:r>
              <a:rPr lang="en-US" sz="1500" b="1" dirty="0">
                <a:solidFill>
                  <a:srgbClr val="1E2E45"/>
                </a:solidFill>
                <a:latin typeface="Calibri" pitchFamily="34" charset="0"/>
                <a:ea typeface="Calibri" pitchFamily="34" charset="-122"/>
                <a:cs typeface="Calibri" pitchFamily="34" charset="-120"/>
              </a:rPr>
              <a:t>Serve</a:t>
            </a:r>
            <a:endParaRPr lang="en-US" sz="1500" dirty="0"/>
          </a:p>
        </p:txBody>
      </p:sp>
      <p:sp>
        <p:nvSpPr>
          <p:cNvPr id="34" name="Text 32"/>
          <p:cNvSpPr/>
          <p:nvPr/>
        </p:nvSpPr>
        <p:spPr>
          <a:xfrm>
            <a:off x="7562088" y="3429000"/>
            <a:ext cx="1837944" cy="1783080"/>
          </a:xfrm>
          <a:prstGeom prst="rect">
            <a:avLst/>
          </a:prstGeom>
          <a:noFill/>
          <a:ln/>
        </p:spPr>
        <p:txBody>
          <a:bodyPr wrap="square" lIns="0" tIns="0" rIns="0" bIns="0" rtlCol="0" anchor="t"/>
          <a:lstStyle/>
          <a:p>
            <a:pPr indent="0" marL="0">
              <a:lnSpc>
                <a:spcPct val="112000"/>
              </a:lnSpc>
              <a:buNone/>
            </a:pPr>
            <a:r>
              <a:rPr lang="en-US" sz="1100" dirty="0">
                <a:solidFill>
                  <a:srgbClr val="5B6B80"/>
                </a:solidFill>
                <a:latin typeface="Calibri" pitchFamily="34" charset="0"/>
                <a:ea typeface="Calibri" pitchFamily="34" charset="-122"/>
                <a:cs typeface="Calibri" pitchFamily="34" charset="-120"/>
              </a:rPr>
              <a:t>Batch loop + async pool; Aggregator (sprint rollup); Renderer (Teams card / Streamlit).</a:t>
            </a:r>
            <a:endParaRPr lang="en-US" sz="1100" dirty="0"/>
          </a:p>
        </p:txBody>
      </p:sp>
      <p:sp>
        <p:nvSpPr>
          <p:cNvPr id="35" name="Shape 33"/>
          <p:cNvSpPr/>
          <p:nvPr/>
        </p:nvSpPr>
        <p:spPr>
          <a:xfrm>
            <a:off x="7562088" y="5257800"/>
            <a:ext cx="1792224" cy="502920"/>
          </a:xfrm>
          <a:prstGeom prst="roundRect">
            <a:avLst>
              <a:gd name="adj" fmla="val 9091"/>
            </a:avLst>
          </a:prstGeom>
          <a:solidFill>
            <a:srgbClr val="EAF6F4"/>
          </a:solidFill>
          <a:ln/>
        </p:spPr>
      </p:sp>
      <p:sp>
        <p:nvSpPr>
          <p:cNvPr id="36" name="Text 34"/>
          <p:cNvSpPr/>
          <p:nvPr/>
        </p:nvSpPr>
        <p:spPr>
          <a:xfrm>
            <a:off x="7635240" y="5257800"/>
            <a:ext cx="1700784" cy="502920"/>
          </a:xfrm>
          <a:prstGeom prst="rect">
            <a:avLst/>
          </a:prstGeom>
          <a:noFill/>
          <a:ln/>
        </p:spPr>
        <p:txBody>
          <a:bodyPr wrap="square" lIns="0" tIns="0" rIns="0" bIns="0" rtlCol="0" anchor="ctr"/>
          <a:lstStyle/>
          <a:p>
            <a:pPr indent="0" marL="0">
              <a:buNone/>
            </a:pPr>
            <a:r>
              <a:rPr lang="en-US" sz="1080" b="1" dirty="0">
                <a:solidFill>
                  <a:srgbClr val="16B8A6"/>
                </a:solidFill>
                <a:latin typeface="Calibri" pitchFamily="34" charset="0"/>
                <a:ea typeface="Calibri" pitchFamily="34" charset="-122"/>
                <a:cs typeface="Calibri" pitchFamily="34" charset="-120"/>
              </a:rPr>
              <a:t>→ </a:t>
            </a:r>
            <a:pPr indent="0" marL="0">
              <a:buNone/>
            </a:pPr>
            <a:r>
              <a:rPr lang="en-US" sz="1080" b="1" dirty="0">
                <a:solidFill>
                  <a:srgbClr val="1E2E45"/>
                </a:solidFill>
                <a:latin typeface="Calibri" pitchFamily="34" charset="0"/>
                <a:ea typeface="Calibri" pitchFamily="34" charset="-122"/>
                <a:cs typeface="Calibri" pitchFamily="34" charset="-120"/>
              </a:rPr>
              <a:t>Sprint view</a:t>
            </a:r>
            <a:endParaRPr lang="en-US" sz="1080" dirty="0"/>
          </a:p>
        </p:txBody>
      </p:sp>
      <p:sp>
        <p:nvSpPr>
          <p:cNvPr id="37" name="Shape 35"/>
          <p:cNvSpPr/>
          <p:nvPr/>
        </p:nvSpPr>
        <p:spPr>
          <a:xfrm>
            <a:off x="9656064" y="2331720"/>
            <a:ext cx="2157984" cy="3566160"/>
          </a:xfrm>
          <a:prstGeom prst="roundRect">
            <a:avLst>
              <a:gd name="adj" fmla="val 2966"/>
            </a:avLst>
          </a:prstGeom>
          <a:solidFill>
            <a:srgbClr val="FFFFFF"/>
          </a:solidFill>
          <a:ln/>
          <a:effectLst>
            <a:outerShdw sx="100000" sy="100000" kx="0" ky="0" algn="bl" rotWithShape="0" blurRad="114300" dist="38100" dir="5400000">
              <a:srgbClr val="000000">
                <a:alpha val="18000"/>
              </a:srgbClr>
            </a:outerShdw>
          </a:effectLst>
        </p:spPr>
      </p:sp>
      <p:sp>
        <p:nvSpPr>
          <p:cNvPr id="38" name="Shape 36"/>
          <p:cNvSpPr/>
          <p:nvPr/>
        </p:nvSpPr>
        <p:spPr>
          <a:xfrm>
            <a:off x="9656064" y="2331720"/>
            <a:ext cx="2157984" cy="566928"/>
          </a:xfrm>
          <a:prstGeom prst="roundRect">
            <a:avLst>
              <a:gd name="adj" fmla="val 11290"/>
            </a:avLst>
          </a:prstGeom>
          <a:solidFill>
            <a:srgbClr val="3FB950"/>
          </a:solidFill>
          <a:ln/>
        </p:spPr>
      </p:sp>
      <p:sp>
        <p:nvSpPr>
          <p:cNvPr id="39" name="Shape 37"/>
          <p:cNvSpPr/>
          <p:nvPr/>
        </p:nvSpPr>
        <p:spPr>
          <a:xfrm>
            <a:off x="9656064" y="2624328"/>
            <a:ext cx="2157984" cy="274320"/>
          </a:xfrm>
          <a:prstGeom prst="rect">
            <a:avLst/>
          </a:prstGeom>
          <a:solidFill>
            <a:srgbClr val="3FB950"/>
          </a:solidFill>
          <a:ln/>
        </p:spPr>
      </p:sp>
      <p:sp>
        <p:nvSpPr>
          <p:cNvPr id="40" name="Text 38"/>
          <p:cNvSpPr/>
          <p:nvPr/>
        </p:nvSpPr>
        <p:spPr>
          <a:xfrm>
            <a:off x="9656064" y="2331720"/>
            <a:ext cx="2157984" cy="56692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DAY 2 PM</a:t>
            </a:r>
            <a:endParaRPr lang="en-US" sz="1350" dirty="0"/>
          </a:p>
        </p:txBody>
      </p:sp>
      <p:sp>
        <p:nvSpPr>
          <p:cNvPr id="41" name="Text 39"/>
          <p:cNvSpPr/>
          <p:nvPr/>
        </p:nvSpPr>
        <p:spPr>
          <a:xfrm>
            <a:off x="9838944" y="3044952"/>
            <a:ext cx="1837944" cy="365760"/>
          </a:xfrm>
          <a:prstGeom prst="rect">
            <a:avLst/>
          </a:prstGeom>
          <a:noFill/>
          <a:ln/>
        </p:spPr>
        <p:txBody>
          <a:bodyPr wrap="square" lIns="0" tIns="0" rIns="0" bIns="0" rtlCol="0" anchor="ctr"/>
          <a:lstStyle/>
          <a:p>
            <a:pPr indent="0" marL="0">
              <a:buNone/>
            </a:pPr>
            <a:r>
              <a:rPr lang="en-US" sz="1500" b="1" dirty="0">
                <a:solidFill>
                  <a:srgbClr val="1E2E45"/>
                </a:solidFill>
                <a:latin typeface="Calibri" pitchFamily="34" charset="0"/>
                <a:ea typeface="Calibri" pitchFamily="34" charset="-122"/>
                <a:cs typeface="Calibri" pitchFamily="34" charset="-120"/>
              </a:rPr>
              <a:t>Polish + demo</a:t>
            </a:r>
            <a:endParaRPr lang="en-US" sz="1500" dirty="0"/>
          </a:p>
        </p:txBody>
      </p:sp>
      <p:sp>
        <p:nvSpPr>
          <p:cNvPr id="42" name="Text 40"/>
          <p:cNvSpPr/>
          <p:nvPr/>
        </p:nvSpPr>
        <p:spPr>
          <a:xfrm>
            <a:off x="9838944" y="3429000"/>
            <a:ext cx="1837944" cy="1783080"/>
          </a:xfrm>
          <a:prstGeom prst="rect">
            <a:avLst/>
          </a:prstGeom>
          <a:noFill/>
          <a:ln/>
        </p:spPr>
        <p:txBody>
          <a:bodyPr wrap="square" lIns="0" tIns="0" rIns="0" bIns="0" rtlCol="0" anchor="t"/>
          <a:lstStyle/>
          <a:p>
            <a:pPr indent="0" marL="0">
              <a:lnSpc>
                <a:spcPct val="112000"/>
              </a:lnSpc>
              <a:buNone/>
            </a:pPr>
            <a:r>
              <a:rPr lang="en-US" sz="1100" dirty="0">
                <a:solidFill>
                  <a:srgbClr val="5B6B80"/>
                </a:solidFill>
                <a:latin typeface="Calibri" pitchFamily="34" charset="0"/>
                <a:ea typeface="Calibri" pitchFamily="34" charset="-122"/>
                <a:cs typeface="Calibri" pitchFamily="34" charset="-120"/>
              </a:rPr>
              <a:t>Tune thresholds on the seeded set; rehearse the money-shot; roadmap + governance slide.</a:t>
            </a:r>
            <a:endParaRPr lang="en-US" sz="1100" dirty="0"/>
          </a:p>
        </p:txBody>
      </p:sp>
      <p:sp>
        <p:nvSpPr>
          <p:cNvPr id="43" name="Shape 41"/>
          <p:cNvSpPr/>
          <p:nvPr/>
        </p:nvSpPr>
        <p:spPr>
          <a:xfrm>
            <a:off x="9838944" y="5257800"/>
            <a:ext cx="1792224" cy="502920"/>
          </a:xfrm>
          <a:prstGeom prst="roundRect">
            <a:avLst>
              <a:gd name="adj" fmla="val 9091"/>
            </a:avLst>
          </a:prstGeom>
          <a:solidFill>
            <a:srgbClr val="EAF6F4"/>
          </a:solidFill>
          <a:ln/>
        </p:spPr>
      </p:sp>
      <p:sp>
        <p:nvSpPr>
          <p:cNvPr id="44" name="Text 42"/>
          <p:cNvSpPr/>
          <p:nvPr/>
        </p:nvSpPr>
        <p:spPr>
          <a:xfrm>
            <a:off x="9912096" y="5257800"/>
            <a:ext cx="1700784" cy="502920"/>
          </a:xfrm>
          <a:prstGeom prst="rect">
            <a:avLst/>
          </a:prstGeom>
          <a:noFill/>
          <a:ln/>
        </p:spPr>
        <p:txBody>
          <a:bodyPr wrap="square" lIns="0" tIns="0" rIns="0" bIns="0" rtlCol="0" anchor="ctr"/>
          <a:lstStyle/>
          <a:p>
            <a:pPr indent="0" marL="0">
              <a:buNone/>
            </a:pPr>
            <a:r>
              <a:rPr lang="en-US" sz="1080" b="1" dirty="0">
                <a:solidFill>
                  <a:srgbClr val="16B8A6"/>
                </a:solidFill>
                <a:latin typeface="Calibri" pitchFamily="34" charset="0"/>
                <a:ea typeface="Calibri" pitchFamily="34" charset="-122"/>
                <a:cs typeface="Calibri" pitchFamily="34" charset="-120"/>
              </a:rPr>
              <a:t>→ </a:t>
            </a:r>
            <a:pPr indent="0" marL="0">
              <a:buNone/>
            </a:pPr>
            <a:r>
              <a:rPr lang="en-US" sz="1080" b="1" dirty="0">
                <a:solidFill>
                  <a:srgbClr val="1E2E45"/>
                </a:solidFill>
                <a:latin typeface="Calibri" pitchFamily="34" charset="0"/>
                <a:ea typeface="Calibri" pitchFamily="34" charset="-122"/>
                <a:cs typeface="Calibri" pitchFamily="34" charset="-120"/>
              </a:rPr>
              <a:t>Demo-ready</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THE ASK</a:t>
            </a:r>
            <a:endParaRPr lang="en-US" sz="1200" dirty="0"/>
          </a:p>
        </p:txBody>
      </p:sp>
      <p:sp>
        <p:nvSpPr>
          <p:cNvPr id="3" name="Text 1"/>
          <p:cNvSpPr/>
          <p:nvPr/>
        </p:nvSpPr>
        <p:spPr>
          <a:xfrm>
            <a:off x="548640" y="749808"/>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entury Schoolbook" pitchFamily="34" charset="0"/>
                <a:ea typeface="Century Schoolbook" pitchFamily="34" charset="-122"/>
                <a:cs typeface="Century Schoolbook" pitchFamily="34" charset="-120"/>
              </a:rPr>
              <a:t>Why this wins the hackathon</a:t>
            </a:r>
            <a:endParaRPr lang="en-US" sz="3400" dirty="0"/>
          </a:p>
        </p:txBody>
      </p:sp>
      <p:sp>
        <p:nvSpPr>
          <p:cNvPr id="4" name="Shape 2"/>
          <p:cNvSpPr/>
          <p:nvPr/>
        </p:nvSpPr>
        <p:spPr>
          <a:xfrm>
            <a:off x="548640" y="1783080"/>
            <a:ext cx="5349240" cy="1417320"/>
          </a:xfrm>
          <a:prstGeom prst="roundRect">
            <a:avLst>
              <a:gd name="adj" fmla="val 5161"/>
            </a:avLst>
          </a:prstGeom>
          <a:solidFill>
            <a:srgbClr val="17263B"/>
          </a:solidFill>
          <a:ln/>
          <a:effectLst>
            <a:outerShdw sx="100000" sy="100000" kx="0" ky="0" algn="bl" rotWithShape="0" blurRad="114300" dist="38100" dir="5400000">
              <a:srgbClr val="000000">
                <a:alpha val="18000"/>
              </a:srgbClr>
            </a:outerShdw>
          </a:effectLst>
        </p:spPr>
      </p:sp>
      <p:sp>
        <p:nvSpPr>
          <p:cNvPr id="5" name="Shape 3"/>
          <p:cNvSpPr/>
          <p:nvPr/>
        </p:nvSpPr>
        <p:spPr>
          <a:xfrm>
            <a:off x="822960" y="2167128"/>
            <a:ext cx="658368" cy="658368"/>
          </a:xfrm>
          <a:prstGeom prst="ellipse">
            <a:avLst/>
          </a:prstGeom>
          <a:solidFill>
            <a:srgbClr val="16B8A6"/>
          </a:solidFill>
          <a:ln/>
        </p:spPr>
      </p:sp>
      <p:pic>
        <p:nvPicPr>
          <p:cNvPr id="6" name="Image 0" descr="preencoded.png">    </p:cNvPr>
          <p:cNvPicPr>
            <a:picLocks noChangeAspect="1"/>
          </p:cNvPicPr>
          <p:nvPr/>
        </p:nvPicPr>
        <p:blipFill>
          <a:blip r:embed="rId1"/>
          <a:stretch>
            <a:fillRect/>
          </a:stretch>
        </p:blipFill>
        <p:spPr>
          <a:xfrm>
            <a:off x="978408" y="2322576"/>
            <a:ext cx="347472" cy="347472"/>
          </a:xfrm>
          <a:prstGeom prst="rect">
            <a:avLst/>
          </a:prstGeom>
        </p:spPr>
      </p:pic>
      <p:sp>
        <p:nvSpPr>
          <p:cNvPr id="7" name="Text 4"/>
          <p:cNvSpPr/>
          <p:nvPr/>
        </p:nvSpPr>
        <p:spPr>
          <a:xfrm>
            <a:off x="1645920" y="2039112"/>
            <a:ext cx="40233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Attacks a root cause</a:t>
            </a:r>
            <a:endParaRPr lang="en-US" sz="1700" dirty="0"/>
          </a:p>
        </p:txBody>
      </p:sp>
      <p:sp>
        <p:nvSpPr>
          <p:cNvPr id="8" name="Text 5"/>
          <p:cNvSpPr/>
          <p:nvPr/>
        </p:nvSpPr>
        <p:spPr>
          <a:xfrm>
            <a:off x="1645920" y="2441448"/>
            <a:ext cx="4023360" cy="685800"/>
          </a:xfrm>
          <a:prstGeom prst="rect">
            <a:avLst/>
          </a:prstGeom>
          <a:noFill/>
          <a:ln/>
        </p:spPr>
        <p:txBody>
          <a:bodyPr wrap="square" lIns="0" tIns="0" rIns="0" bIns="0" rtlCol="0" anchor="t"/>
          <a:lstStyle/>
          <a:p>
            <a:pPr indent="0" marL="0">
              <a:lnSpc>
                <a:spcPct val="108000"/>
              </a:lnSpc>
              <a:buNone/>
            </a:pPr>
            <a:r>
              <a:rPr lang="en-US" sz="1200" dirty="0">
                <a:solidFill>
                  <a:srgbClr val="CFE0F0"/>
                </a:solidFill>
                <a:latin typeface="Calibri" pitchFamily="34" charset="0"/>
                <a:ea typeface="Calibri" pitchFamily="34" charset="-122"/>
                <a:cs typeface="Calibri" pitchFamily="34" charset="-120"/>
              </a:rPr>
              <a:t>Quality moves to where the fix is 10–100× cheaper — not another way to find defects that already exist.</a:t>
            </a:r>
            <a:endParaRPr lang="en-US" sz="1200" dirty="0"/>
          </a:p>
        </p:txBody>
      </p:sp>
      <p:sp>
        <p:nvSpPr>
          <p:cNvPr id="9" name="Shape 6"/>
          <p:cNvSpPr/>
          <p:nvPr/>
        </p:nvSpPr>
        <p:spPr>
          <a:xfrm>
            <a:off x="6263640" y="1783080"/>
            <a:ext cx="5349240" cy="1417320"/>
          </a:xfrm>
          <a:prstGeom prst="roundRect">
            <a:avLst>
              <a:gd name="adj" fmla="val 5161"/>
            </a:avLst>
          </a:prstGeom>
          <a:solidFill>
            <a:srgbClr val="17263B"/>
          </a:solidFill>
          <a:ln/>
          <a:effectLst>
            <a:outerShdw sx="100000" sy="100000" kx="0" ky="0" algn="bl" rotWithShape="0" blurRad="114300" dist="38100" dir="5400000">
              <a:srgbClr val="000000">
                <a:alpha val="18000"/>
              </a:srgbClr>
            </a:outerShdw>
          </a:effectLst>
        </p:spPr>
      </p:sp>
      <p:sp>
        <p:nvSpPr>
          <p:cNvPr id="10" name="Shape 7"/>
          <p:cNvSpPr/>
          <p:nvPr/>
        </p:nvSpPr>
        <p:spPr>
          <a:xfrm>
            <a:off x="6537960" y="2167128"/>
            <a:ext cx="658368" cy="658368"/>
          </a:xfrm>
          <a:prstGeom prst="ellipse">
            <a:avLst/>
          </a:prstGeom>
          <a:solidFill>
            <a:srgbClr val="16B8A6"/>
          </a:solidFill>
          <a:ln/>
        </p:spPr>
      </p:sp>
      <p:pic>
        <p:nvPicPr>
          <p:cNvPr id="11" name="Image 1" descr="preencoded.png">    </p:cNvPr>
          <p:cNvPicPr>
            <a:picLocks noChangeAspect="1"/>
          </p:cNvPicPr>
          <p:nvPr/>
        </p:nvPicPr>
        <p:blipFill>
          <a:blip r:embed="rId2"/>
          <a:stretch>
            <a:fillRect/>
          </a:stretch>
        </p:blipFill>
        <p:spPr>
          <a:xfrm>
            <a:off x="6693408" y="2322576"/>
            <a:ext cx="347472" cy="347472"/>
          </a:xfrm>
          <a:prstGeom prst="rect">
            <a:avLst/>
          </a:prstGeom>
        </p:spPr>
      </p:pic>
      <p:sp>
        <p:nvSpPr>
          <p:cNvPr id="12" name="Text 8"/>
          <p:cNvSpPr/>
          <p:nvPr/>
        </p:nvSpPr>
        <p:spPr>
          <a:xfrm>
            <a:off x="7360920" y="2039112"/>
            <a:ext cx="40233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Demo-able &amp; scoreable</a:t>
            </a:r>
            <a:endParaRPr lang="en-US" sz="1700" dirty="0"/>
          </a:p>
        </p:txBody>
      </p:sp>
      <p:sp>
        <p:nvSpPr>
          <p:cNvPr id="13" name="Text 9"/>
          <p:cNvSpPr/>
          <p:nvPr/>
        </p:nvSpPr>
        <p:spPr>
          <a:xfrm>
            <a:off x="7360920" y="2441448"/>
            <a:ext cx="4023360" cy="685800"/>
          </a:xfrm>
          <a:prstGeom prst="rect">
            <a:avLst/>
          </a:prstGeom>
          <a:noFill/>
          <a:ln/>
        </p:spPr>
        <p:txBody>
          <a:bodyPr wrap="square" lIns="0" tIns="0" rIns="0" bIns="0" rtlCol="0" anchor="t"/>
          <a:lstStyle/>
          <a:p>
            <a:pPr indent="0" marL="0">
              <a:lnSpc>
                <a:spcPct val="108000"/>
              </a:lnSpc>
              <a:buNone/>
            </a:pPr>
            <a:r>
              <a:rPr lang="en-US" sz="1200" dirty="0">
                <a:solidFill>
                  <a:srgbClr val="CFE0F0"/>
                </a:solidFill>
                <a:latin typeface="Calibri" pitchFamily="34" charset="0"/>
                <a:ea typeface="Calibri" pitchFamily="34" charset="-122"/>
                <a:cs typeface="Calibri" pitchFamily="34" charset="-120"/>
              </a:rPr>
              <a:t>A batch of stories scored live, with a visible good→bad spread, beats one pasted ticket.</a:t>
            </a:r>
            <a:endParaRPr lang="en-US" sz="1200" dirty="0"/>
          </a:p>
        </p:txBody>
      </p:sp>
      <p:sp>
        <p:nvSpPr>
          <p:cNvPr id="14" name="Shape 10"/>
          <p:cNvSpPr/>
          <p:nvPr/>
        </p:nvSpPr>
        <p:spPr>
          <a:xfrm>
            <a:off x="548640" y="3474720"/>
            <a:ext cx="5349240" cy="1417320"/>
          </a:xfrm>
          <a:prstGeom prst="roundRect">
            <a:avLst>
              <a:gd name="adj" fmla="val 5161"/>
            </a:avLst>
          </a:prstGeom>
          <a:solidFill>
            <a:srgbClr val="17263B"/>
          </a:solidFill>
          <a:ln/>
          <a:effectLst>
            <a:outerShdw sx="100000" sy="100000" kx="0" ky="0" algn="bl" rotWithShape="0" blurRad="114300" dist="38100" dir="5400000">
              <a:srgbClr val="000000">
                <a:alpha val="18000"/>
              </a:srgbClr>
            </a:outerShdw>
          </a:effectLst>
        </p:spPr>
      </p:sp>
      <p:sp>
        <p:nvSpPr>
          <p:cNvPr id="15" name="Shape 11"/>
          <p:cNvSpPr/>
          <p:nvPr/>
        </p:nvSpPr>
        <p:spPr>
          <a:xfrm>
            <a:off x="822960" y="3858768"/>
            <a:ext cx="658368" cy="658368"/>
          </a:xfrm>
          <a:prstGeom prst="ellipse">
            <a:avLst/>
          </a:prstGeom>
          <a:solidFill>
            <a:srgbClr val="16B8A6"/>
          </a:solidFill>
          <a:ln/>
        </p:spPr>
      </p:sp>
      <p:pic>
        <p:nvPicPr>
          <p:cNvPr id="16" name="Image 2" descr="preencoded.png">    </p:cNvPr>
          <p:cNvPicPr>
            <a:picLocks noChangeAspect="1"/>
          </p:cNvPicPr>
          <p:nvPr/>
        </p:nvPicPr>
        <p:blipFill>
          <a:blip r:embed="rId3"/>
          <a:stretch>
            <a:fillRect/>
          </a:stretch>
        </p:blipFill>
        <p:spPr>
          <a:xfrm>
            <a:off x="978408" y="4014216"/>
            <a:ext cx="347472" cy="347472"/>
          </a:xfrm>
          <a:prstGeom prst="rect">
            <a:avLst/>
          </a:prstGeom>
        </p:spPr>
      </p:pic>
      <p:sp>
        <p:nvSpPr>
          <p:cNvPr id="17" name="Text 12"/>
          <p:cNvSpPr/>
          <p:nvPr/>
        </p:nvSpPr>
        <p:spPr>
          <a:xfrm>
            <a:off x="1645920" y="3730752"/>
            <a:ext cx="40233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Rides accepted process</a:t>
            </a:r>
            <a:endParaRPr lang="en-US" sz="1700" dirty="0"/>
          </a:p>
        </p:txBody>
      </p:sp>
      <p:sp>
        <p:nvSpPr>
          <p:cNvPr id="18" name="Text 13"/>
          <p:cNvSpPr/>
          <p:nvPr/>
        </p:nvSpPr>
        <p:spPr>
          <a:xfrm>
            <a:off x="1645920" y="4133088"/>
            <a:ext cx="4023360" cy="685800"/>
          </a:xfrm>
          <a:prstGeom prst="rect">
            <a:avLst/>
          </a:prstGeom>
          <a:noFill/>
          <a:ln/>
        </p:spPr>
        <p:txBody>
          <a:bodyPr wrap="square" lIns="0" tIns="0" rIns="0" bIns="0" rtlCol="0" anchor="t"/>
          <a:lstStyle/>
          <a:p>
            <a:pPr indent="0" marL="0">
              <a:lnSpc>
                <a:spcPct val="108000"/>
              </a:lnSpc>
              <a:buNone/>
            </a:pPr>
            <a:r>
              <a:rPr lang="en-US" sz="1200" dirty="0">
                <a:solidFill>
                  <a:srgbClr val="CFE0F0"/>
                </a:solidFill>
                <a:latin typeface="Calibri" pitchFamily="34" charset="0"/>
                <a:ea typeface="Calibri" pitchFamily="34" charset="-122"/>
                <a:cs typeface="Calibri" pitchFamily="34" charset="-120"/>
              </a:rPr>
              <a:t>Automates SAFe's Definition of Ready and Built-in Quality — no new ceremony to adopt.</a:t>
            </a:r>
            <a:endParaRPr lang="en-US" sz="1200" dirty="0"/>
          </a:p>
        </p:txBody>
      </p:sp>
      <p:sp>
        <p:nvSpPr>
          <p:cNvPr id="19" name="Shape 14"/>
          <p:cNvSpPr/>
          <p:nvPr/>
        </p:nvSpPr>
        <p:spPr>
          <a:xfrm>
            <a:off x="6263640" y="3474720"/>
            <a:ext cx="5349240" cy="1417320"/>
          </a:xfrm>
          <a:prstGeom prst="roundRect">
            <a:avLst>
              <a:gd name="adj" fmla="val 5161"/>
            </a:avLst>
          </a:prstGeom>
          <a:solidFill>
            <a:srgbClr val="17263B"/>
          </a:solidFill>
          <a:ln/>
          <a:effectLst>
            <a:outerShdw sx="100000" sy="100000" kx="0" ky="0" algn="bl" rotWithShape="0" blurRad="114300" dist="38100" dir="5400000">
              <a:srgbClr val="000000">
                <a:alpha val="18000"/>
              </a:srgbClr>
            </a:outerShdw>
          </a:effectLst>
        </p:spPr>
      </p:sp>
      <p:sp>
        <p:nvSpPr>
          <p:cNvPr id="20" name="Shape 15"/>
          <p:cNvSpPr/>
          <p:nvPr/>
        </p:nvSpPr>
        <p:spPr>
          <a:xfrm>
            <a:off x="6537960" y="3858768"/>
            <a:ext cx="658368" cy="658368"/>
          </a:xfrm>
          <a:prstGeom prst="ellipse">
            <a:avLst/>
          </a:prstGeom>
          <a:solidFill>
            <a:srgbClr val="16B8A6"/>
          </a:solidFill>
          <a:ln/>
        </p:spPr>
      </p:sp>
      <p:pic>
        <p:nvPicPr>
          <p:cNvPr id="21" name="Image 3" descr="preencoded.png">    </p:cNvPr>
          <p:cNvPicPr>
            <a:picLocks noChangeAspect="1"/>
          </p:cNvPicPr>
          <p:nvPr/>
        </p:nvPicPr>
        <p:blipFill>
          <a:blip r:embed="rId4"/>
          <a:stretch>
            <a:fillRect/>
          </a:stretch>
        </p:blipFill>
        <p:spPr>
          <a:xfrm>
            <a:off x="6693408" y="4014216"/>
            <a:ext cx="347472" cy="347472"/>
          </a:xfrm>
          <a:prstGeom prst="rect">
            <a:avLst/>
          </a:prstGeom>
        </p:spPr>
      </p:pic>
      <p:sp>
        <p:nvSpPr>
          <p:cNvPr id="22" name="Text 16"/>
          <p:cNvSpPr/>
          <p:nvPr/>
        </p:nvSpPr>
        <p:spPr>
          <a:xfrm>
            <a:off x="7360920" y="3730752"/>
            <a:ext cx="40233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Shows delivery maturity</a:t>
            </a:r>
            <a:endParaRPr lang="en-US" sz="1700" dirty="0"/>
          </a:p>
        </p:txBody>
      </p:sp>
      <p:sp>
        <p:nvSpPr>
          <p:cNvPr id="23" name="Text 17"/>
          <p:cNvSpPr/>
          <p:nvPr/>
        </p:nvSpPr>
        <p:spPr>
          <a:xfrm>
            <a:off x="7360920" y="4133088"/>
            <a:ext cx="4023360" cy="685800"/>
          </a:xfrm>
          <a:prstGeom prst="rect">
            <a:avLst/>
          </a:prstGeom>
          <a:noFill/>
          <a:ln/>
        </p:spPr>
        <p:txBody>
          <a:bodyPr wrap="square" lIns="0" tIns="0" rIns="0" bIns="0" rtlCol="0" anchor="t"/>
          <a:lstStyle/>
          <a:p>
            <a:pPr indent="0" marL="0">
              <a:lnSpc>
                <a:spcPct val="108000"/>
              </a:lnSpc>
              <a:buNone/>
            </a:pPr>
            <a:r>
              <a:rPr lang="en-US" sz="1200" dirty="0">
                <a:solidFill>
                  <a:srgbClr val="CFE0F0"/>
                </a:solidFill>
                <a:latin typeface="Calibri" pitchFamily="34" charset="0"/>
                <a:ea typeface="Calibri" pitchFamily="34" charset="-122"/>
                <a:cs typeface="Calibri" pitchFamily="34" charset="-120"/>
              </a:rPr>
              <a:t>Data-boundary and write-back governance are answered up front, not dodged.</a:t>
            </a:r>
            <a:endParaRPr lang="en-US" sz="1200" dirty="0"/>
          </a:p>
        </p:txBody>
      </p:sp>
      <p:sp>
        <p:nvSpPr>
          <p:cNvPr id="24" name="Shape 18"/>
          <p:cNvSpPr/>
          <p:nvPr/>
        </p:nvSpPr>
        <p:spPr>
          <a:xfrm>
            <a:off x="548640" y="5349240"/>
            <a:ext cx="11064240" cy="914400"/>
          </a:xfrm>
          <a:prstGeom prst="roundRect">
            <a:avLst>
              <a:gd name="adj" fmla="val 8000"/>
            </a:avLst>
          </a:prstGeom>
          <a:solidFill>
            <a:srgbClr val="16B8A6"/>
          </a:solidFill>
          <a:ln/>
        </p:spPr>
      </p:sp>
      <p:sp>
        <p:nvSpPr>
          <p:cNvPr id="25" name="Text 19"/>
          <p:cNvSpPr/>
          <p:nvPr/>
        </p:nvSpPr>
        <p:spPr>
          <a:xfrm>
            <a:off x="822960" y="5349240"/>
            <a:ext cx="10515600" cy="914400"/>
          </a:xfrm>
          <a:prstGeom prst="rect">
            <a:avLst/>
          </a:prstGeom>
          <a:noFill/>
          <a:ln/>
        </p:spPr>
        <p:txBody>
          <a:bodyPr wrap="square" lIns="0" tIns="0" rIns="0" bIns="0" rtlCol="0" anchor="ctr"/>
          <a:lstStyle/>
          <a:p>
            <a:pPr indent="0" marL="0">
              <a:buNone/>
            </a:pPr>
            <a:r>
              <a:rPr lang="en-US" sz="1900" b="1" dirty="0">
                <a:solidFill>
                  <a:srgbClr val="0E1A2B"/>
                </a:solidFill>
                <a:latin typeface="Century Schoolbook" pitchFamily="34" charset="0"/>
                <a:ea typeface="Century Schoolbook" pitchFamily="34" charset="-122"/>
                <a:cs typeface="Century Schoolbook" pitchFamily="34" charset="-120"/>
              </a:rPr>
              <a:t>Give us a hackathon slot to build it — lint the story before development compiles it into the wrong thing.</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Requirement Linter</dc:title>
  <dc:subject>PptxGenJS Presentation</dc:subject>
  <dc:creator>AI Delivery First</dc:creator>
  <cp:lastModifiedBy>AI Delivery First</cp:lastModifiedBy>
  <cp:revision>1</cp:revision>
  <dcterms:created xsi:type="dcterms:W3CDTF">2026-07-02T15:11:05Z</dcterms:created>
  <dcterms:modified xsi:type="dcterms:W3CDTF">2026-07-02T15:11:05Z</dcterms:modified>
</cp:coreProperties>
</file>